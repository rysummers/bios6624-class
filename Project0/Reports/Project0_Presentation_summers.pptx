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8" r:id="rId9"/>
  </p:sldIdLst>
  <p:sldSz cx="12192000" cy="6858000"/>
  <p:notesSz cx="12192000" cy="6858000"/>
  <p:embeddedFontLst>
    <p:embeddedFont>
      <p:font typeface="GEHAIV+FranklinGothic-Book" panose="02000500000000000000" pitchFamily="2" charset="0"/>
      <p:regular r:id="rId11"/>
    </p:embeddedFont>
    <p:embeddedFont>
      <p:font typeface="KDMFEK+FranklinGothic-Book" panose="02000500000000000000" pitchFamily="2" charset="0"/>
      <p:regular r:id="rId12"/>
    </p:embeddedFont>
    <p:embeddedFont>
      <p:font typeface="LVLFDH+FranklinGothic-Book" panose="02000500000000000000" pitchFamily="2" charset="0"/>
      <p:regular r:id="rId13"/>
    </p:embeddedFont>
    <p:embeddedFont>
      <p:font typeface="MPIRPG+FranklinGothic-Book" panose="02000500000000000000" pitchFamily="2" charset="0"/>
      <p:regular r:id="rId14"/>
    </p:embeddedFont>
    <p:embeddedFont>
      <p:font typeface="NOOILK+FranklinGothic-Book" panose="02000500000000000000" pitchFamily="2" charset="0"/>
      <p:regular r:id="rId15"/>
    </p:embeddedFont>
    <p:embeddedFont>
      <p:font typeface="OAGDQN+FranklinGothic-BookItalic" panose="02000500000000000000" pitchFamily="2" charset="0"/>
      <p:regular r:id="rId16"/>
    </p:embeddedFont>
    <p:embeddedFont>
      <p:font typeface="VTCKGD+FranklinGothic-Book" panose="02000500000000000000" pitchFamily="2" charset="0"/>
      <p:regular r:id="rId17"/>
    </p:embeddedFont>
    <p:embeddedFont>
      <p:font typeface="WPQCJM+FranklinGothic-Book" panose="020005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2"/>
    <p:restoredTop sz="70626"/>
  </p:normalViewPr>
  <p:slideViewPr>
    <p:cSldViewPr>
      <p:cViewPr varScale="1">
        <p:scale>
          <a:sx n="84" d="100"/>
          <a:sy n="84" d="100"/>
        </p:scale>
        <p:origin x="134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60B00-F7D7-A048-9DE8-3D2F737BCA40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5A014-AA40-5B4A-A5FD-4F58A1D7A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0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was guided by three research questions: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it was asked whether booklet-reported sampling times agreed with the electronic cap times — the statistical question or hypothesis version, is whether booklet minutes since waking are linearly associated with cap-recorded minutes since waking.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we are looking at whether subjects adhered to the study protocol by calculating the percentage of samples collected within ±7.5 and ±15 minutes of scheduled post-waking sampling times.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examined whether cortisol and DHEA concentrations showed expected diurnal patterns — namely, an increase shortly after waking followed by a decline over the remainder of the day.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12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study cohort included 31 subjects overall but One subject was excluded from the hormone trajectory analysis due to repeated DHEA values at 5.205 nmol/L.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cortisol observation was removed with a value over 80 nmol/L.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hormone concentrations both exhibited right-skewness as indicated in this table where the means were greater than the medians - so they were log-transformed for analyses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In terms of recorded times, the booklet had fewer missing values than ap times — about 9% missing for booklet versus 16% for cap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Lastly, I wanted to show summary stats for the Booklet vs Cap time differences – I was originally going to model this as an outcome for the agreement analysis, but it was heavily left-skewed and included zeros, so type of transformation that could fix that would have just complicated the interpretation. So, I kept this descriptive to show the substantial variability in those differences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45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Agreement between booklet and cap timing was assessed using a linear mixed-effects model with a subject-specific random intercept.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Book-recorded minutes since waking were regressed on cap minutes since waking, with both measures using sleep diary–reported wake time as reference.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Adherence was summarized as the proportion of samples collected within ±7.5 and ±15 minutes of scheduled collection times.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evaluate changes in cortisol and DHEA over time, a piece-wise linear mixed-effects models was fit with a knot at 30 minutes post-waking.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 booklet-recorded times were used per PI’s request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15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for results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Agreement showed a strong linear agreement between booklet- and cap-recorded times as shown by the scatterplot. The Red dotted-line reflects perfect agreement and solid line is model fit line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intercept indicated there was some bias where booklet times were recorded about 6 to 7 minutes earlier than cap times on average.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for Adherence - it varied by collection time and window-threshold. In general, Booklet times outperformed Cap times and there was better adherence at the 30min sample time with the larger window-threshold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3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time trends, Cortisol and DHEA showed distinct diurnal patterns for the first 30min after waking. Cortisol levels increased by approximately 0.6% per minute or about 20% cumulatively, while DHEA levels decreased by 1.8% per minute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30 minutes, cortisol levels declined steadily at approximately 12.5% per hour and DHEA at about 8.9% per hour, on average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27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booklet-recorded times closely tracked cap times, with booklet times tending to be recorded earlier.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Adherence to protocol-defined windows varied by sample and threshold, with lower adherence being observed for later collections and tighter windows,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booklet-based timing showed higher adherence as compared to cap-based timing.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Cortisol and DHEA showed opposite rates of change during the first 30min of waking but based on prior literature this is to be expected.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when we take all these points together, I believe these results supports the feasibility of this type of saliva collection method for studying hormone trajectories over time.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there are Key limitations of this analysis including missing data, which can bias some of the results if there’s some dependency on unobserved values or events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lastly the use of a simple mixed-effects models, when used to evaluate agreement between the two collection methods, can not fully capture variability across the four collection samples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highlighted this back in the data overview section where there was wide ranges of differences between booklet-cap times, which likely reflects non-compliance and/or device recording errors, which are to be expected but caution should be taken when interpreting this idea of agreement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5F0F-4A3E-91AD-E16E-98D9A528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0BDD6-AFAC-C596-67AD-FEDCD0760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B4C0D-9641-AF43-4F3D-7FDC3D362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CD55F-E4E4-1E38-4F28-CBC2A8648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39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080/10253890.2022.216418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-240704" y="1453331"/>
            <a:ext cx="10729192" cy="1975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354" marR="0" algn="ctr">
              <a:lnSpc>
                <a:spcPts val="816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rgbClr val="181A0D"/>
                </a:solidFill>
                <a:cs typeface="GEHAIV+FranklinGothic-Book"/>
              </a:rPr>
              <a:t>Evaluating Agreement, Adherence, and Diurnal Patterns in Cortisol &amp; DHEA</a:t>
            </a:r>
            <a:endParaRPr sz="4000" spc="-75" dirty="0">
              <a:solidFill>
                <a:srgbClr val="181A0D"/>
              </a:solidFill>
              <a:cs typeface="GEHAIV+FranklinGothic-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7565" y="3861048"/>
            <a:ext cx="317687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26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dirty="0">
                <a:solidFill>
                  <a:srgbClr val="181A0D"/>
                </a:solidFill>
                <a:cs typeface="GEHAIV+FranklinGothic-Book"/>
              </a:rPr>
              <a:t>Ryan Summers</a:t>
            </a:r>
            <a:endParaRPr sz="2300" dirty="0">
              <a:solidFill>
                <a:srgbClr val="181A0D"/>
              </a:solidFill>
              <a:cs typeface="GEHAIV+FranklinGothic-Book"/>
            </a:endParaRPr>
          </a:p>
          <a:p>
            <a:pPr marL="77914" marR="0" algn="ctr">
              <a:lnSpc>
                <a:spcPts val="2612"/>
              </a:lnSpc>
              <a:spcBef>
                <a:spcPts val="459"/>
              </a:spcBef>
              <a:spcAft>
                <a:spcPts val="0"/>
              </a:spcAft>
            </a:pPr>
            <a:r>
              <a:rPr lang="en-US" sz="2300" spc="-13" dirty="0">
                <a:solidFill>
                  <a:srgbClr val="181A0D"/>
                </a:solidFill>
                <a:cs typeface="GEHAIV+FranklinGothic-Book"/>
              </a:rPr>
              <a:t>2/4/26</a:t>
            </a:r>
            <a:endParaRPr sz="2300" spc="-13" dirty="0">
              <a:solidFill>
                <a:srgbClr val="181A0D"/>
              </a:solidFill>
              <a:cs typeface="GEHAIV+FranklinGothic-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7029" y="1670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99456" y="181814"/>
            <a:ext cx="5065008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spc="-21" dirty="0">
                <a:solidFill>
                  <a:srgbClr val="181A0D"/>
                </a:solidFill>
                <a:cs typeface="KDMFEK+FranklinGothic-Book"/>
              </a:rPr>
              <a:t>Research</a:t>
            </a:r>
            <a:r>
              <a:rPr sz="4400" spc="21" dirty="0">
                <a:solidFill>
                  <a:srgbClr val="181A0D"/>
                </a:solidFill>
                <a:cs typeface="KDMFEK+FranklinGothic-Book"/>
              </a:rPr>
              <a:t> </a:t>
            </a:r>
            <a:r>
              <a:rPr sz="4400" dirty="0">
                <a:solidFill>
                  <a:srgbClr val="181A0D"/>
                </a:solidFill>
                <a:cs typeface="KDMFEK+FranklinGothic-Book"/>
              </a:rPr>
              <a:t>Question</a:t>
            </a:r>
            <a:r>
              <a:rPr lang="en-US" sz="4400" dirty="0">
                <a:solidFill>
                  <a:srgbClr val="181A0D"/>
                </a:solidFill>
                <a:cs typeface="KDMFEK+FranklinGothic-Book"/>
              </a:rPr>
              <a:t>s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1BA5A-512C-C680-9EBD-36CA578908FA}"/>
              </a:ext>
            </a:extLst>
          </p:cNvPr>
          <p:cNvSpPr txBox="1"/>
          <p:nvPr/>
        </p:nvSpPr>
        <p:spPr>
          <a:xfrm>
            <a:off x="1719560" y="1004829"/>
            <a:ext cx="8408888" cy="547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181A0D"/>
                </a:solidFill>
              </a:rPr>
              <a:t>What </a:t>
            </a:r>
            <a:r>
              <a:rPr lang="en-US" sz="2000" b="1" dirty="0"/>
              <a:t>is the agreement between the subject’s Booklet-reported sampling times and by electronic monitoring cap?</a:t>
            </a:r>
            <a:endParaRPr lang="en-US" sz="2000" b="1" dirty="0">
              <a:solidFill>
                <a:srgbClr val="181A0D"/>
              </a:solidFill>
            </a:endParaRP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i="1" dirty="0">
                <a:solidFill>
                  <a:srgbClr val="181A0D"/>
                </a:solidFill>
                <a:cs typeface="OAGDQN+FranklinGothic-BookItalic"/>
              </a:rPr>
              <a:t>Hypothesis</a:t>
            </a:r>
            <a:r>
              <a:rPr lang="en-US" sz="2000" dirty="0">
                <a:solidFill>
                  <a:srgbClr val="181A0D"/>
                </a:solidFill>
                <a:cs typeface="OAGDQN+FranklinGothic-BookItalic"/>
              </a:rPr>
              <a:t>: Booklet-reported minutes since waking are linearly associated with electronic recorded cap minutes since waking</a:t>
            </a:r>
          </a:p>
          <a:p>
            <a:pPr lvl="1">
              <a:lnSpc>
                <a:spcPts val="2258"/>
              </a:lnSpc>
            </a:pPr>
            <a:endParaRPr lang="en-US" sz="2000" dirty="0">
              <a:solidFill>
                <a:srgbClr val="181A0D"/>
              </a:solidFill>
              <a:cs typeface="OAGDQN+FranklinGothic-BookItalic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/>
              <a:t>Are subjects adhering to +30min &amp; +600min sampling times required by study protocol?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Estimate the percentage of samples collected within ±7.5 and ±15 minutes of the scheduled time (descriptive).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sz="2000" b="1" dirty="0">
              <a:solidFill>
                <a:srgbClr val="181A0D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>
                <a:solidFill>
                  <a:srgbClr val="181A0D"/>
                </a:solidFill>
              </a:rPr>
              <a:t>What are the changes in cortisol and DHEA overtime?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000" i="1" dirty="0"/>
              <a:t>Hypothesis</a:t>
            </a:r>
            <a:r>
              <a:rPr lang="en-US" sz="2000" dirty="0"/>
              <a:t>: Cortisol and DHEA concentrations increase from waking to 30 minutes after waking.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i="1" dirty="0"/>
              <a:t>Hypothesis</a:t>
            </a:r>
            <a:r>
              <a:rPr lang="en-US" sz="2000" dirty="0"/>
              <a:t>: After 30 minutes post waking, cortisol and DHEA concentrations decline for the remainder of the day.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b="1" dirty="0"/>
          </a:p>
          <a:p>
            <a:endParaRPr lang="en-US" dirty="0">
              <a:solidFill>
                <a:srgbClr val="181A0D"/>
              </a:solidFill>
              <a:cs typeface="OAGDQN+FranklinGothic-BookItalic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713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99456" y="133760"/>
            <a:ext cx="353082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181A0D"/>
                </a:solidFill>
                <a:cs typeface="NOOILK+FranklinGothic-Book"/>
              </a:rPr>
              <a:t>Data </a:t>
            </a:r>
            <a:r>
              <a:rPr lang="en-US" sz="4400" spc="-18" dirty="0">
                <a:solidFill>
                  <a:srgbClr val="181A0D"/>
                </a:solidFill>
                <a:cs typeface="NOOILK+FranklinGothic-Book"/>
              </a:rPr>
              <a:t>Overview</a:t>
            </a:r>
            <a:endParaRPr sz="4400" spc="-19" dirty="0">
              <a:solidFill>
                <a:srgbClr val="181A0D"/>
              </a:solidFill>
              <a:cs typeface="NOOILK+FranklinGothic-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90F4B-F9EE-36A8-DC87-2A09F4C4F2EF}"/>
              </a:ext>
            </a:extLst>
          </p:cNvPr>
          <p:cNvSpPr txBox="1"/>
          <p:nvPr/>
        </p:nvSpPr>
        <p:spPr>
          <a:xfrm>
            <a:off x="839416" y="1340768"/>
            <a:ext cx="3672408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b="1" dirty="0">
                <a:solidFill>
                  <a:srgbClr val="181A0D"/>
                </a:solidFill>
              </a:rPr>
              <a:t>31 subjects total in study cohort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  <a:cs typeface="OAGDQN+FranklinGothic-BookItalic"/>
              </a:rPr>
              <a:t>One subject removed (multiple DHEA 5.205)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  <a:cs typeface="OAGDQN+FranklinGothic-BookItalic"/>
              </a:rPr>
              <a:t>One observation removed for unlikely cortisol value</a:t>
            </a:r>
          </a:p>
          <a:p>
            <a:pPr lvl="1">
              <a:lnSpc>
                <a:spcPts val="2258"/>
              </a:lnSpc>
            </a:pPr>
            <a:endParaRPr lang="en-US" dirty="0">
              <a:solidFill>
                <a:srgbClr val="181A0D"/>
              </a:solidFill>
              <a:cs typeface="OAGDQN+FranklinGothic-BookItalic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b="1" dirty="0"/>
              <a:t>Log-transformed cortisol/DHEA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Right-skewed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b="1" dirty="0"/>
              <a:t>Less NAs for booklet-recorded times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BK NA: 35 (9.4%)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Cap NA: 61 (16.4%)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b="1" dirty="0"/>
              <a:t>Book vs Cap Time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Substantial variability across collection samples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endParaRPr lang="en-US" dirty="0">
              <a:solidFill>
                <a:srgbClr val="181A0D"/>
              </a:solidFill>
              <a:cs typeface="OAGDQN+FranklinGothic-BookItalic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95525E-8779-291E-8199-030EAFAE8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883" y="163344"/>
            <a:ext cx="7483507" cy="6598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63040" y="206635"/>
            <a:ext cx="2057883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181A0D"/>
                </a:solidFill>
                <a:cs typeface="VTCKGD+FranklinGothic-Book"/>
              </a:rPr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3040" y="1054471"/>
            <a:ext cx="7594054" cy="5604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400" b="1" spc="-25" dirty="0">
                <a:solidFill>
                  <a:srgbClr val="181A0D"/>
                </a:solidFill>
                <a:cs typeface="OAGDQN+FranklinGothic-BookItalic"/>
              </a:rPr>
              <a:t>Agreement</a:t>
            </a: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Linear Mixed Model w/ subject-specific random intercept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Regressed booklet-record time on cap-record time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Both variables were recorded as minutes since waking using sleep diary as reference point</a:t>
            </a:r>
          </a:p>
          <a:p>
            <a:pPr lvl="1"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400" b="1" spc="-25" dirty="0">
                <a:solidFill>
                  <a:srgbClr val="181A0D"/>
                </a:solidFill>
                <a:cs typeface="OAGDQN+FranklinGothic-BookItalic"/>
              </a:rPr>
              <a:t>Adherence</a:t>
            </a: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Proportion samples collected within ±7.5 and ±15 minutes of the scheduled time (descriptive).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dirty="0">
              <a:solidFill>
                <a:srgbClr val="181A0D"/>
              </a:solidFill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400" b="1" spc="-25" dirty="0">
                <a:solidFill>
                  <a:srgbClr val="181A0D"/>
                </a:solidFill>
                <a:cs typeface="OAGDQN+FranklinGothic-BookItalic"/>
              </a:rPr>
              <a:t>Cortisol/DHEA Changes over time</a:t>
            </a: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Piece-wise Linear Mixed Model w/ Random intercept &amp; knot at 30min post-waking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Log-transformed Cortisol/DHEA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Booklet-recorded times used (PI interest)</a:t>
            </a: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682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63069" y="173199"/>
            <a:ext cx="1903917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2" dirty="0">
                <a:solidFill>
                  <a:srgbClr val="181A0D"/>
                </a:solidFill>
                <a:cs typeface="MPIRPG+FranklinGothic-Book"/>
              </a:rPr>
              <a:t>Results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FF3022D-87F7-BF6A-4366-54D58B6DC952}"/>
              </a:ext>
            </a:extLst>
          </p:cNvPr>
          <p:cNvSpPr txBox="1"/>
          <p:nvPr/>
        </p:nvSpPr>
        <p:spPr>
          <a:xfrm>
            <a:off x="875245" y="980779"/>
            <a:ext cx="4392488" cy="8553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000" b="1" spc="-25" dirty="0">
                <a:solidFill>
                  <a:srgbClr val="181A0D"/>
                </a:solidFill>
                <a:cs typeface="OAGDQN+FranklinGothic-BookItalic"/>
              </a:rPr>
              <a:t>Agreement: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On average, the intercept suggested that booklet-recorded times were about 6-7min earlier than cap (95% CI: -12.3 to -0.69; p&lt;0.05)</a:t>
            </a:r>
          </a:p>
          <a:p>
            <a:pPr marR="0">
              <a:lnSpc>
                <a:spcPts val="2258"/>
              </a:lnSpc>
              <a:spcBef>
                <a:spcPts val="0"/>
              </a:spcBef>
              <a:spcAft>
                <a:spcPts val="0"/>
              </a:spcAft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On average, booklet times closely followed cap recorded times (95% CI: 0.98 to 1.01; p&lt;0.001)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000" b="1" spc="-25" dirty="0">
                <a:solidFill>
                  <a:srgbClr val="181A0D"/>
                </a:solidFill>
                <a:cs typeface="OAGDQN+FranklinGothic-BookItalic"/>
              </a:rPr>
              <a:t>Adherence (Booklet vs Cap):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±7min: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+30min: 78% vs 53%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+600min: 46% vs 33%</a:t>
            </a:r>
          </a:p>
          <a:p>
            <a:pPr lvl="1"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±15min: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b="1" u="sng" spc="-25" dirty="0">
                <a:solidFill>
                  <a:srgbClr val="181A0D"/>
                </a:solidFill>
                <a:cs typeface="OAGDQN+FranklinGothic-BookItalic"/>
              </a:rPr>
              <a:t>+30min: 90% vs 71%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+600min: 56% vs 40%</a:t>
            </a:r>
          </a:p>
          <a:p>
            <a:pPr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Arial" panose="020B0604020202020204" pitchFamily="34" charset="0"/>
              <a:buChar char="•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6D17FF-C964-6915-FDFC-04F7FFFDC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821" y="1091079"/>
            <a:ext cx="6768215" cy="47451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416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15480" y="188640"/>
            <a:ext cx="4528479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1" dirty="0">
                <a:solidFill>
                  <a:srgbClr val="181A0D"/>
                </a:solidFill>
                <a:cs typeface="WPQCJM+FranklinGothic-Book"/>
              </a:rPr>
              <a:t>Results,</a:t>
            </a:r>
            <a:r>
              <a:rPr sz="4400" spc="13" dirty="0">
                <a:solidFill>
                  <a:srgbClr val="181A0D"/>
                </a:solidFill>
                <a:cs typeface="WPQCJM+FranklinGothic-Book"/>
              </a:rPr>
              <a:t> </a:t>
            </a:r>
            <a:r>
              <a:rPr sz="4400" dirty="0">
                <a:solidFill>
                  <a:srgbClr val="181A0D"/>
                </a:solidFill>
                <a:cs typeface="WPQCJM+FranklinGothic-Book"/>
              </a:rPr>
              <a:t>continued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9F01A-F216-E932-D74E-242EA1B8C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1484784"/>
            <a:ext cx="6262464" cy="4404370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135D1CCA-C085-B968-1B22-01E31F3EE6DF}"/>
              </a:ext>
            </a:extLst>
          </p:cNvPr>
          <p:cNvSpPr txBox="1"/>
          <p:nvPr/>
        </p:nvSpPr>
        <p:spPr>
          <a:xfrm>
            <a:off x="875244" y="980779"/>
            <a:ext cx="4811155" cy="10028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b="1" spc="-25" dirty="0">
                <a:solidFill>
                  <a:srgbClr val="181A0D"/>
                </a:solidFill>
                <a:cs typeface="OAGDQN+FranklinGothic-BookItalic"/>
              </a:rPr>
              <a:t>Cortisol Trends: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  <a:cs typeface="OAGDQN+FranklinGothic-BookItalic"/>
              </a:rPr>
              <a:t>On average, a subject’s cortisol levels increased by 0.6% per minute (≈20% cumulatively) during the first 30min after waking (95% CI: -0.1% to 1.3%; p=0.09).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  <a:cs typeface="OAGDQN+FranklinGothic-BookItalic"/>
              </a:rPr>
              <a:t>After 30min, a subject’s cortisol levels decreased by 12.5% per hour, on average (95% CI: -14.4% to -10.6%; p&lt;0.001)</a:t>
            </a:r>
          </a:p>
          <a:p>
            <a:pPr marR="0">
              <a:lnSpc>
                <a:spcPts val="2258"/>
              </a:lnSpc>
              <a:spcBef>
                <a:spcPts val="0"/>
              </a:spcBef>
              <a:spcAft>
                <a:spcPts val="0"/>
              </a:spcAft>
            </a:pPr>
            <a:endParaRPr lang="en-US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b="1" spc="-25" dirty="0">
                <a:solidFill>
                  <a:srgbClr val="181A0D"/>
                </a:solidFill>
                <a:cs typeface="OAGDQN+FranklinGothic-BookItalic"/>
              </a:rPr>
              <a:t>DHEA Trends: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  <a:cs typeface="OAGDQN+FranklinGothic-BookItalic"/>
              </a:rPr>
              <a:t>On average, a subject’s DHEA levels decreased by 1.8% per minute (≈58% cumulatively) during the first 30min after waking (95% CI: -2.4% to -1.2%; p&lt;0.001).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  <a:cs typeface="OAGDQN+FranklinGothic-BookItalic"/>
              </a:rPr>
              <a:t>After 30min, a subject’s DHEA levels decreased by 8.9% per hour (95% CI: -10.5% to -7.2%; p&lt;0.001)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b="1" spc="-25" dirty="0">
              <a:solidFill>
                <a:srgbClr val="181A0D"/>
              </a:solidFill>
              <a:cs typeface="OAGDQN+FranklinGothic-BookItalic"/>
            </a:endParaRPr>
          </a:p>
          <a:p>
            <a:pPr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Arial" panose="020B0604020202020204" pitchFamily="34" charset="0"/>
              <a:buChar char="•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3472" y="260648"/>
            <a:ext cx="270487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rgbClr val="181A0D"/>
                </a:solidFill>
                <a:cs typeface="LVLFDH+FranklinGothic-Book"/>
              </a:rPr>
              <a:t>Conclusions</a:t>
            </a:r>
            <a:endParaRPr sz="4400" dirty="0">
              <a:solidFill>
                <a:srgbClr val="181A0D"/>
              </a:solidFill>
              <a:cs typeface="LVLFDH+FranklinGothic-Book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AB99B72-60A9-3C59-378B-AECE9E804BCF}"/>
              </a:ext>
            </a:extLst>
          </p:cNvPr>
          <p:cNvSpPr txBox="1"/>
          <p:nvPr/>
        </p:nvSpPr>
        <p:spPr>
          <a:xfrm>
            <a:off x="1415480" y="901849"/>
            <a:ext cx="10297144" cy="7078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Booklet-record times closely tracked cap times, with an average bias of 6-7min being recorded by booklet method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Adherence to protocol defined collection windows varied by sample and window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Lower adherence was noted at the +600min collection and ±7min window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Booklet showed higher rates of adherence</a:t>
            </a:r>
          </a:p>
          <a:p>
            <a:pPr marL="1257300" lvl="2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Cortisol and DHEA concentrations collected using booklet showed expected patterns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Prior literature has noted an inverse relationship (Ahmed et al 2023)</a:t>
            </a:r>
          </a:p>
          <a:p>
            <a:pPr lvl="1"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Overall, despite some timing biases and variable adherence, the SPIT booklet appears to have the ability to capture expected diurnal patterns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b="1" spc="-25" dirty="0">
                <a:solidFill>
                  <a:srgbClr val="181A0D"/>
                </a:solidFill>
                <a:cs typeface="OAGDQN+FranklinGothic-BookItalic"/>
              </a:rPr>
              <a:t>Limitations: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Missing data – biases if missingness depended on unobserved events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Simple linear mixed model is limited in that it can’t capture specific collection sample variability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03DC2-CF9F-CA79-6D3D-12DCFAE83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99ED8D57-1F34-9003-81A0-F704B27644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F752AE-E089-9B2B-064D-E8A303D80E83}"/>
              </a:ext>
            </a:extLst>
          </p:cNvPr>
          <p:cNvSpPr txBox="1"/>
          <p:nvPr/>
        </p:nvSpPr>
        <p:spPr>
          <a:xfrm>
            <a:off x="1343472" y="260648"/>
            <a:ext cx="270487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rgbClr val="181A0D"/>
                </a:solidFill>
                <a:cs typeface="LVLFDH+FranklinGothic-Book"/>
              </a:rPr>
              <a:t>References</a:t>
            </a:r>
            <a:endParaRPr sz="4400" dirty="0">
              <a:solidFill>
                <a:srgbClr val="181A0D"/>
              </a:solidFill>
              <a:cs typeface="LVLFDH+FranklinGothic-Book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2F70592-F08B-36EB-C38D-3C800CE33BB0}"/>
              </a:ext>
            </a:extLst>
          </p:cNvPr>
          <p:cNvSpPr txBox="1"/>
          <p:nvPr/>
        </p:nvSpPr>
        <p:spPr>
          <a:xfrm>
            <a:off x="1415480" y="901849"/>
            <a:ext cx="10297144" cy="2064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>
              <a:lnSpc>
                <a:spcPts val="2258"/>
              </a:lnSpc>
              <a:spcBef>
                <a:spcPts val="0"/>
              </a:spcBef>
              <a:spcAft>
                <a:spcPts val="0"/>
              </a:spcAft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dirty="0"/>
              <a:t>Ahmed, T., Qassem, M., &amp; Kyriacou, P. A. (2023). Measuring stress: a review of the current cortisol and dehydroepiandrosterone (DHEA) measurement techniques and considerations for the future of mental health monitoring. </a:t>
            </a:r>
            <a:r>
              <a:rPr lang="en-US" i="1" dirty="0"/>
              <a:t>Stress</a:t>
            </a:r>
            <a:r>
              <a:rPr lang="en-US" dirty="0"/>
              <a:t>, </a:t>
            </a:r>
            <a:r>
              <a:rPr lang="en-US" i="1" dirty="0"/>
              <a:t>26</a:t>
            </a:r>
            <a:r>
              <a:rPr lang="en-US" dirty="0"/>
              <a:t>(1), 29–42. </a:t>
            </a:r>
            <a:r>
              <a:rPr lang="en-US" u="sng" dirty="0">
                <a:hlinkClick r:id="rId4"/>
              </a:rPr>
              <a:t>https://doi.org/10.1080/10253890.2022.2164187</a:t>
            </a:r>
            <a:endParaRPr lang="en-US" dirty="0"/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  <p:extLst>
      <p:ext uri="{BB962C8B-B14F-4D97-AF65-F5344CB8AC3E}">
        <p14:creationId xmlns:p14="http://schemas.microsoft.com/office/powerpoint/2010/main" val="371558965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4865</TotalTime>
  <Words>1460</Words>
  <Application>Microsoft Macintosh PowerPoint</Application>
  <PresentationFormat>Widescreen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GEHAIV+FranklinGothic-Book</vt:lpstr>
      <vt:lpstr>KDMFEK+FranklinGothic-Book</vt:lpstr>
      <vt:lpstr>NOOILK+FranklinGothic-Book</vt:lpstr>
      <vt:lpstr>VTCKGD+FranklinGothic-Book</vt:lpstr>
      <vt:lpstr>OAGDQN+FranklinGothic-BookItalic</vt:lpstr>
      <vt:lpstr>Calibri</vt:lpstr>
      <vt:lpstr>Wingdings</vt:lpstr>
      <vt:lpstr>LVLFDH+FranklinGothic-Book</vt:lpstr>
      <vt:lpstr>MPIRPG+FranklinGothic-Book</vt:lpstr>
      <vt:lpstr>Aptos</vt:lpstr>
      <vt:lpstr>Arial</vt:lpstr>
      <vt:lpstr>WPQCJM+FranklinGothic-Book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Ryan Summers</cp:lastModifiedBy>
  <cp:revision>127</cp:revision>
  <dcterms:modified xsi:type="dcterms:W3CDTF">2026-02-04T17:54:27Z</dcterms:modified>
</cp:coreProperties>
</file>