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9"/>
  </p:notesMasterIdLst>
  <p:sldIdLst>
    <p:sldId id="260" r:id="rId2"/>
    <p:sldId id="261" r:id="rId3"/>
    <p:sldId id="262" r:id="rId4"/>
    <p:sldId id="263" r:id="rId5"/>
    <p:sldId id="264" r:id="rId6"/>
    <p:sldId id="265" r:id="rId7"/>
    <p:sldId id="266" r:id="rId8"/>
  </p:sldIdLst>
  <p:sldSz cx="12192000" cy="6858000"/>
  <p:notesSz cx="12192000" cy="6858000"/>
  <p:embeddedFontLst>
    <p:embeddedFont>
      <p:font typeface="Cambria Math" panose="02040503050406030204" pitchFamily="18" charset="0"/>
      <p:regular r:id="rId10"/>
    </p:embeddedFont>
    <p:embeddedFont>
      <p:font typeface="GEHAIV+FranklinGothic-Book" panose="02000500000000000000" pitchFamily="2" charset="0"/>
      <p:regular r:id="rId11"/>
    </p:embeddedFont>
    <p:embeddedFont>
      <p:font typeface="KDMFEK+FranklinGothic-Book" panose="02000500000000000000" pitchFamily="2" charset="0"/>
      <p:regular r:id="rId12"/>
    </p:embeddedFont>
    <p:embeddedFont>
      <p:font typeface="LVLFDH+FranklinGothic-Book" panose="02000500000000000000" pitchFamily="2" charset="0"/>
      <p:regular r:id="rId13"/>
    </p:embeddedFont>
    <p:embeddedFont>
      <p:font typeface="MPIRPG+FranklinGothic-Book" panose="02000500000000000000" pitchFamily="2" charset="0"/>
      <p:regular r:id="rId14"/>
    </p:embeddedFont>
    <p:embeddedFont>
      <p:font typeface="NOOILK+FranklinGothic-Book" panose="02000500000000000000" pitchFamily="2" charset="0"/>
      <p:regular r:id="rId15"/>
    </p:embeddedFont>
    <p:embeddedFont>
      <p:font typeface="OAGDQN+FranklinGothic-BookItalic" panose="02000500000000000000" pitchFamily="2" charset="0"/>
      <p:regular r:id="rId16"/>
    </p:embeddedFont>
    <p:embeddedFont>
      <p:font typeface="VTCKGD+FranklinGothic-Book" panose="02000500000000000000" pitchFamily="2" charset="0"/>
      <p:regular r:id="rId17"/>
    </p:embeddedFont>
    <p:embeddedFont>
      <p:font typeface="WPQCJM+FranklinGothic-Book" panose="02000500000000000000" pitchFamily="2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622"/>
    <p:restoredTop sz="86997"/>
  </p:normalViewPr>
  <p:slideViewPr>
    <p:cSldViewPr>
      <p:cViewPr varScale="1">
        <p:scale>
          <a:sx n="116" d="100"/>
          <a:sy n="116" d="100"/>
        </p:scale>
        <p:origin x="224" y="280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60B00-F7D7-A048-9DE8-3D2F737BCA40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5A014-AA40-5B4A-A5FD-4F58A1D7AE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6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612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excluded due to repeated DHEA values at the upper detection limit. 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 observation with an implausibly high cortisol value (89.6 nmol/L) was removed, likely reflecting laboratory error.</a:t>
            </a:r>
            <a:r>
              <a:rPr lang="en-US" dirty="0">
                <a:effectLst/>
              </a:rPr>
              <a:t> </a:t>
            </a: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values over 80 are likely lab errors and should be excluded.</a:t>
            </a:r>
          </a:p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thing to note is that there’s a lot of variability (or bias) in the recording times between booklet and cap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0451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Intercept reflects baseline bias for booklet-time</a:t>
            </a:r>
          </a:p>
          <a:p>
            <a:r>
              <a:rPr lang="en-US" dirty="0"/>
              <a:t>Slope = rate agreement (&lt;1=booklet runs slower)</a:t>
            </a:r>
          </a:p>
          <a:p>
            <a:r>
              <a:rPr lang="en-US" dirty="0"/>
              <a:t>30min– wake to 30min</a:t>
            </a:r>
          </a:p>
          <a:p>
            <a:r>
              <a:rPr lang="en-US" dirty="0"/>
              <a:t>Post-30min = after 30min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91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average, the intercept suggested that booklet-recorded times were about 6-7min earlier</a:t>
            </a:r>
          </a:p>
          <a:p>
            <a:r>
              <a:rPr lang="en-US" dirty="0"/>
              <a:t>The slope close to 1 indicates that booklet times closely followed cap recorded times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35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21274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1/31/26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-1320824" y="1453331"/>
            <a:ext cx="12889432" cy="19756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816354" marR="0" algn="ctr">
              <a:lnSpc>
                <a:spcPts val="816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000" dirty="0">
                <a:solidFill>
                  <a:srgbClr val="181A0D"/>
                </a:solidFill>
                <a:cs typeface="GEHAIV+FranklinGothic-Book"/>
              </a:rPr>
              <a:t>Evaluating Agreement, Adherence, and Diurnal Patterns in Cortisol &amp; DHEA</a:t>
            </a:r>
            <a:endParaRPr sz="4000" spc="-75" dirty="0">
              <a:solidFill>
                <a:srgbClr val="181A0D"/>
              </a:solidFill>
              <a:cs typeface="GEHAIV+FranklinGothic-Boo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07565" y="3861048"/>
            <a:ext cx="3176870" cy="7309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ctr">
              <a:lnSpc>
                <a:spcPts val="261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dirty="0">
                <a:solidFill>
                  <a:srgbClr val="181A0D"/>
                </a:solidFill>
                <a:cs typeface="GEHAIV+FranklinGothic-Book"/>
              </a:rPr>
              <a:t>Ryan Summers</a:t>
            </a:r>
            <a:endParaRPr sz="2300" dirty="0">
              <a:solidFill>
                <a:srgbClr val="181A0D"/>
              </a:solidFill>
              <a:cs typeface="GEHAIV+FranklinGothic-Book"/>
            </a:endParaRPr>
          </a:p>
          <a:p>
            <a:pPr marL="77914" marR="0" algn="ctr">
              <a:lnSpc>
                <a:spcPts val="2612"/>
              </a:lnSpc>
              <a:spcBef>
                <a:spcPts val="459"/>
              </a:spcBef>
              <a:spcAft>
                <a:spcPts val="0"/>
              </a:spcAft>
            </a:pPr>
            <a:r>
              <a:rPr lang="en-US" sz="2300" spc="-13" dirty="0">
                <a:solidFill>
                  <a:srgbClr val="181A0D"/>
                </a:solidFill>
                <a:cs typeface="GEHAIV+FranklinGothic-Book"/>
              </a:rPr>
              <a:t>2/4/26</a:t>
            </a:r>
            <a:endParaRPr sz="2300" spc="-13" dirty="0">
              <a:solidFill>
                <a:srgbClr val="181A0D"/>
              </a:solidFill>
              <a:cs typeface="GEHAIV+FranklinGothic-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-17029" y="1670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99456" y="181814"/>
            <a:ext cx="5065008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21" dirty="0">
                <a:solidFill>
                  <a:srgbClr val="181A0D"/>
                </a:solidFill>
                <a:cs typeface="KDMFEK+FranklinGothic-Book"/>
              </a:rPr>
              <a:t>Research</a:t>
            </a:r>
            <a:r>
              <a:rPr sz="4400" spc="21" dirty="0">
                <a:solidFill>
                  <a:srgbClr val="181A0D"/>
                </a:solidFill>
                <a:cs typeface="KDMFEK+FranklinGothic-Book"/>
              </a:rPr>
              <a:t> </a:t>
            </a:r>
            <a:r>
              <a:rPr sz="4400" dirty="0">
                <a:solidFill>
                  <a:srgbClr val="181A0D"/>
                </a:solidFill>
                <a:cs typeface="KDMFEK+FranklinGothic-Book"/>
              </a:rPr>
              <a:t>Question</a:t>
            </a:r>
            <a:r>
              <a:rPr lang="en-US" sz="4400" dirty="0">
                <a:solidFill>
                  <a:srgbClr val="181A0D"/>
                </a:solidFill>
                <a:cs typeface="KDMFEK+FranklinGothic-Book"/>
              </a:rPr>
              <a:t>s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701BA5A-512C-C680-9EBD-36CA578908FA}"/>
              </a:ext>
            </a:extLst>
          </p:cNvPr>
          <p:cNvSpPr txBox="1"/>
          <p:nvPr/>
        </p:nvSpPr>
        <p:spPr>
          <a:xfrm>
            <a:off x="1719560" y="1004829"/>
            <a:ext cx="7416824" cy="5757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What </a:t>
            </a:r>
            <a:r>
              <a:rPr lang="en-US" b="1" dirty="0"/>
              <a:t>is the agreement between the subject’s Booklet-reported sampling times and by electronic monitoring cap?</a:t>
            </a:r>
            <a:endParaRPr lang="en-US" b="1" dirty="0">
              <a:solidFill>
                <a:srgbClr val="181A0D"/>
              </a:solidFill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  <a:cs typeface="OAGDQN+FranklinGothic-BookItalic"/>
              </a:rPr>
              <a:t>Booklet-reported minutes since waking are linearly associated with electronic recorded cap minutes since waking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Are subjects adhering to +30min &amp; +600min sampling times required by study protocol?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</a:rPr>
              <a:t>Estimate the percentage of samples collected within ±7.5 and ±15 minutes of the scheduled time (descriptive).</a:t>
            </a:r>
          </a:p>
          <a:p>
            <a:pPr marL="742950" lvl="1" indent="-285750">
              <a:buFont typeface="Wingdings" pitchFamily="2" charset="2"/>
              <a:buChar char="Ø"/>
            </a:pPr>
            <a:endParaRPr lang="en-US" b="1" dirty="0">
              <a:solidFill>
                <a:srgbClr val="181A0D"/>
              </a:solidFill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What are the changes in cortisol and DHEA overtime?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Cortisol and DHEA concentrations increase from waking to 30 minutes after waking.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dirty="0"/>
              <a:t>After 30 minutes post waking, cortisol and DHEA concentrations decline for the remainder of the day.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b="1" dirty="0"/>
          </a:p>
          <a:p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0477-374C-FE6F-2569-1C0FD8B53005}"/>
                  </a:ext>
                </a:extLst>
              </p:cNvPr>
              <p:cNvSpPr txBox="1"/>
              <p:nvPr/>
            </p:nvSpPr>
            <p:spPr>
              <a:xfrm>
                <a:off x="2414877" y="2276872"/>
                <a:ext cx="28803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1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𝑠𝑙𝑜𝑝𝑒</m:t>
                          </m:r>
                        </m:e>
                      </m:d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𝑠𝑙𝑜𝑝𝑒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2A90477-374C-FE6F-2569-1C0FD8B53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4877" y="2276872"/>
                <a:ext cx="2880320" cy="646331"/>
              </a:xfrm>
              <a:prstGeom prst="rect">
                <a:avLst/>
              </a:prstGeom>
              <a:blipFill>
                <a:blip r:embed="rId4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7448BE-0F62-A46D-7310-EE9B2666BDCE}"/>
                  </a:ext>
                </a:extLst>
              </p:cNvPr>
              <p:cNvSpPr txBox="1"/>
              <p:nvPr/>
            </p:nvSpPr>
            <p:spPr>
              <a:xfrm>
                <a:off x="5408097" y="2276871"/>
                <a:ext cx="28803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intercept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intercept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87448BE-0F62-A46D-7310-EE9B2666B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08097" y="2276871"/>
                <a:ext cx="2880320" cy="646331"/>
              </a:xfrm>
              <a:prstGeom prst="rect">
                <a:avLst/>
              </a:prstGeom>
              <a:blipFill>
                <a:blip r:embed="rId5"/>
                <a:stretch>
                  <a:fillRect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74B6E8-D9C6-3A5A-5760-C7541CCF5F23}"/>
                  </a:ext>
                </a:extLst>
              </p:cNvPr>
              <p:cNvSpPr txBox="1"/>
              <p:nvPr/>
            </p:nvSpPr>
            <p:spPr>
              <a:xfrm>
                <a:off x="2279576" y="5879499"/>
                <a:ext cx="3150922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increase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30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increase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E74B6E8-D9C6-3A5A-5760-C7541CCF5F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9576" y="5879499"/>
                <a:ext cx="3150922" cy="646331"/>
              </a:xfrm>
              <a:prstGeom prst="rect">
                <a:avLst/>
              </a:prstGeom>
              <a:blipFill>
                <a:blip r:embed="rId6"/>
                <a:stretch>
                  <a:fillRect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5F08AEA-029D-B7FD-D2F2-8CA0CAB35FFF}"/>
                  </a:ext>
                </a:extLst>
              </p:cNvPr>
              <p:cNvSpPr txBox="1"/>
              <p:nvPr/>
            </p:nvSpPr>
            <p:spPr>
              <a:xfrm>
                <a:off x="5442654" y="5830127"/>
                <a:ext cx="3473814" cy="6957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post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−30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no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decrease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A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 </m:t>
                          </m:r>
                        </m:sub>
                      </m:sSub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post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−30</m:t>
                          </m:r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 (</m:t>
                      </m:r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decrease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5F08AEA-029D-B7FD-D2F2-8CA0CAB35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2654" y="5830127"/>
                <a:ext cx="3473814" cy="695703"/>
              </a:xfrm>
              <a:prstGeom prst="rect">
                <a:avLst/>
              </a:prstGeom>
              <a:blipFill>
                <a:blip r:embed="rId7"/>
                <a:stretch>
                  <a:fillRect r="-364" b="-35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3713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99456" y="133760"/>
            <a:ext cx="353082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cs typeface="NOOILK+FranklinGothic-Book"/>
              </a:rPr>
              <a:t>Data </a:t>
            </a:r>
            <a:r>
              <a:rPr lang="en-US" sz="4400" spc="-18" dirty="0">
                <a:solidFill>
                  <a:srgbClr val="181A0D"/>
                </a:solidFill>
                <a:cs typeface="NOOILK+FranklinGothic-Book"/>
              </a:rPr>
              <a:t>Overview</a:t>
            </a:r>
            <a:endParaRPr sz="4400" spc="-19" dirty="0">
              <a:solidFill>
                <a:srgbClr val="181A0D"/>
              </a:solidFill>
              <a:cs typeface="NOOILK+FranklinGothic-Book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90F4B-F9EE-36A8-DC87-2A09F4C4F2EF}"/>
              </a:ext>
            </a:extLst>
          </p:cNvPr>
          <p:cNvSpPr txBox="1"/>
          <p:nvPr/>
        </p:nvSpPr>
        <p:spPr>
          <a:xfrm>
            <a:off x="839416" y="1340768"/>
            <a:ext cx="3386805" cy="5203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b="1" dirty="0">
                <a:solidFill>
                  <a:srgbClr val="181A0D"/>
                </a:solidFill>
              </a:rPr>
              <a:t>31 subjects total in study cohort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  <a:cs typeface="OAGDQN+FranklinGothic-BookItalic"/>
              </a:rPr>
              <a:t>30 subjects used in cortisol/DHEA analysis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dirty="0">
                <a:solidFill>
                  <a:srgbClr val="181A0D"/>
                </a:solidFill>
                <a:cs typeface="OAGDQN+FranklinGothic-BookItalic"/>
              </a:rPr>
              <a:t>One observation removed for unlikely cortisol value</a:t>
            </a:r>
          </a:p>
          <a:p>
            <a:pPr lvl="1">
              <a:lnSpc>
                <a:spcPts val="2258"/>
              </a:lnSpc>
            </a:pPr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Log-transformed cortisol/DHEA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Right-skewed</a:t>
            </a:r>
          </a:p>
          <a:p>
            <a:pPr marL="742950" lvl="1" indent="-285750">
              <a:buFont typeface="Wingdings" pitchFamily="2" charset="2"/>
              <a:buChar char="Ø"/>
            </a:pPr>
            <a:endParaRPr lang="en-US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b="1" dirty="0"/>
              <a:t>Less NAs for booklet-recorded times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BK NA: 35 (9.4%)</a:t>
            </a:r>
          </a:p>
          <a:p>
            <a:pPr marL="742950" lvl="1" indent="-285750">
              <a:buFont typeface="Wingdings" pitchFamily="2" charset="2"/>
              <a:buChar char="Ø"/>
            </a:pPr>
            <a:r>
              <a:rPr lang="en-US" dirty="0"/>
              <a:t>Cap NA: 61 (16.4%)</a:t>
            </a:r>
          </a:p>
          <a:p>
            <a:pPr marL="285750" indent="-285750">
              <a:buFont typeface="Wingdings" pitchFamily="2" charset="2"/>
              <a:buChar char="Ø"/>
            </a:pPr>
            <a:endParaRPr lang="en-US" dirty="0"/>
          </a:p>
          <a:p>
            <a:endParaRPr lang="en-US" dirty="0">
              <a:solidFill>
                <a:srgbClr val="181A0D"/>
              </a:solidFill>
              <a:cs typeface="OAGDQN+FranklinGothic-BookItalic"/>
            </a:endParaRPr>
          </a:p>
          <a:p>
            <a:pPr marL="285750" indent="-285750">
              <a:buFont typeface="Wingdings" pitchFamily="2" charset="2"/>
              <a:buChar char="§"/>
            </a:pP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795525E-8779-291E-8199-030EAFAE89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883" y="163344"/>
            <a:ext cx="7483507" cy="65982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63040" y="206635"/>
            <a:ext cx="2057883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cs typeface="VTCKGD+FranklinGothic-Book"/>
              </a:rPr>
              <a:t>Analysis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463040" y="1054471"/>
            <a:ext cx="7594054" cy="589905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400" b="1" spc="-25" dirty="0">
                <a:solidFill>
                  <a:srgbClr val="181A0D"/>
                </a:solidFill>
                <a:cs typeface="OAGDQN+FranklinGothic-BookItalic"/>
              </a:rPr>
              <a:t>Agreement</a:t>
            </a: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 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Linear Mixed Model w/ Random intercept 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Regressed booklet-record time on cap-record time 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Both variables were recorded as minutes since waking using sleep diary as reference point</a:t>
            </a:r>
          </a:p>
          <a:p>
            <a:pPr lvl="1"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400" b="1" spc="-25" dirty="0">
                <a:solidFill>
                  <a:srgbClr val="181A0D"/>
                </a:solidFill>
                <a:cs typeface="OAGDQN+FranklinGothic-BookItalic"/>
              </a:rPr>
              <a:t>Adherence</a:t>
            </a: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 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Proportion samples collected within ±7.5 and ±15 minutes of the scheduled time (descriptive).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dirty="0">
              <a:solidFill>
                <a:srgbClr val="181A0D"/>
              </a:solidFill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400" b="1" spc="-25" dirty="0">
                <a:solidFill>
                  <a:srgbClr val="181A0D"/>
                </a:solidFill>
                <a:cs typeface="OAGDQN+FranklinGothic-BookItalic"/>
              </a:rPr>
              <a:t>Cortisol/DHEA Changes over time</a:t>
            </a: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 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Piece-wise Linear Mixed Model w/ Random intercept &amp; knot at 30min post-waking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Log-transformed Cortisol/DHEA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Booklet-recorded times used due to lower instances of NAs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682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463069" y="173199"/>
            <a:ext cx="1903917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2" dirty="0">
                <a:solidFill>
                  <a:srgbClr val="181A0D"/>
                </a:solidFill>
                <a:cs typeface="MPIRPG+FranklinGothic-Book"/>
              </a:rPr>
              <a:t>Results</a:t>
            </a: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2FF3022D-87F7-BF6A-4366-54D58B6DC952}"/>
              </a:ext>
            </a:extLst>
          </p:cNvPr>
          <p:cNvSpPr txBox="1"/>
          <p:nvPr/>
        </p:nvSpPr>
        <p:spPr>
          <a:xfrm>
            <a:off x="875245" y="980779"/>
            <a:ext cx="4392488" cy="855362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  <a:cs typeface="OAGDQN+FranklinGothic-BookItalic"/>
              </a:rPr>
              <a:t>Agreement: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On average, the intercept suggested that booklet-recorded times were about 6-7min earlier than cap (95% CI: -12.3 to -0.69; p&lt;0.05)</a:t>
            </a:r>
          </a:p>
          <a:p>
            <a:pPr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On average, booklet times closely followed cap recorded times (95% CI: 0.98 to 1.01; p&lt;0.001)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2000" b="1" spc="-25" dirty="0">
                <a:solidFill>
                  <a:srgbClr val="181A0D"/>
                </a:solidFill>
                <a:cs typeface="OAGDQN+FranklinGothic-BookItalic"/>
              </a:rPr>
              <a:t>Adherence (Booklet vs Cap):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±7min: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+30min: 78% vs 53%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+600min: 46% vs 33%</a:t>
            </a:r>
          </a:p>
          <a:p>
            <a:pPr lvl="1"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±15min: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+30min: 90% vs 71%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+600min: 56% vs 40%</a:t>
            </a:r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Arial" panose="020B0604020202020204" pitchFamily="34" charset="0"/>
              <a:buChar char="•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pic>
        <p:nvPicPr>
          <p:cNvPr id="17" name="Picture 16" descr="A graph of a cap on a white background&#10;&#10;AI-generated content may be incorrect.">
            <a:extLst>
              <a:ext uri="{FF2B5EF4-FFF2-40B4-BE49-F238E27FC236}">
                <a16:creationId xmlns:a16="http://schemas.microsoft.com/office/drawing/2014/main" id="{BE460B77-15FE-DABF-91DD-9F675E0F91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7928" y="1002941"/>
            <a:ext cx="6585378" cy="465990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416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415480" y="188640"/>
            <a:ext cx="4528479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spc="-11" dirty="0">
                <a:solidFill>
                  <a:srgbClr val="181A0D"/>
                </a:solidFill>
                <a:cs typeface="WPQCJM+FranklinGothic-Book"/>
              </a:rPr>
              <a:t>Results,</a:t>
            </a:r>
            <a:r>
              <a:rPr sz="4400" spc="13" dirty="0">
                <a:solidFill>
                  <a:srgbClr val="181A0D"/>
                </a:solidFill>
                <a:cs typeface="WPQCJM+FranklinGothic-Book"/>
              </a:rPr>
              <a:t> </a:t>
            </a:r>
            <a:r>
              <a:rPr sz="4400" dirty="0">
                <a:solidFill>
                  <a:srgbClr val="181A0D"/>
                </a:solidFill>
                <a:cs typeface="WPQCJM+FranklinGothic-Book"/>
              </a:rPr>
              <a:t>continued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A9F01A-F216-E932-D74E-242EA1B8C1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1944" y="1484784"/>
            <a:ext cx="6262464" cy="4404370"/>
          </a:xfrm>
          <a:prstGeom prst="rect">
            <a:avLst/>
          </a:prstGeom>
        </p:spPr>
      </p:pic>
      <p:sp>
        <p:nvSpPr>
          <p:cNvPr id="8" name="object 4">
            <a:extLst>
              <a:ext uri="{FF2B5EF4-FFF2-40B4-BE49-F238E27FC236}">
                <a16:creationId xmlns:a16="http://schemas.microsoft.com/office/drawing/2014/main" id="{135D1CCA-C085-B968-1B22-01E31F3EE6DF}"/>
              </a:ext>
            </a:extLst>
          </p:cNvPr>
          <p:cNvSpPr txBox="1"/>
          <p:nvPr/>
        </p:nvSpPr>
        <p:spPr>
          <a:xfrm>
            <a:off x="875245" y="980779"/>
            <a:ext cx="4392488" cy="10028386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1600" b="1" spc="-25" dirty="0">
                <a:solidFill>
                  <a:srgbClr val="181A0D"/>
                </a:solidFill>
                <a:cs typeface="OAGDQN+FranklinGothic-BookItalic"/>
              </a:rPr>
              <a:t>Cortisol Trends: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z="1600" spc="-25" dirty="0">
                <a:solidFill>
                  <a:srgbClr val="181A0D"/>
                </a:solidFill>
                <a:cs typeface="OAGDQN+FranklinGothic-BookItalic"/>
              </a:rPr>
              <a:t>On average, a subject’s cortisol levels increased by 0.6% per minute (≈20% cumulatively) during the first 30min after waking (95% CI: -0.1% to 1.3%; p=0.09).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16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1600" spc="-25" dirty="0">
                <a:solidFill>
                  <a:srgbClr val="181A0D"/>
                </a:solidFill>
                <a:cs typeface="OAGDQN+FranklinGothic-BookItalic"/>
              </a:rPr>
              <a:t>After 30min, a subject’s cortisol levels decreased by 12.5% per hour, on average (95% CI: -14.4% to -10.6%; p&lt;0.001)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1600" spc="-25" dirty="0">
              <a:solidFill>
                <a:srgbClr val="181A0D"/>
              </a:solidFill>
              <a:cs typeface="OAGDQN+FranklinGothic-BookItalic"/>
            </a:endParaRPr>
          </a:p>
          <a:p>
            <a:pPr marR="0">
              <a:lnSpc>
                <a:spcPts val="2258"/>
              </a:lnSpc>
              <a:spcBef>
                <a:spcPts val="0"/>
              </a:spcBef>
              <a:spcAft>
                <a:spcPts val="0"/>
              </a:spcAft>
            </a:pPr>
            <a:endParaRPr lang="en-US" sz="16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r>
              <a:rPr lang="en-US" sz="1600" b="1" spc="-25" dirty="0">
                <a:solidFill>
                  <a:srgbClr val="181A0D"/>
                </a:solidFill>
                <a:cs typeface="OAGDQN+FranklinGothic-BookItalic"/>
              </a:rPr>
              <a:t>DHEA Trends: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z="1600" spc="-25" dirty="0">
                <a:solidFill>
                  <a:srgbClr val="181A0D"/>
                </a:solidFill>
                <a:cs typeface="OAGDQN+FranklinGothic-BookItalic"/>
              </a:rPr>
              <a:t>On average, a subject’s DHEA levels decreased by 1.8% per minute (≈58% cumulatively) during the first 30min after waking (95% CI: -2.4% to -1.2%; p&lt;0.001).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16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r>
              <a:rPr lang="en-US" sz="1600" spc="-25" dirty="0">
                <a:solidFill>
                  <a:srgbClr val="181A0D"/>
                </a:solidFill>
                <a:cs typeface="OAGDQN+FranklinGothic-BookItalic"/>
              </a:rPr>
              <a:t>After 30min, a subject’s DHEA levels decreased by 8.9% per hour (95% CI: -10.5% to -7.2%; p&lt;0.001)</a:t>
            </a: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Ø"/>
            </a:pPr>
            <a:endParaRPr lang="en-US" sz="2000" b="1" spc="-25" dirty="0">
              <a:solidFill>
                <a:srgbClr val="181A0D"/>
              </a:solidFill>
              <a:cs typeface="OAGDQN+FranklinGothic-BookItalic"/>
            </a:endParaRPr>
          </a:p>
          <a:p>
            <a:pPr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800100" lvl="1" indent="-342900">
              <a:lnSpc>
                <a:spcPts val="2258"/>
              </a:lnSpc>
              <a:buFont typeface="Arial" panose="020B0604020202020204" pitchFamily="34" charset="0"/>
              <a:buChar char="•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1343472" y="260648"/>
            <a:ext cx="270487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dirty="0">
                <a:solidFill>
                  <a:srgbClr val="181A0D"/>
                </a:solidFill>
                <a:cs typeface="LVLFDH+FranklinGothic-Book"/>
              </a:rPr>
              <a:t>Conclusions</a:t>
            </a:r>
            <a:endParaRPr sz="4400" dirty="0">
              <a:solidFill>
                <a:srgbClr val="181A0D"/>
              </a:solidFill>
              <a:cs typeface="LVLFDH+FranklinGothic-Book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CAB99B72-60A9-3C59-378B-AECE9E804BCF}"/>
              </a:ext>
            </a:extLst>
          </p:cNvPr>
          <p:cNvSpPr txBox="1"/>
          <p:nvPr/>
        </p:nvSpPr>
        <p:spPr>
          <a:xfrm>
            <a:off x="1415480" y="901849"/>
            <a:ext cx="10297144" cy="737381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Booklet-record times closely tracked cap times, with an average bias of 6-7min being recorded by booklet method</a:t>
            </a: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Adherence to protocol defined collection windows varied by sample and window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Lower adherence was noted at the +600min collection and ±7min window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Booklet showed higher rates of adherence</a:t>
            </a:r>
          </a:p>
          <a:p>
            <a:pPr marL="1257300" lvl="2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Cortisol levels rose after waking and declined throughout the day, while DHEA declined early and continued to decrease throughout day</a:t>
            </a:r>
          </a:p>
          <a:p>
            <a:pPr marL="1257300" lvl="2" indent="-342900">
              <a:lnSpc>
                <a:spcPts val="2258"/>
              </a:lnSpc>
              <a:buFont typeface="Wingdings" pitchFamily="2" charset="2"/>
              <a:buChar char="Ø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Limitations: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Missing data – biases if missingness depended on unobserved events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Simple linear mixed model is limited in that it can’t capture specific collection sample variability</a:t>
            </a:r>
          </a:p>
          <a:p>
            <a:pPr lvl="1">
              <a:lnSpc>
                <a:spcPts val="2258"/>
              </a:lnSpc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spc="-25" dirty="0">
                <a:solidFill>
                  <a:srgbClr val="181A0D"/>
                </a:solidFill>
                <a:cs typeface="OAGDQN+FranklinGothic-BookItalic"/>
              </a:rPr>
              <a:t>Overall, despite some timing biases and variable adherence, the novel monitoring device appears to have the ability to capture expected diurnal patterns</a:t>
            </a:r>
          </a:p>
          <a:p>
            <a:pPr marL="800100" lvl="1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4246</TotalTime>
  <Words>805</Words>
  <Application>Microsoft Macintosh PowerPoint</Application>
  <PresentationFormat>Widescreen</PresentationFormat>
  <Paragraphs>134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21" baseType="lpstr">
      <vt:lpstr>KDMFEK+FranklinGothic-Book</vt:lpstr>
      <vt:lpstr>Wingdings</vt:lpstr>
      <vt:lpstr>LVLFDH+FranklinGothic-Book</vt:lpstr>
      <vt:lpstr>Aptos</vt:lpstr>
      <vt:lpstr>Arial</vt:lpstr>
      <vt:lpstr>VTCKGD+FranklinGothic-Book</vt:lpstr>
      <vt:lpstr>OAGDQN+FranklinGothic-BookItalic</vt:lpstr>
      <vt:lpstr>NOOILK+FranklinGothic-Book</vt:lpstr>
      <vt:lpstr>MPIRPG+FranklinGothic-Book</vt:lpstr>
      <vt:lpstr>Cambria Math</vt:lpstr>
      <vt:lpstr>WPQCJM+FranklinGothic-Book</vt:lpstr>
      <vt:lpstr>GEHAIV+FranklinGothic-Book</vt:lpstr>
      <vt:lpstr>Calibri</vt:lpstr>
      <vt:lpstr>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root</dc:creator>
  <cp:lastModifiedBy>Ryan Summers</cp:lastModifiedBy>
  <cp:revision>60</cp:revision>
  <dcterms:modified xsi:type="dcterms:W3CDTF">2026-02-03T18:23:35Z</dcterms:modified>
</cp:coreProperties>
</file>