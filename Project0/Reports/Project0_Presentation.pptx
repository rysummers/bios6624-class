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9"/>
  </p:notesMasterIdLst>
  <p:sldIdLst>
    <p:sldId id="260" r:id="rId2"/>
    <p:sldId id="261" r:id="rId3"/>
    <p:sldId id="262" r:id="rId4"/>
    <p:sldId id="263" r:id="rId5"/>
    <p:sldId id="264" r:id="rId6"/>
    <p:sldId id="265" r:id="rId7"/>
    <p:sldId id="266" r:id="rId8"/>
  </p:sldIdLst>
  <p:sldSz cx="12192000" cy="6858000"/>
  <p:notesSz cx="12192000" cy="6858000"/>
  <p:embeddedFontLst>
    <p:embeddedFont>
      <p:font typeface="Cambria Math" panose="02040503050406030204" pitchFamily="18" charset="0"/>
      <p:regular r:id="rId10"/>
    </p:embeddedFont>
    <p:embeddedFont>
      <p:font typeface="FEBWQJ+FranklinGothic-BookItalic" panose="02000500000000000000" pitchFamily="2" charset="0"/>
      <p:regular r:id="rId11"/>
    </p:embeddedFont>
    <p:embeddedFont>
      <p:font typeface="GEHAIV+FranklinGothic-Book" panose="02000500000000000000" pitchFamily="2" charset="0"/>
      <p:regular r:id="rId12"/>
    </p:embeddedFont>
    <p:embeddedFont>
      <p:font typeface="IELAPA+FranklinGothic-BookItalic" panose="02000500000000000000" pitchFamily="2" charset="0"/>
      <p:regular r:id="rId13"/>
    </p:embeddedFont>
    <p:embeddedFont>
      <p:font typeface="KDMFEK+FranklinGothic-Book" panose="02000500000000000000" pitchFamily="2" charset="0"/>
      <p:regular r:id="rId14"/>
    </p:embeddedFont>
    <p:embeddedFont>
      <p:font typeface="LVLFDH+FranklinGothic-Book" panose="02000500000000000000" pitchFamily="2" charset="0"/>
      <p:regular r:id="rId15"/>
    </p:embeddedFont>
    <p:embeddedFont>
      <p:font typeface="MPIRPG+FranklinGothic-Book" panose="02000500000000000000" pitchFamily="2" charset="0"/>
      <p:regular r:id="rId16"/>
    </p:embeddedFont>
    <p:embeddedFont>
      <p:font typeface="NOOILK+FranklinGothic-Book" panose="02000500000000000000" pitchFamily="2" charset="0"/>
      <p:regular r:id="rId17"/>
    </p:embeddedFont>
    <p:embeddedFont>
      <p:font typeface="OAGDQN+FranklinGothic-BookItalic" panose="02000500000000000000" pitchFamily="2" charset="0"/>
      <p:regular r:id="rId18"/>
    </p:embeddedFont>
    <p:embeddedFont>
      <p:font typeface="PPUTKU+FranklinGothic-Book" panose="02000500000000000000" pitchFamily="2" charset="0"/>
      <p:regular r:id="rId19"/>
    </p:embeddedFont>
    <p:embeddedFont>
      <p:font typeface="VTCKGD+FranklinGothic-Book" panose="02000500000000000000" pitchFamily="2" charset="0"/>
      <p:regular r:id="rId20"/>
    </p:embeddedFont>
    <p:embeddedFont>
      <p:font typeface="WPQCJM+FranklinGothic-Book" panose="02000500000000000000" pitchFamily="2" charset="0"/>
      <p:regular r:id="rId21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168">
          <p15:clr>
            <a:srgbClr val="A4A3A4"/>
          </p15:clr>
        </p15:guide>
        <p15:guide id="2" pos="2448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117"/>
    <p:restoredTop sz="94684"/>
  </p:normalViewPr>
  <p:slideViewPr>
    <p:cSldViewPr>
      <p:cViewPr varScale="1">
        <p:scale>
          <a:sx n="129" d="100"/>
          <a:sy n="129" d="100"/>
        </p:scale>
        <p:origin x="224" y="232"/>
      </p:cViewPr>
      <p:guideLst>
        <p:guide orient="horz" pos="3168"/>
        <p:guide pos="2448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4.fntdata"/><Relationship Id="rId18" Type="http://schemas.openxmlformats.org/officeDocument/2006/relationships/font" Target="fonts/font9.fntdata"/><Relationship Id="rId3" Type="http://schemas.openxmlformats.org/officeDocument/2006/relationships/slide" Target="slides/slide2.xml"/><Relationship Id="rId21" Type="http://schemas.openxmlformats.org/officeDocument/2006/relationships/font" Target="fonts/font12.fntdata"/><Relationship Id="rId7" Type="http://schemas.openxmlformats.org/officeDocument/2006/relationships/slide" Target="slides/slide6.xml"/><Relationship Id="rId12" Type="http://schemas.openxmlformats.org/officeDocument/2006/relationships/font" Target="fonts/font3.fntdata"/><Relationship Id="rId17" Type="http://schemas.openxmlformats.org/officeDocument/2006/relationships/font" Target="fonts/font8.fntdata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font" Target="fonts/font7.fntdata"/><Relationship Id="rId20" Type="http://schemas.openxmlformats.org/officeDocument/2006/relationships/font" Target="fonts/font11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2.fntdata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font" Target="fonts/font6.fntdata"/><Relationship Id="rId23" Type="http://schemas.openxmlformats.org/officeDocument/2006/relationships/viewProps" Target="viewProps.xml"/><Relationship Id="rId10" Type="http://schemas.openxmlformats.org/officeDocument/2006/relationships/font" Target="fonts/font1.fntdata"/><Relationship Id="rId19" Type="http://schemas.openxmlformats.org/officeDocument/2006/relationships/font" Target="fonts/font10.fntdata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openxmlformats.org/officeDocument/2006/relationships/font" Target="fonts/font5.fntdata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6905625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8F60B00-F7D7-A048-9DE8-3D2F737BCA40}" type="datetimeFigureOut">
              <a:rPr lang="en-US" smtClean="0"/>
              <a:t>2/2/26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038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1219200" y="3300413"/>
            <a:ext cx="9753600" cy="2700337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6905625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055A014-AA40-5B4A-A5FD-4F58A1D7AE4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816985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55A014-AA40-5B4A-A5FD-4F58A1D7AE4A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961265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Title</a:t>
            </a:r>
          </a:p>
        </p:txBody>
      </p:sp>
      <p:sp>
        <p:nvSpPr>
          <p:cNvPr id="3" name="Text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n-US"/>
              <a:t>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6525B2-4347-4F72-BAF7-76B19438D329}" type="datetimeFigureOut">
              <a:rPr lang="en-US" smtClean="0"/>
              <a:t>1/31/26</a:t>
            </a:fld>
            <a:endParaRPr lang="en-US"/>
          </a:p>
        </p:txBody>
      </p:sp>
      <p:sp>
        <p:nvSpPr>
          <p:cNvPr id="5" name="Foo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F073CC-40D5-4B23-8DF0-9BD0A0C12F2C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377666" y="427735"/>
            <a:ext cx="6797992" cy="17109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377666" y="2459482"/>
            <a:ext cx="6797992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2568130" y="9944862"/>
            <a:ext cx="2417063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377666" y="9944862"/>
            <a:ext cx="1737264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1/31/26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5438394" y="9944862"/>
            <a:ext cx="1737264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>
            <a:spAutoFit/>
          </a:bodyPr>
          <a:lstStyle/>
          <a:p>
            <a:endParaRPr/>
          </a:p>
        </p:txBody>
      </p:sp>
      <p:sp>
        <p:nvSpPr>
          <p:cNvPr id="3" name="object 3"/>
          <p:cNvSpPr txBox="1"/>
          <p:nvPr/>
        </p:nvSpPr>
        <p:spPr>
          <a:xfrm>
            <a:off x="-1320824" y="1453331"/>
            <a:ext cx="12889432" cy="197566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816354" marR="0" algn="ctr">
              <a:lnSpc>
                <a:spcPts val="8163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4000" dirty="0">
                <a:solidFill>
                  <a:srgbClr val="181A0D"/>
                </a:solidFill>
                <a:cs typeface="GEHAIV+FranklinGothic-Book"/>
              </a:rPr>
              <a:t>Evaluating Agreement, Adherence, and Diurnal Patterns in Cortisol &amp; DHEA</a:t>
            </a:r>
            <a:endParaRPr sz="4000" spc="-75" dirty="0">
              <a:solidFill>
                <a:srgbClr val="181A0D"/>
              </a:solidFill>
              <a:cs typeface="GEHAIV+FranklinGothic-Book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4507565" y="3861048"/>
            <a:ext cx="3176870" cy="73096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0" marR="0" algn="ctr">
              <a:lnSpc>
                <a:spcPts val="2612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2300" dirty="0">
                <a:solidFill>
                  <a:srgbClr val="181A0D"/>
                </a:solidFill>
                <a:latin typeface="GEHAIV+FranklinGothic-Book"/>
                <a:cs typeface="GEHAIV+FranklinGothic-Book"/>
              </a:rPr>
              <a:t>Ryan Summers</a:t>
            </a:r>
            <a:endParaRPr sz="2300" dirty="0">
              <a:solidFill>
                <a:srgbClr val="181A0D"/>
              </a:solidFill>
              <a:latin typeface="GEHAIV+FranklinGothic-Book"/>
              <a:cs typeface="GEHAIV+FranklinGothic-Book"/>
            </a:endParaRPr>
          </a:p>
          <a:p>
            <a:pPr marL="77914" marR="0" algn="ctr">
              <a:lnSpc>
                <a:spcPts val="2612"/>
              </a:lnSpc>
              <a:spcBef>
                <a:spcPts val="459"/>
              </a:spcBef>
              <a:spcAft>
                <a:spcPts val="0"/>
              </a:spcAft>
            </a:pPr>
            <a:r>
              <a:rPr lang="en-US" sz="2300" spc="-13" dirty="0">
                <a:solidFill>
                  <a:srgbClr val="181A0D"/>
                </a:solidFill>
                <a:latin typeface="GEHAIV+FranklinGothic-Book"/>
                <a:cs typeface="GEHAIV+FranklinGothic-Book"/>
              </a:rPr>
              <a:t>2/4/26</a:t>
            </a:r>
            <a:endParaRPr sz="2300" spc="-13" dirty="0">
              <a:solidFill>
                <a:srgbClr val="181A0D"/>
              </a:solidFill>
              <a:latin typeface="GEHAIV+FranklinGothic-Book"/>
              <a:cs typeface="GEHAIV+FranklinGothic-Book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>
            <a:spAutoFit/>
          </a:bodyPr>
          <a:lstStyle/>
          <a:p>
            <a:endParaRPr dirty="0"/>
          </a:p>
        </p:txBody>
      </p:sp>
      <p:sp>
        <p:nvSpPr>
          <p:cNvPr id="3" name="object 3"/>
          <p:cNvSpPr txBox="1"/>
          <p:nvPr/>
        </p:nvSpPr>
        <p:spPr>
          <a:xfrm>
            <a:off x="1463040" y="689700"/>
            <a:ext cx="5065008" cy="641201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0" marR="0">
              <a:lnSpc>
                <a:spcPts val="4979"/>
              </a:lnSpc>
              <a:spcBef>
                <a:spcPts val="0"/>
              </a:spcBef>
              <a:spcAft>
                <a:spcPts val="0"/>
              </a:spcAft>
            </a:pPr>
            <a:r>
              <a:rPr sz="4400" spc="-21" dirty="0">
                <a:solidFill>
                  <a:srgbClr val="181A0D"/>
                </a:solidFill>
                <a:latin typeface="KDMFEK+FranklinGothic-Book"/>
                <a:cs typeface="KDMFEK+FranklinGothic-Book"/>
              </a:rPr>
              <a:t>Research</a:t>
            </a:r>
            <a:r>
              <a:rPr sz="4400" spc="21" dirty="0">
                <a:solidFill>
                  <a:srgbClr val="181A0D"/>
                </a:solidFill>
                <a:latin typeface="KDMFEK+FranklinGothic-Book"/>
                <a:cs typeface="KDMFEK+FranklinGothic-Book"/>
              </a:rPr>
              <a:t> </a:t>
            </a:r>
            <a:r>
              <a:rPr sz="4400" dirty="0">
                <a:solidFill>
                  <a:srgbClr val="181A0D"/>
                </a:solidFill>
                <a:latin typeface="KDMFEK+FranklinGothic-Book"/>
                <a:cs typeface="KDMFEK+FranklinGothic-Book"/>
              </a:rPr>
              <a:t>Question</a:t>
            </a:r>
            <a:r>
              <a:rPr lang="en-US" sz="4400" dirty="0">
                <a:solidFill>
                  <a:srgbClr val="181A0D"/>
                </a:solidFill>
                <a:latin typeface="KDMFEK+FranklinGothic-Book"/>
                <a:cs typeface="KDMFEK+FranklinGothic-Book"/>
              </a:rPr>
              <a:t>s</a:t>
            </a:r>
            <a:endParaRPr sz="4400" dirty="0">
              <a:solidFill>
                <a:srgbClr val="181A0D"/>
              </a:solidFill>
              <a:latin typeface="KDMFEK+FranklinGothic-Book"/>
              <a:cs typeface="KDMFEK+FranklinGothic-Book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701BA5A-512C-C680-9EBD-36CA578908FA}"/>
              </a:ext>
            </a:extLst>
          </p:cNvPr>
          <p:cNvSpPr txBox="1"/>
          <p:nvPr/>
        </p:nvSpPr>
        <p:spPr>
          <a:xfrm>
            <a:off x="1847528" y="1610872"/>
            <a:ext cx="7416824" cy="52039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ts val="2258"/>
              </a:lnSpc>
              <a:buFont typeface="Wingdings" pitchFamily="2" charset="2"/>
              <a:buChar char="q"/>
            </a:pPr>
            <a:r>
              <a:rPr lang="en-US" b="1" dirty="0">
                <a:solidFill>
                  <a:srgbClr val="181A0D"/>
                </a:solidFill>
              </a:rPr>
              <a:t>What </a:t>
            </a:r>
            <a:r>
              <a:rPr lang="en-US" b="1" dirty="0"/>
              <a:t>is the agreement between the subject’s Booklet-reported sampling times and by electronic monitoring cap?</a:t>
            </a:r>
            <a:endParaRPr lang="en-US" b="1" dirty="0">
              <a:solidFill>
                <a:srgbClr val="181A0D"/>
              </a:solidFill>
            </a:endParaRPr>
          </a:p>
          <a:p>
            <a:pPr marL="742950" lvl="1" indent="-285750">
              <a:lnSpc>
                <a:spcPts val="2258"/>
              </a:lnSpc>
              <a:buFont typeface="Wingdings" pitchFamily="2" charset="2"/>
              <a:buChar char="Ø"/>
            </a:pPr>
            <a:r>
              <a:rPr lang="en-US" dirty="0">
                <a:solidFill>
                  <a:srgbClr val="181A0D"/>
                </a:solidFill>
                <a:cs typeface="OAGDQN+FranklinGothic-BookItalic"/>
              </a:rPr>
              <a:t>Booklet-reported minutes since waking are linearly associated with electronic recorded cap minutes since waking</a:t>
            </a:r>
          </a:p>
          <a:p>
            <a:pPr marL="742950" lvl="1" indent="-285750">
              <a:lnSpc>
                <a:spcPts val="2258"/>
              </a:lnSpc>
              <a:buFont typeface="Wingdings" pitchFamily="2" charset="2"/>
              <a:buChar char="Ø"/>
            </a:pPr>
            <a:endParaRPr lang="en-US" dirty="0">
              <a:solidFill>
                <a:srgbClr val="181A0D"/>
              </a:solidFill>
              <a:cs typeface="OAGDQN+FranklinGothic-BookItalic"/>
            </a:endParaRPr>
          </a:p>
          <a:p>
            <a:pPr marL="742950" lvl="1" indent="-285750">
              <a:lnSpc>
                <a:spcPts val="2258"/>
              </a:lnSpc>
              <a:buFont typeface="Wingdings" pitchFamily="2" charset="2"/>
              <a:buChar char="Ø"/>
            </a:pPr>
            <a:endParaRPr lang="en-US" dirty="0">
              <a:solidFill>
                <a:srgbClr val="181A0D"/>
              </a:solidFill>
              <a:cs typeface="OAGDQN+FranklinGothic-BookItalic"/>
            </a:endParaRPr>
          </a:p>
          <a:p>
            <a:pPr marL="742950" lvl="1" indent="-285750">
              <a:lnSpc>
                <a:spcPts val="2258"/>
              </a:lnSpc>
              <a:buFont typeface="Wingdings" pitchFamily="2" charset="2"/>
              <a:buChar char="Ø"/>
            </a:pPr>
            <a:endParaRPr lang="en-US" dirty="0">
              <a:solidFill>
                <a:srgbClr val="181A0D"/>
              </a:solidFill>
              <a:cs typeface="OAGDQN+FranklinGothic-BookItalic"/>
            </a:endParaRPr>
          </a:p>
          <a:p>
            <a:pPr marL="285750" indent="-285750">
              <a:buFont typeface="Wingdings" pitchFamily="2" charset="2"/>
              <a:buChar char="q"/>
            </a:pPr>
            <a:r>
              <a:rPr lang="en-US" b="1" dirty="0"/>
              <a:t>Are subjects adhering to +30min &amp; +600min sampling times required by study protocol?</a:t>
            </a:r>
          </a:p>
          <a:p>
            <a:pPr marL="742950" lvl="1" indent="-285750">
              <a:buFont typeface="Wingdings" pitchFamily="2" charset="2"/>
              <a:buChar char="Ø"/>
            </a:pPr>
            <a:r>
              <a:rPr lang="en-US" dirty="0">
                <a:solidFill>
                  <a:srgbClr val="181A0D"/>
                </a:solidFill>
              </a:rPr>
              <a:t>Estimate the percentage of samples collected within ±7.5 and ±15 minutes of the scheduled time (descriptive).</a:t>
            </a:r>
          </a:p>
          <a:p>
            <a:pPr marL="285750" indent="-285750">
              <a:buFont typeface="Wingdings" pitchFamily="2" charset="2"/>
              <a:buChar char="q"/>
            </a:pPr>
            <a:r>
              <a:rPr lang="en-US" b="1" dirty="0"/>
              <a:t>Cortisol and DHEA concentrations increase significantly from waking to 30 minutes after waking.</a:t>
            </a:r>
          </a:p>
          <a:p>
            <a:pPr marL="285750" indent="-285750">
              <a:buFont typeface="Wingdings" pitchFamily="2" charset="2"/>
              <a:buChar char="q"/>
            </a:pPr>
            <a:r>
              <a:rPr lang="en-US" b="1" dirty="0"/>
              <a:t>After 30 minutes post waking, cortisol and DHEA concentrations decline for the remainder of the day.</a:t>
            </a:r>
          </a:p>
          <a:p>
            <a:pPr marL="285750" indent="-285750">
              <a:buFont typeface="Wingdings" pitchFamily="2" charset="2"/>
              <a:buChar char="q"/>
            </a:pPr>
            <a:endParaRPr lang="en-US" b="1" dirty="0"/>
          </a:p>
          <a:p>
            <a:endParaRPr lang="en-US" dirty="0">
              <a:solidFill>
                <a:srgbClr val="181A0D"/>
              </a:solidFill>
              <a:cs typeface="OAGDQN+FranklinGothic-BookItalic"/>
            </a:endParaRPr>
          </a:p>
          <a:p>
            <a:pPr marL="285750" indent="-285750">
              <a:buFont typeface="Wingdings" pitchFamily="2" charset="2"/>
              <a:buChar char="§"/>
            </a:pP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32A90477-374C-FE6F-2569-1C0FD8B53005}"/>
                  </a:ext>
                </a:extLst>
              </p:cNvPr>
              <p:cNvSpPr txBox="1"/>
              <p:nvPr/>
            </p:nvSpPr>
            <p:spPr>
              <a:xfrm>
                <a:off x="2555384" y="2852936"/>
                <a:ext cx="2880320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0: </m:t>
                          </m:r>
                        </m:sub>
                      </m:sSub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1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𝑠𝑙𝑜𝑝𝑒</m:t>
                          </m:r>
                        </m:e>
                      </m:d>
                    </m:oMath>
                  </m:oMathPara>
                </a14:m>
                <a:endParaRPr lang="en-US" b="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A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: </m:t>
                          </m:r>
                        </m:sub>
                      </m:sSub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=1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𝑠𝑙𝑜𝑝𝑒</m:t>
                          </m:r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32A90477-374C-FE6F-2569-1C0FD8B5300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55384" y="2852936"/>
                <a:ext cx="2880320" cy="646331"/>
              </a:xfrm>
              <a:prstGeom prst="rect">
                <a:avLst/>
              </a:prstGeom>
              <a:blipFill>
                <a:blip r:embed="rId4"/>
                <a:stretch>
                  <a:fillRect b="-96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E87448BE-0F62-A46D-7310-EE9B2666BDCE}"/>
                  </a:ext>
                </a:extLst>
              </p:cNvPr>
              <p:cNvSpPr txBox="1"/>
              <p:nvPr/>
            </p:nvSpPr>
            <p:spPr>
              <a:xfrm>
                <a:off x="5430498" y="2852936"/>
                <a:ext cx="2880320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0: </m:t>
                          </m:r>
                        </m:sub>
                      </m:sSub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0 (</m:t>
                      </m:r>
                      <m:r>
                        <m:rPr>
                          <m:sty m:val="p"/>
                        </m:rPr>
                        <a:rPr lang="en-US" b="0" i="1" smtClean="0">
                          <a:latin typeface="Cambria Math" panose="02040503050406030204" pitchFamily="18" charset="0"/>
                        </a:rPr>
                        <m:t>intercept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A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: </m:t>
                          </m:r>
                        </m:sub>
                      </m:sSub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0 (</m:t>
                      </m:r>
                      <m:r>
                        <m:rPr>
                          <m:sty m:val="p"/>
                        </m:rPr>
                        <a:rPr lang="en-US" b="0" i="1" smtClean="0">
                          <a:latin typeface="Cambria Math" panose="02040503050406030204" pitchFamily="18" charset="0"/>
                        </a:rPr>
                        <m:t>intercept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E87448BE-0F62-A46D-7310-EE9B2666BD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30498" y="2852936"/>
                <a:ext cx="2880320" cy="646331"/>
              </a:xfrm>
              <a:prstGeom prst="rect">
                <a:avLst/>
              </a:prstGeom>
              <a:blipFill>
                <a:blip r:embed="rId5"/>
                <a:stretch>
                  <a:fillRect b="-96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>
            <a:spAutoFit/>
          </a:bodyPr>
          <a:lstStyle/>
          <a:p>
            <a:endParaRPr/>
          </a:p>
        </p:txBody>
      </p:sp>
      <p:sp>
        <p:nvSpPr>
          <p:cNvPr id="3" name="object 3"/>
          <p:cNvSpPr txBox="1"/>
          <p:nvPr/>
        </p:nvSpPr>
        <p:spPr>
          <a:xfrm>
            <a:off x="1463040" y="689700"/>
            <a:ext cx="3530821" cy="67050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0" marR="0">
              <a:lnSpc>
                <a:spcPts val="4979"/>
              </a:lnSpc>
              <a:spcBef>
                <a:spcPts val="0"/>
              </a:spcBef>
              <a:spcAft>
                <a:spcPts val="0"/>
              </a:spcAft>
            </a:pPr>
            <a:r>
              <a:rPr sz="4400" dirty="0">
                <a:solidFill>
                  <a:srgbClr val="181A0D"/>
                </a:solidFill>
                <a:latin typeface="NOOILK+FranklinGothic-Book"/>
                <a:cs typeface="NOOILK+FranklinGothic-Book"/>
              </a:rPr>
              <a:t>Data </a:t>
            </a:r>
            <a:r>
              <a:rPr sz="4400" spc="-18" dirty="0">
                <a:solidFill>
                  <a:srgbClr val="181A0D"/>
                </a:solidFill>
                <a:latin typeface="NOOILK+FranklinGothic-Book"/>
                <a:cs typeface="NOOILK+FranklinGothic-Book"/>
              </a:rPr>
              <a:t>Over</a:t>
            </a:r>
            <a:r>
              <a:rPr sz="4400" spc="-987" dirty="0">
                <a:solidFill>
                  <a:srgbClr val="181A0D"/>
                </a:solidFill>
                <a:latin typeface="NOOILK+FranklinGothic-Book"/>
                <a:cs typeface="NOOILK+FranklinGothic-Book"/>
              </a:rPr>
              <a:t> </a:t>
            </a:r>
            <a:r>
              <a:rPr sz="4400" spc="-19" dirty="0">
                <a:solidFill>
                  <a:srgbClr val="181A0D"/>
                </a:solidFill>
                <a:latin typeface="NOOILK+FranklinGothic-Book"/>
                <a:cs typeface="NOOILK+FranklinGothic-Book"/>
              </a:rPr>
              <a:t>view</a:t>
            </a:r>
          </a:p>
        </p:txBody>
      </p:sp>
      <p:sp>
        <p:nvSpPr>
          <p:cNvPr id="4" name="object 4"/>
          <p:cNvSpPr txBox="1"/>
          <p:nvPr/>
        </p:nvSpPr>
        <p:spPr>
          <a:xfrm>
            <a:off x="1463040" y="2328459"/>
            <a:ext cx="4892167" cy="32493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0" marR="0">
              <a:lnSpc>
                <a:spcPts val="2258"/>
              </a:lnSpc>
              <a:spcBef>
                <a:spcPts val="0"/>
              </a:spcBef>
              <a:spcAft>
                <a:spcPts val="0"/>
              </a:spcAft>
            </a:pPr>
            <a:r>
              <a:rPr sz="2000" dirty="0">
                <a:solidFill>
                  <a:srgbClr val="181A0D"/>
                </a:solidFill>
                <a:latin typeface="PPUTKU+FranklinGothic-Book"/>
                <a:cs typeface="PPUTKU+FranklinGothic-Book"/>
              </a:rPr>
              <a:t>■</a:t>
            </a:r>
            <a:r>
              <a:rPr sz="2000" spc="1181" dirty="0">
                <a:solidFill>
                  <a:srgbClr val="181A0D"/>
                </a:solidFill>
                <a:latin typeface="DejaVu Sans"/>
                <a:cs typeface="DejaVu Sans"/>
              </a:rPr>
              <a:t> </a:t>
            </a:r>
            <a:r>
              <a:rPr sz="2000" dirty="0">
                <a:solidFill>
                  <a:srgbClr val="181A0D"/>
                </a:solidFill>
                <a:latin typeface="NOOILK+FranklinGothic-Book"/>
                <a:cs typeface="NOOILK+FranklinGothic-Book"/>
              </a:rPr>
              <a:t>Summarize the data used in the analysis</a:t>
            </a:r>
          </a:p>
        </p:txBody>
      </p:sp>
      <p:sp>
        <p:nvSpPr>
          <p:cNvPr id="5" name="object 5"/>
          <p:cNvSpPr txBox="1"/>
          <p:nvPr/>
        </p:nvSpPr>
        <p:spPr>
          <a:xfrm>
            <a:off x="1993265" y="2703363"/>
            <a:ext cx="7779612" cy="32493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0" marR="0">
              <a:lnSpc>
                <a:spcPts val="2258"/>
              </a:lnSpc>
              <a:spcBef>
                <a:spcPts val="0"/>
              </a:spcBef>
              <a:spcAft>
                <a:spcPts val="0"/>
              </a:spcAft>
            </a:pPr>
            <a:r>
              <a:rPr sz="2000" dirty="0">
                <a:solidFill>
                  <a:srgbClr val="181A0D"/>
                </a:solidFill>
                <a:latin typeface="NOOILK+FranklinGothic-Book"/>
                <a:cs typeface="NOOILK+FranklinGothic-Book"/>
              </a:rPr>
              <a:t>–</a:t>
            </a:r>
            <a:r>
              <a:rPr sz="2000" spc="1352" dirty="0">
                <a:solidFill>
                  <a:srgbClr val="181A0D"/>
                </a:solidFill>
                <a:latin typeface="NOOILK+FranklinGothic-Book"/>
                <a:cs typeface="NOOILK+FranklinGothic-Book"/>
              </a:rPr>
              <a:t> </a:t>
            </a:r>
            <a:r>
              <a:rPr sz="2000" spc="-13" dirty="0">
                <a:solidFill>
                  <a:srgbClr val="181A0D"/>
                </a:solidFill>
                <a:latin typeface="FEBWQJ+FranklinGothic-BookItalic"/>
                <a:cs typeface="FEBWQJ+FranklinGothic-BookItalic"/>
              </a:rPr>
              <a:t>How</a:t>
            </a:r>
            <a:r>
              <a:rPr sz="2000" spc="-119" dirty="0">
                <a:solidFill>
                  <a:srgbClr val="181A0D"/>
                </a:solidFill>
                <a:latin typeface="FEBWQJ+FranklinGothic-BookItalic"/>
                <a:cs typeface="FEBWQJ+FranklinGothic-BookItalic"/>
              </a:rPr>
              <a:t> </a:t>
            </a:r>
            <a:r>
              <a:rPr sz="2000" spc="-10" dirty="0">
                <a:solidFill>
                  <a:srgbClr val="181A0D"/>
                </a:solidFill>
                <a:latin typeface="FEBWQJ+FranklinGothic-BookItalic"/>
                <a:cs typeface="FEBWQJ+FranklinGothic-BookItalic"/>
              </a:rPr>
              <a:t>many</a:t>
            </a:r>
            <a:r>
              <a:rPr sz="2000" spc="-125" dirty="0">
                <a:solidFill>
                  <a:srgbClr val="181A0D"/>
                </a:solidFill>
                <a:latin typeface="FEBWQJ+FranklinGothic-BookItalic"/>
                <a:cs typeface="FEBWQJ+FranklinGothic-BookItalic"/>
              </a:rPr>
              <a:t> </a:t>
            </a:r>
            <a:r>
              <a:rPr sz="2000" dirty="0">
                <a:solidFill>
                  <a:srgbClr val="181A0D"/>
                </a:solidFill>
                <a:latin typeface="FEBWQJ+FranklinGothic-BookItalic"/>
                <a:cs typeface="FEBWQJ+FranklinGothic-BookItalic"/>
              </a:rPr>
              <a:t>subjects</a:t>
            </a:r>
            <a:r>
              <a:rPr sz="2000" spc="-133" dirty="0">
                <a:solidFill>
                  <a:srgbClr val="181A0D"/>
                </a:solidFill>
                <a:latin typeface="FEBWQJ+FranklinGothic-BookItalic"/>
                <a:cs typeface="FEBWQJ+FranklinGothic-BookItalic"/>
              </a:rPr>
              <a:t> </a:t>
            </a:r>
            <a:r>
              <a:rPr sz="2000" spc="-10" dirty="0">
                <a:solidFill>
                  <a:srgbClr val="181A0D"/>
                </a:solidFill>
                <a:latin typeface="FEBWQJ+FranklinGothic-BookItalic"/>
                <a:cs typeface="FEBWQJ+FranklinGothic-BookItalic"/>
              </a:rPr>
              <a:t>were</a:t>
            </a:r>
            <a:r>
              <a:rPr sz="2000" spc="-128" dirty="0">
                <a:solidFill>
                  <a:srgbClr val="181A0D"/>
                </a:solidFill>
                <a:latin typeface="FEBWQJ+FranklinGothic-BookItalic"/>
                <a:cs typeface="FEBWQJ+FranklinGothic-BookItalic"/>
              </a:rPr>
              <a:t> </a:t>
            </a:r>
            <a:r>
              <a:rPr sz="2000" dirty="0">
                <a:solidFill>
                  <a:srgbClr val="181A0D"/>
                </a:solidFill>
                <a:latin typeface="FEBWQJ+FranklinGothic-BookItalic"/>
                <a:cs typeface="FEBWQJ+FranklinGothic-BookItalic"/>
              </a:rPr>
              <a:t>in</a:t>
            </a:r>
            <a:r>
              <a:rPr sz="2000" spc="-134" dirty="0">
                <a:solidFill>
                  <a:srgbClr val="181A0D"/>
                </a:solidFill>
                <a:latin typeface="FEBWQJ+FranklinGothic-BookItalic"/>
                <a:cs typeface="FEBWQJ+FranklinGothic-BookItalic"/>
              </a:rPr>
              <a:t> </a:t>
            </a:r>
            <a:r>
              <a:rPr sz="2000" dirty="0">
                <a:solidFill>
                  <a:srgbClr val="181A0D"/>
                </a:solidFill>
                <a:latin typeface="FEBWQJ+FranklinGothic-BookItalic"/>
                <a:cs typeface="FEBWQJ+FranklinGothic-BookItalic"/>
              </a:rPr>
              <a:t>the</a:t>
            </a:r>
            <a:r>
              <a:rPr sz="2000" spc="-137" dirty="0">
                <a:solidFill>
                  <a:srgbClr val="181A0D"/>
                </a:solidFill>
                <a:latin typeface="FEBWQJ+FranklinGothic-BookItalic"/>
                <a:cs typeface="FEBWQJ+FranklinGothic-BookItalic"/>
              </a:rPr>
              <a:t> </a:t>
            </a:r>
            <a:r>
              <a:rPr sz="2000" dirty="0">
                <a:solidFill>
                  <a:srgbClr val="181A0D"/>
                </a:solidFill>
                <a:latin typeface="FEBWQJ+FranklinGothic-BookItalic"/>
                <a:cs typeface="FEBWQJ+FranklinGothic-BookItalic"/>
              </a:rPr>
              <a:t>initial</a:t>
            </a:r>
            <a:r>
              <a:rPr sz="2000" spc="-135" dirty="0">
                <a:solidFill>
                  <a:srgbClr val="181A0D"/>
                </a:solidFill>
                <a:latin typeface="FEBWQJ+FranklinGothic-BookItalic"/>
                <a:cs typeface="FEBWQJ+FranklinGothic-BookItalic"/>
              </a:rPr>
              <a:t> </a:t>
            </a:r>
            <a:r>
              <a:rPr sz="2000" dirty="0">
                <a:solidFill>
                  <a:srgbClr val="181A0D"/>
                </a:solidFill>
                <a:latin typeface="FEBWQJ+FranklinGothic-BookItalic"/>
                <a:cs typeface="FEBWQJ+FranklinGothic-BookItalic"/>
              </a:rPr>
              <a:t>dataset</a:t>
            </a:r>
            <a:r>
              <a:rPr sz="2000" spc="-134" dirty="0">
                <a:solidFill>
                  <a:srgbClr val="181A0D"/>
                </a:solidFill>
                <a:latin typeface="FEBWQJ+FranklinGothic-BookItalic"/>
                <a:cs typeface="FEBWQJ+FranklinGothic-BookItalic"/>
              </a:rPr>
              <a:t> </a:t>
            </a:r>
            <a:r>
              <a:rPr sz="2000" spc="-15" dirty="0">
                <a:solidFill>
                  <a:srgbClr val="181A0D"/>
                </a:solidFill>
                <a:latin typeface="FEBWQJ+FranklinGothic-BookItalic"/>
                <a:cs typeface="FEBWQJ+FranklinGothic-BookItalic"/>
              </a:rPr>
              <a:t>you</a:t>
            </a:r>
            <a:r>
              <a:rPr sz="2000" spc="-117" dirty="0">
                <a:solidFill>
                  <a:srgbClr val="181A0D"/>
                </a:solidFill>
                <a:latin typeface="FEBWQJ+FranklinGothic-BookItalic"/>
                <a:cs typeface="FEBWQJ+FranklinGothic-BookItalic"/>
              </a:rPr>
              <a:t> </a:t>
            </a:r>
            <a:r>
              <a:rPr sz="2000" dirty="0">
                <a:solidFill>
                  <a:srgbClr val="181A0D"/>
                </a:solidFill>
                <a:latin typeface="FEBWQJ+FranklinGothic-BookItalic"/>
                <a:cs typeface="FEBWQJ+FranklinGothic-BookItalic"/>
              </a:rPr>
              <a:t>received</a:t>
            </a:r>
            <a:r>
              <a:rPr sz="2000" spc="-130" dirty="0">
                <a:solidFill>
                  <a:srgbClr val="181A0D"/>
                </a:solidFill>
                <a:latin typeface="FEBWQJ+FranklinGothic-BookItalic"/>
                <a:cs typeface="FEBWQJ+FranklinGothic-BookItalic"/>
              </a:rPr>
              <a:t> </a:t>
            </a:r>
            <a:r>
              <a:rPr sz="2000" dirty="0">
                <a:solidFill>
                  <a:srgbClr val="181A0D"/>
                </a:solidFill>
                <a:latin typeface="FEBWQJ+FranklinGothic-BookItalic"/>
                <a:cs typeface="FEBWQJ+FranklinGothic-BookItalic"/>
              </a:rPr>
              <a:t>from</a:t>
            </a:r>
            <a:r>
              <a:rPr sz="2000" spc="-125" dirty="0">
                <a:solidFill>
                  <a:srgbClr val="181A0D"/>
                </a:solidFill>
                <a:latin typeface="FEBWQJ+FranklinGothic-BookItalic"/>
                <a:cs typeface="FEBWQJ+FranklinGothic-BookItalic"/>
              </a:rPr>
              <a:t> </a:t>
            </a:r>
            <a:r>
              <a:rPr sz="2000" dirty="0">
                <a:solidFill>
                  <a:srgbClr val="181A0D"/>
                </a:solidFill>
                <a:latin typeface="FEBWQJ+FranklinGothic-BookItalic"/>
                <a:cs typeface="FEBWQJ+FranklinGothic-BookItalic"/>
              </a:rPr>
              <a:t>the</a:t>
            </a:r>
          </a:p>
        </p:txBody>
      </p:sp>
      <p:sp>
        <p:nvSpPr>
          <p:cNvPr id="6" name="object 6"/>
          <p:cNvSpPr txBox="1"/>
          <p:nvPr/>
        </p:nvSpPr>
        <p:spPr>
          <a:xfrm>
            <a:off x="2377440" y="2989875"/>
            <a:ext cx="1529112" cy="32493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0" marR="0">
              <a:lnSpc>
                <a:spcPts val="2258"/>
              </a:lnSpc>
              <a:spcBef>
                <a:spcPts val="0"/>
              </a:spcBef>
              <a:spcAft>
                <a:spcPts val="0"/>
              </a:spcAft>
            </a:pPr>
            <a:r>
              <a:rPr sz="2000" spc="-12" dirty="0">
                <a:solidFill>
                  <a:srgbClr val="181A0D"/>
                </a:solidFill>
                <a:latin typeface="FEBWQJ+FranklinGothic-BookItalic"/>
                <a:cs typeface="FEBWQJ+FranklinGothic-BookItalic"/>
              </a:rPr>
              <a:t>investigator?</a:t>
            </a:r>
          </a:p>
        </p:txBody>
      </p:sp>
      <p:sp>
        <p:nvSpPr>
          <p:cNvPr id="7" name="object 7"/>
          <p:cNvSpPr txBox="1"/>
          <p:nvPr/>
        </p:nvSpPr>
        <p:spPr>
          <a:xfrm>
            <a:off x="1993265" y="3364779"/>
            <a:ext cx="5489405" cy="32493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0" marR="0">
              <a:lnSpc>
                <a:spcPts val="2258"/>
              </a:lnSpc>
              <a:spcBef>
                <a:spcPts val="0"/>
              </a:spcBef>
              <a:spcAft>
                <a:spcPts val="0"/>
              </a:spcAft>
            </a:pPr>
            <a:r>
              <a:rPr sz="2000" dirty="0">
                <a:solidFill>
                  <a:srgbClr val="181A0D"/>
                </a:solidFill>
                <a:latin typeface="NOOILK+FranklinGothic-Book"/>
                <a:cs typeface="NOOILK+FranklinGothic-Book"/>
              </a:rPr>
              <a:t>–</a:t>
            </a:r>
            <a:r>
              <a:rPr sz="2000" spc="1352" dirty="0">
                <a:solidFill>
                  <a:srgbClr val="181A0D"/>
                </a:solidFill>
                <a:latin typeface="NOOILK+FranklinGothic-Book"/>
                <a:cs typeface="NOOILK+FranklinGothic-Book"/>
              </a:rPr>
              <a:t> </a:t>
            </a:r>
            <a:r>
              <a:rPr sz="2000" spc="-13" dirty="0">
                <a:solidFill>
                  <a:srgbClr val="181A0D"/>
                </a:solidFill>
                <a:latin typeface="FEBWQJ+FranklinGothic-BookItalic"/>
                <a:cs typeface="FEBWQJ+FranklinGothic-BookItalic"/>
              </a:rPr>
              <a:t>How</a:t>
            </a:r>
            <a:r>
              <a:rPr sz="2000" spc="-119" dirty="0">
                <a:solidFill>
                  <a:srgbClr val="181A0D"/>
                </a:solidFill>
                <a:latin typeface="FEBWQJ+FranklinGothic-BookItalic"/>
                <a:cs typeface="FEBWQJ+FranklinGothic-BookItalic"/>
              </a:rPr>
              <a:t> </a:t>
            </a:r>
            <a:r>
              <a:rPr sz="2000" spc="-10" dirty="0">
                <a:solidFill>
                  <a:srgbClr val="181A0D"/>
                </a:solidFill>
                <a:latin typeface="FEBWQJ+FranklinGothic-BookItalic"/>
                <a:cs typeface="FEBWQJ+FranklinGothic-BookItalic"/>
              </a:rPr>
              <a:t>many</a:t>
            </a:r>
            <a:r>
              <a:rPr sz="2000" spc="-125" dirty="0">
                <a:solidFill>
                  <a:srgbClr val="181A0D"/>
                </a:solidFill>
                <a:latin typeface="FEBWQJ+FranklinGothic-BookItalic"/>
                <a:cs typeface="FEBWQJ+FranklinGothic-BookItalic"/>
              </a:rPr>
              <a:t> </a:t>
            </a:r>
            <a:r>
              <a:rPr sz="2000" spc="-10" dirty="0">
                <a:solidFill>
                  <a:srgbClr val="181A0D"/>
                </a:solidFill>
                <a:latin typeface="FEBWQJ+FranklinGothic-BookItalic"/>
                <a:cs typeface="FEBWQJ+FranklinGothic-BookItalic"/>
              </a:rPr>
              <a:t>were</a:t>
            </a:r>
            <a:r>
              <a:rPr sz="2000" spc="-128" dirty="0">
                <a:solidFill>
                  <a:srgbClr val="181A0D"/>
                </a:solidFill>
                <a:latin typeface="FEBWQJ+FranklinGothic-BookItalic"/>
                <a:cs typeface="FEBWQJ+FranklinGothic-BookItalic"/>
              </a:rPr>
              <a:t> </a:t>
            </a:r>
            <a:r>
              <a:rPr sz="2000" dirty="0">
                <a:solidFill>
                  <a:srgbClr val="181A0D"/>
                </a:solidFill>
                <a:latin typeface="FEBWQJ+FranklinGothic-BookItalic"/>
                <a:cs typeface="FEBWQJ+FranklinGothic-BookItalic"/>
              </a:rPr>
              <a:t>included</a:t>
            </a:r>
            <a:r>
              <a:rPr sz="2000" spc="-137" dirty="0">
                <a:solidFill>
                  <a:srgbClr val="181A0D"/>
                </a:solidFill>
                <a:latin typeface="FEBWQJ+FranklinGothic-BookItalic"/>
                <a:cs typeface="FEBWQJ+FranklinGothic-BookItalic"/>
              </a:rPr>
              <a:t> </a:t>
            </a:r>
            <a:r>
              <a:rPr sz="2000" dirty="0">
                <a:solidFill>
                  <a:srgbClr val="181A0D"/>
                </a:solidFill>
                <a:latin typeface="FEBWQJ+FranklinGothic-BookItalic"/>
                <a:cs typeface="FEBWQJ+FranklinGothic-BookItalic"/>
              </a:rPr>
              <a:t>in</a:t>
            </a:r>
            <a:r>
              <a:rPr sz="2000" spc="-134" dirty="0">
                <a:solidFill>
                  <a:srgbClr val="181A0D"/>
                </a:solidFill>
                <a:latin typeface="FEBWQJ+FranklinGothic-BookItalic"/>
                <a:cs typeface="FEBWQJ+FranklinGothic-BookItalic"/>
              </a:rPr>
              <a:t> </a:t>
            </a:r>
            <a:r>
              <a:rPr sz="2000" dirty="0">
                <a:solidFill>
                  <a:srgbClr val="181A0D"/>
                </a:solidFill>
                <a:latin typeface="FEBWQJ+FranklinGothic-BookItalic"/>
                <a:cs typeface="FEBWQJ+FranklinGothic-BookItalic"/>
              </a:rPr>
              <a:t>the</a:t>
            </a:r>
            <a:r>
              <a:rPr sz="2000" spc="-137" dirty="0">
                <a:solidFill>
                  <a:srgbClr val="181A0D"/>
                </a:solidFill>
                <a:latin typeface="FEBWQJ+FranklinGothic-BookItalic"/>
                <a:cs typeface="FEBWQJ+FranklinGothic-BookItalic"/>
              </a:rPr>
              <a:t> </a:t>
            </a:r>
            <a:r>
              <a:rPr sz="2000" dirty="0">
                <a:solidFill>
                  <a:srgbClr val="181A0D"/>
                </a:solidFill>
                <a:latin typeface="FEBWQJ+FranklinGothic-BookItalic"/>
                <a:cs typeface="FEBWQJ+FranklinGothic-BookItalic"/>
              </a:rPr>
              <a:t>final</a:t>
            </a:r>
            <a:r>
              <a:rPr sz="2000" spc="-139" dirty="0">
                <a:solidFill>
                  <a:srgbClr val="181A0D"/>
                </a:solidFill>
                <a:latin typeface="FEBWQJ+FranklinGothic-BookItalic"/>
                <a:cs typeface="FEBWQJ+FranklinGothic-BookItalic"/>
              </a:rPr>
              <a:t> </a:t>
            </a:r>
            <a:r>
              <a:rPr sz="2000" dirty="0">
                <a:solidFill>
                  <a:srgbClr val="181A0D"/>
                </a:solidFill>
                <a:latin typeface="FEBWQJ+FranklinGothic-BookItalic"/>
                <a:cs typeface="FEBWQJ+FranklinGothic-BookItalic"/>
              </a:rPr>
              <a:t>analysis?</a:t>
            </a:r>
          </a:p>
        </p:txBody>
      </p:sp>
      <p:sp>
        <p:nvSpPr>
          <p:cNvPr id="8" name="object 8"/>
          <p:cNvSpPr txBox="1"/>
          <p:nvPr/>
        </p:nvSpPr>
        <p:spPr>
          <a:xfrm>
            <a:off x="2450465" y="3740695"/>
            <a:ext cx="7353738" cy="297284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0" marR="0">
              <a:lnSpc>
                <a:spcPts val="2040"/>
              </a:lnSpc>
              <a:spcBef>
                <a:spcPts val="0"/>
              </a:spcBef>
              <a:spcAft>
                <a:spcPts val="0"/>
              </a:spcAft>
            </a:pPr>
            <a:r>
              <a:rPr sz="1800" dirty="0">
                <a:solidFill>
                  <a:srgbClr val="181A0D"/>
                </a:solidFill>
                <a:latin typeface="PPUTKU+FranklinGothic-Book"/>
                <a:cs typeface="PPUTKU+FranklinGothic-Book"/>
              </a:rPr>
              <a:t>■</a:t>
            </a:r>
            <a:r>
              <a:rPr sz="1800" spc="1366" dirty="0">
                <a:solidFill>
                  <a:srgbClr val="181A0D"/>
                </a:solidFill>
                <a:latin typeface="DejaVu Sans"/>
                <a:cs typeface="DejaVu Sans"/>
              </a:rPr>
              <a:t> </a:t>
            </a:r>
            <a:r>
              <a:rPr sz="1800" dirty="0">
                <a:solidFill>
                  <a:srgbClr val="181A0D"/>
                </a:solidFill>
                <a:latin typeface="NOOILK+FranklinGothic-Book"/>
                <a:cs typeface="NOOILK+FranklinGothic-Book"/>
              </a:rPr>
              <a:t>If these numbers are not the same, </a:t>
            </a:r>
            <a:r>
              <a:rPr sz="1800" spc="-14" dirty="0">
                <a:solidFill>
                  <a:srgbClr val="181A0D"/>
                </a:solidFill>
                <a:latin typeface="NOOILK+FranklinGothic-Book"/>
                <a:cs typeface="NOOILK+FranklinGothic-Book"/>
              </a:rPr>
              <a:t>why</a:t>
            </a:r>
            <a:r>
              <a:rPr sz="1800" spc="15" dirty="0">
                <a:solidFill>
                  <a:srgbClr val="181A0D"/>
                </a:solidFill>
                <a:latin typeface="NOOILK+FranklinGothic-Book"/>
                <a:cs typeface="NOOILK+FranklinGothic-Book"/>
              </a:rPr>
              <a:t> </a:t>
            </a:r>
            <a:r>
              <a:rPr sz="1800" dirty="0">
                <a:solidFill>
                  <a:srgbClr val="181A0D"/>
                </a:solidFill>
                <a:latin typeface="NOOILK+FranklinGothic-Book"/>
                <a:cs typeface="NOOILK+FranklinGothic-Book"/>
              </a:rPr>
              <a:t>were some subjects excluded?</a:t>
            </a:r>
          </a:p>
        </p:txBody>
      </p:sp>
      <p:sp>
        <p:nvSpPr>
          <p:cNvPr id="9" name="object 9"/>
          <p:cNvSpPr txBox="1"/>
          <p:nvPr/>
        </p:nvSpPr>
        <p:spPr>
          <a:xfrm>
            <a:off x="1993265" y="4087155"/>
            <a:ext cx="8281637" cy="32493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0" marR="0">
              <a:lnSpc>
                <a:spcPts val="2258"/>
              </a:lnSpc>
              <a:spcBef>
                <a:spcPts val="0"/>
              </a:spcBef>
              <a:spcAft>
                <a:spcPts val="0"/>
              </a:spcAft>
            </a:pPr>
            <a:r>
              <a:rPr sz="2000" dirty="0">
                <a:solidFill>
                  <a:srgbClr val="181A0D"/>
                </a:solidFill>
                <a:latin typeface="NOOILK+FranklinGothic-Book"/>
                <a:cs typeface="NOOILK+FranklinGothic-Book"/>
              </a:rPr>
              <a:t>–</a:t>
            </a:r>
            <a:r>
              <a:rPr sz="2000" spc="1352" dirty="0">
                <a:solidFill>
                  <a:srgbClr val="181A0D"/>
                </a:solidFill>
                <a:latin typeface="NOOILK+FranklinGothic-Book"/>
                <a:cs typeface="NOOILK+FranklinGothic-Book"/>
              </a:rPr>
              <a:t> </a:t>
            </a:r>
            <a:r>
              <a:rPr sz="2000" dirty="0">
                <a:solidFill>
                  <a:srgbClr val="181A0D"/>
                </a:solidFill>
                <a:latin typeface="FEBWQJ+FranklinGothic-BookItalic"/>
                <a:cs typeface="FEBWQJ+FranklinGothic-BookItalic"/>
              </a:rPr>
              <a:t>Did</a:t>
            </a:r>
            <a:r>
              <a:rPr sz="2000" spc="-140" dirty="0">
                <a:solidFill>
                  <a:srgbClr val="181A0D"/>
                </a:solidFill>
                <a:latin typeface="FEBWQJ+FranklinGothic-BookItalic"/>
                <a:cs typeface="FEBWQJ+FranklinGothic-BookItalic"/>
              </a:rPr>
              <a:t> </a:t>
            </a:r>
            <a:r>
              <a:rPr sz="2000" spc="-15" dirty="0">
                <a:solidFill>
                  <a:srgbClr val="181A0D"/>
                </a:solidFill>
                <a:latin typeface="FEBWQJ+FranklinGothic-BookItalic"/>
                <a:cs typeface="FEBWQJ+FranklinGothic-BookItalic"/>
              </a:rPr>
              <a:t>you</a:t>
            </a:r>
            <a:r>
              <a:rPr sz="2000" spc="-119" dirty="0">
                <a:solidFill>
                  <a:srgbClr val="181A0D"/>
                </a:solidFill>
                <a:latin typeface="FEBWQJ+FranklinGothic-BookItalic"/>
                <a:cs typeface="FEBWQJ+FranklinGothic-BookItalic"/>
              </a:rPr>
              <a:t> </a:t>
            </a:r>
            <a:r>
              <a:rPr sz="2000" spc="-11" dirty="0">
                <a:solidFill>
                  <a:srgbClr val="181A0D"/>
                </a:solidFill>
                <a:latin typeface="FEBWQJ+FranklinGothic-BookItalic"/>
                <a:cs typeface="FEBWQJ+FranklinGothic-BookItalic"/>
              </a:rPr>
              <a:t>make</a:t>
            </a:r>
            <a:r>
              <a:rPr sz="2000" spc="-128" dirty="0">
                <a:solidFill>
                  <a:srgbClr val="181A0D"/>
                </a:solidFill>
                <a:latin typeface="FEBWQJ+FranklinGothic-BookItalic"/>
                <a:cs typeface="FEBWQJ+FranklinGothic-BookItalic"/>
              </a:rPr>
              <a:t> </a:t>
            </a:r>
            <a:r>
              <a:rPr sz="2000" spc="-17" dirty="0">
                <a:solidFill>
                  <a:srgbClr val="181A0D"/>
                </a:solidFill>
                <a:latin typeface="FEBWQJ+FranklinGothic-BookItalic"/>
                <a:cs typeface="FEBWQJ+FranklinGothic-BookItalic"/>
              </a:rPr>
              <a:t>any</a:t>
            </a:r>
            <a:r>
              <a:rPr sz="2000" spc="-119" dirty="0">
                <a:solidFill>
                  <a:srgbClr val="181A0D"/>
                </a:solidFill>
                <a:latin typeface="FEBWQJ+FranklinGothic-BookItalic"/>
                <a:cs typeface="FEBWQJ+FranklinGothic-BookItalic"/>
              </a:rPr>
              <a:t> </a:t>
            </a:r>
            <a:r>
              <a:rPr sz="2000" dirty="0">
                <a:solidFill>
                  <a:srgbClr val="181A0D"/>
                </a:solidFill>
                <a:latin typeface="FEBWQJ+FranklinGothic-BookItalic"/>
                <a:cs typeface="FEBWQJ+FranklinGothic-BookItalic"/>
              </a:rPr>
              <a:t>transformations</a:t>
            </a:r>
            <a:r>
              <a:rPr sz="2000" spc="-132" dirty="0">
                <a:solidFill>
                  <a:srgbClr val="181A0D"/>
                </a:solidFill>
                <a:latin typeface="FEBWQJ+FranklinGothic-BookItalic"/>
                <a:cs typeface="FEBWQJ+FranklinGothic-BookItalic"/>
              </a:rPr>
              <a:t> </a:t>
            </a:r>
            <a:r>
              <a:rPr sz="2000" dirty="0">
                <a:solidFill>
                  <a:srgbClr val="181A0D"/>
                </a:solidFill>
                <a:latin typeface="FEBWQJ+FranklinGothic-BookItalic"/>
                <a:cs typeface="FEBWQJ+FranklinGothic-BookItalic"/>
              </a:rPr>
              <a:t>or</a:t>
            </a:r>
            <a:r>
              <a:rPr sz="2000" spc="-135" dirty="0">
                <a:solidFill>
                  <a:srgbClr val="181A0D"/>
                </a:solidFill>
                <a:latin typeface="FEBWQJ+FranklinGothic-BookItalic"/>
                <a:cs typeface="FEBWQJ+FranklinGothic-BookItalic"/>
              </a:rPr>
              <a:t> </a:t>
            </a:r>
            <a:r>
              <a:rPr sz="2000" dirty="0">
                <a:solidFill>
                  <a:srgbClr val="181A0D"/>
                </a:solidFill>
                <a:latin typeface="FEBWQJ+FranklinGothic-BookItalic"/>
                <a:cs typeface="FEBWQJ+FranklinGothic-BookItalic"/>
              </a:rPr>
              <a:t>other</a:t>
            </a:r>
            <a:r>
              <a:rPr sz="2000" spc="-133" dirty="0">
                <a:solidFill>
                  <a:srgbClr val="181A0D"/>
                </a:solidFill>
                <a:latin typeface="FEBWQJ+FranklinGothic-BookItalic"/>
                <a:cs typeface="FEBWQJ+FranklinGothic-BookItalic"/>
              </a:rPr>
              <a:t> </a:t>
            </a:r>
            <a:r>
              <a:rPr sz="2000" dirty="0">
                <a:solidFill>
                  <a:srgbClr val="181A0D"/>
                </a:solidFill>
                <a:latin typeface="FEBWQJ+FranklinGothic-BookItalic"/>
                <a:cs typeface="FEBWQJ+FranklinGothic-BookItalic"/>
              </a:rPr>
              <a:t>changes</a:t>
            </a:r>
            <a:r>
              <a:rPr sz="2000" spc="-132" dirty="0">
                <a:solidFill>
                  <a:srgbClr val="181A0D"/>
                </a:solidFill>
                <a:latin typeface="FEBWQJ+FranklinGothic-BookItalic"/>
                <a:cs typeface="FEBWQJ+FranklinGothic-BookItalic"/>
              </a:rPr>
              <a:t> </a:t>
            </a:r>
            <a:r>
              <a:rPr sz="2000" spc="-50" dirty="0">
                <a:solidFill>
                  <a:srgbClr val="181A0D"/>
                </a:solidFill>
                <a:latin typeface="FEBWQJ+FranklinGothic-BookItalic"/>
                <a:cs typeface="FEBWQJ+FranklinGothic-BookItalic"/>
              </a:rPr>
              <a:t>to</a:t>
            </a:r>
            <a:r>
              <a:rPr sz="2000" spc="-89" dirty="0">
                <a:solidFill>
                  <a:srgbClr val="181A0D"/>
                </a:solidFill>
                <a:latin typeface="FEBWQJ+FranklinGothic-BookItalic"/>
                <a:cs typeface="FEBWQJ+FranklinGothic-BookItalic"/>
              </a:rPr>
              <a:t> </a:t>
            </a:r>
            <a:r>
              <a:rPr sz="2000" dirty="0">
                <a:solidFill>
                  <a:srgbClr val="181A0D"/>
                </a:solidFill>
                <a:latin typeface="FEBWQJ+FranklinGothic-BookItalic"/>
                <a:cs typeface="FEBWQJ+FranklinGothic-BookItalic"/>
              </a:rPr>
              <a:t>the</a:t>
            </a:r>
            <a:r>
              <a:rPr sz="2000" spc="-138" dirty="0">
                <a:solidFill>
                  <a:srgbClr val="181A0D"/>
                </a:solidFill>
                <a:latin typeface="FEBWQJ+FranklinGothic-BookItalic"/>
                <a:cs typeface="FEBWQJ+FranklinGothic-BookItalic"/>
              </a:rPr>
              <a:t> </a:t>
            </a:r>
            <a:r>
              <a:rPr sz="2000" dirty="0">
                <a:solidFill>
                  <a:srgbClr val="181A0D"/>
                </a:solidFill>
                <a:latin typeface="FEBWQJ+FranklinGothic-BookItalic"/>
                <a:cs typeface="FEBWQJ+FranklinGothic-BookItalic"/>
              </a:rPr>
              <a:t>data,</a:t>
            </a:r>
            <a:r>
              <a:rPr sz="2000" spc="-139" dirty="0">
                <a:solidFill>
                  <a:srgbClr val="181A0D"/>
                </a:solidFill>
                <a:latin typeface="FEBWQJ+FranklinGothic-BookItalic"/>
                <a:cs typeface="FEBWQJ+FranklinGothic-BookItalic"/>
              </a:rPr>
              <a:t> </a:t>
            </a:r>
            <a:r>
              <a:rPr sz="2000" dirty="0">
                <a:solidFill>
                  <a:srgbClr val="181A0D"/>
                </a:solidFill>
                <a:latin typeface="FEBWQJ+FranklinGothic-BookItalic"/>
                <a:cs typeface="FEBWQJ+FranklinGothic-BookItalic"/>
              </a:rPr>
              <a:t>such</a:t>
            </a:r>
            <a:r>
              <a:rPr sz="2000" spc="-134" dirty="0">
                <a:solidFill>
                  <a:srgbClr val="181A0D"/>
                </a:solidFill>
                <a:latin typeface="FEBWQJ+FranklinGothic-BookItalic"/>
                <a:cs typeface="FEBWQJ+FranklinGothic-BookItalic"/>
              </a:rPr>
              <a:t> </a:t>
            </a:r>
            <a:r>
              <a:rPr sz="2000" dirty="0">
                <a:solidFill>
                  <a:srgbClr val="181A0D"/>
                </a:solidFill>
                <a:latin typeface="FEBWQJ+FranklinGothic-BookItalic"/>
                <a:cs typeface="FEBWQJ+FranklinGothic-BookItalic"/>
              </a:rPr>
              <a:t>as</a:t>
            </a:r>
          </a:p>
        </p:txBody>
      </p:sp>
      <p:sp>
        <p:nvSpPr>
          <p:cNvPr id="10" name="object 10"/>
          <p:cNvSpPr txBox="1"/>
          <p:nvPr/>
        </p:nvSpPr>
        <p:spPr>
          <a:xfrm>
            <a:off x="2377440" y="4373667"/>
            <a:ext cx="4708855" cy="32493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0" marR="0">
              <a:lnSpc>
                <a:spcPts val="2258"/>
              </a:lnSpc>
              <a:spcBef>
                <a:spcPts val="0"/>
              </a:spcBef>
              <a:spcAft>
                <a:spcPts val="0"/>
              </a:spcAft>
            </a:pPr>
            <a:r>
              <a:rPr sz="2000" dirty="0">
                <a:solidFill>
                  <a:srgbClr val="181A0D"/>
                </a:solidFill>
                <a:latin typeface="FEBWQJ+FranklinGothic-BookItalic"/>
                <a:cs typeface="FEBWQJ+FranklinGothic-BookItalic"/>
              </a:rPr>
              <a:t>collapsing</a:t>
            </a:r>
            <a:r>
              <a:rPr sz="2000" spc="-133" dirty="0">
                <a:solidFill>
                  <a:srgbClr val="181A0D"/>
                </a:solidFill>
                <a:latin typeface="FEBWQJ+FranklinGothic-BookItalic"/>
                <a:cs typeface="FEBWQJ+FranklinGothic-BookItalic"/>
              </a:rPr>
              <a:t> </a:t>
            </a:r>
            <a:r>
              <a:rPr sz="2000" dirty="0">
                <a:solidFill>
                  <a:srgbClr val="181A0D"/>
                </a:solidFill>
                <a:latin typeface="FEBWQJ+FranklinGothic-BookItalic"/>
                <a:cs typeface="FEBWQJ+FranklinGothic-BookItalic"/>
              </a:rPr>
              <a:t>groups</a:t>
            </a:r>
            <a:r>
              <a:rPr sz="2000" spc="-130" dirty="0">
                <a:solidFill>
                  <a:srgbClr val="181A0D"/>
                </a:solidFill>
                <a:latin typeface="FEBWQJ+FranklinGothic-BookItalic"/>
                <a:cs typeface="FEBWQJ+FranklinGothic-BookItalic"/>
              </a:rPr>
              <a:t> </a:t>
            </a:r>
            <a:r>
              <a:rPr sz="2000" dirty="0">
                <a:solidFill>
                  <a:srgbClr val="181A0D"/>
                </a:solidFill>
                <a:latin typeface="FEBWQJ+FranklinGothic-BookItalic"/>
                <a:cs typeface="FEBWQJ+FranklinGothic-BookItalic"/>
              </a:rPr>
              <a:t>in</a:t>
            </a:r>
            <a:r>
              <a:rPr sz="2000" spc="-134" dirty="0">
                <a:solidFill>
                  <a:srgbClr val="181A0D"/>
                </a:solidFill>
                <a:latin typeface="FEBWQJ+FranklinGothic-BookItalic"/>
                <a:cs typeface="FEBWQJ+FranklinGothic-BookItalic"/>
              </a:rPr>
              <a:t> </a:t>
            </a:r>
            <a:r>
              <a:rPr sz="2000" dirty="0">
                <a:solidFill>
                  <a:srgbClr val="181A0D"/>
                </a:solidFill>
                <a:latin typeface="FEBWQJ+FranklinGothic-BookItalic"/>
                <a:cs typeface="FEBWQJ+FranklinGothic-BookItalic"/>
              </a:rPr>
              <a:t>categorical</a:t>
            </a:r>
            <a:r>
              <a:rPr sz="2000" spc="-129" dirty="0">
                <a:solidFill>
                  <a:srgbClr val="181A0D"/>
                </a:solidFill>
                <a:latin typeface="FEBWQJ+FranklinGothic-BookItalic"/>
                <a:cs typeface="FEBWQJ+FranklinGothic-BookItalic"/>
              </a:rPr>
              <a:t> </a:t>
            </a:r>
            <a:r>
              <a:rPr sz="2000" dirty="0">
                <a:solidFill>
                  <a:srgbClr val="181A0D"/>
                </a:solidFill>
                <a:latin typeface="FEBWQJ+FranklinGothic-BookItalic"/>
                <a:cs typeface="FEBWQJ+FranklinGothic-BookItalic"/>
              </a:rPr>
              <a:t>variables?</a:t>
            </a:r>
          </a:p>
        </p:txBody>
      </p:sp>
      <p:sp>
        <p:nvSpPr>
          <p:cNvPr id="11" name="object 11"/>
          <p:cNvSpPr txBox="1"/>
          <p:nvPr/>
        </p:nvSpPr>
        <p:spPr>
          <a:xfrm>
            <a:off x="2450465" y="4749583"/>
            <a:ext cx="1541128" cy="297284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0" marR="0">
              <a:lnSpc>
                <a:spcPts val="2040"/>
              </a:lnSpc>
              <a:spcBef>
                <a:spcPts val="0"/>
              </a:spcBef>
              <a:spcAft>
                <a:spcPts val="0"/>
              </a:spcAft>
            </a:pPr>
            <a:r>
              <a:rPr sz="1800" dirty="0">
                <a:solidFill>
                  <a:srgbClr val="181A0D"/>
                </a:solidFill>
                <a:latin typeface="PPUTKU+FranklinGothic-Book"/>
                <a:cs typeface="PPUTKU+FranklinGothic-Book"/>
              </a:rPr>
              <a:t>■</a:t>
            </a:r>
            <a:r>
              <a:rPr sz="1800" spc="1366" dirty="0">
                <a:solidFill>
                  <a:srgbClr val="181A0D"/>
                </a:solidFill>
                <a:latin typeface="DejaVu Sans"/>
                <a:cs typeface="DejaVu Sans"/>
              </a:rPr>
              <a:t> </a:t>
            </a:r>
            <a:r>
              <a:rPr sz="1800" dirty="0">
                <a:solidFill>
                  <a:srgbClr val="181A0D"/>
                </a:solidFill>
                <a:latin typeface="NOOILK+FranklinGothic-Book"/>
                <a:cs typeface="NOOILK+FranklinGothic-Book"/>
              </a:rPr>
              <a:t>If so, why?</a:t>
            </a:r>
          </a:p>
        </p:txBody>
      </p:sp>
      <p:sp>
        <p:nvSpPr>
          <p:cNvPr id="12" name="object 12"/>
          <p:cNvSpPr txBox="1"/>
          <p:nvPr/>
        </p:nvSpPr>
        <p:spPr>
          <a:xfrm>
            <a:off x="1993265" y="5096043"/>
            <a:ext cx="5856788" cy="32493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0" marR="0">
              <a:lnSpc>
                <a:spcPts val="2258"/>
              </a:lnSpc>
              <a:spcBef>
                <a:spcPts val="0"/>
              </a:spcBef>
              <a:spcAft>
                <a:spcPts val="0"/>
              </a:spcAft>
            </a:pPr>
            <a:r>
              <a:rPr sz="2000" dirty="0">
                <a:solidFill>
                  <a:srgbClr val="181A0D"/>
                </a:solidFill>
                <a:latin typeface="NOOILK+FranklinGothic-Book"/>
                <a:cs typeface="NOOILK+FranklinGothic-Book"/>
              </a:rPr>
              <a:t>–</a:t>
            </a:r>
            <a:r>
              <a:rPr sz="2000" spc="1352" dirty="0">
                <a:solidFill>
                  <a:srgbClr val="181A0D"/>
                </a:solidFill>
                <a:latin typeface="NOOILK+FranklinGothic-Book"/>
                <a:cs typeface="NOOILK+FranklinGothic-Book"/>
              </a:rPr>
              <a:t> </a:t>
            </a:r>
            <a:r>
              <a:rPr sz="2000" dirty="0">
                <a:solidFill>
                  <a:srgbClr val="181A0D"/>
                </a:solidFill>
                <a:latin typeface="FEBWQJ+FranklinGothic-BookItalic"/>
                <a:cs typeface="FEBWQJ+FranklinGothic-BookItalic"/>
              </a:rPr>
              <a:t>Descriptive</a:t>
            </a:r>
            <a:r>
              <a:rPr sz="2000" spc="-136" dirty="0">
                <a:solidFill>
                  <a:srgbClr val="181A0D"/>
                </a:solidFill>
                <a:latin typeface="FEBWQJ+FranklinGothic-BookItalic"/>
                <a:cs typeface="FEBWQJ+FranklinGothic-BookItalic"/>
              </a:rPr>
              <a:t> </a:t>
            </a:r>
            <a:r>
              <a:rPr sz="2000" dirty="0">
                <a:solidFill>
                  <a:srgbClr val="181A0D"/>
                </a:solidFill>
                <a:latin typeface="FEBWQJ+FranklinGothic-BookItalic"/>
                <a:cs typeface="FEBWQJ+FranklinGothic-BookItalic"/>
              </a:rPr>
              <a:t>statistics</a:t>
            </a:r>
            <a:r>
              <a:rPr sz="2000" spc="-129" dirty="0">
                <a:solidFill>
                  <a:srgbClr val="181A0D"/>
                </a:solidFill>
                <a:latin typeface="FEBWQJ+FranklinGothic-BookItalic"/>
                <a:cs typeface="FEBWQJ+FranklinGothic-BookItalic"/>
              </a:rPr>
              <a:t> </a:t>
            </a:r>
            <a:r>
              <a:rPr sz="2000" spc="-14" dirty="0">
                <a:solidFill>
                  <a:srgbClr val="181A0D"/>
                </a:solidFill>
                <a:latin typeface="FEBWQJ+FranklinGothic-BookItalic"/>
                <a:cs typeface="FEBWQJ+FranklinGothic-BookItalic"/>
              </a:rPr>
              <a:t>for</a:t>
            </a:r>
            <a:r>
              <a:rPr sz="2000" spc="-125" dirty="0">
                <a:solidFill>
                  <a:srgbClr val="181A0D"/>
                </a:solidFill>
                <a:latin typeface="FEBWQJ+FranklinGothic-BookItalic"/>
                <a:cs typeface="FEBWQJ+FranklinGothic-BookItalic"/>
              </a:rPr>
              <a:t> </a:t>
            </a:r>
            <a:r>
              <a:rPr sz="2000" dirty="0">
                <a:solidFill>
                  <a:srgbClr val="181A0D"/>
                </a:solidFill>
                <a:latin typeface="FEBWQJ+FranklinGothic-BookItalic"/>
                <a:cs typeface="FEBWQJ+FranklinGothic-BookItalic"/>
              </a:rPr>
              <a:t>the</a:t>
            </a:r>
            <a:r>
              <a:rPr sz="2000" spc="-138" dirty="0">
                <a:solidFill>
                  <a:srgbClr val="181A0D"/>
                </a:solidFill>
                <a:latin typeface="FEBWQJ+FranklinGothic-BookItalic"/>
                <a:cs typeface="FEBWQJ+FranklinGothic-BookItalic"/>
              </a:rPr>
              <a:t> </a:t>
            </a:r>
            <a:r>
              <a:rPr sz="2000" dirty="0">
                <a:solidFill>
                  <a:srgbClr val="181A0D"/>
                </a:solidFill>
                <a:latin typeface="FEBWQJ+FranklinGothic-BookItalic"/>
                <a:cs typeface="FEBWQJ+FranklinGothic-BookItalic"/>
              </a:rPr>
              <a:t>final</a:t>
            </a:r>
            <a:r>
              <a:rPr sz="2000" spc="-138" dirty="0">
                <a:solidFill>
                  <a:srgbClr val="181A0D"/>
                </a:solidFill>
                <a:latin typeface="FEBWQJ+FranklinGothic-BookItalic"/>
                <a:cs typeface="FEBWQJ+FranklinGothic-BookItalic"/>
              </a:rPr>
              <a:t> </a:t>
            </a:r>
            <a:r>
              <a:rPr sz="2000" dirty="0">
                <a:solidFill>
                  <a:srgbClr val="181A0D"/>
                </a:solidFill>
                <a:latin typeface="FEBWQJ+FranklinGothic-BookItalic"/>
                <a:cs typeface="FEBWQJ+FranklinGothic-BookItalic"/>
              </a:rPr>
              <a:t>analysis</a:t>
            </a:r>
            <a:r>
              <a:rPr sz="2000" spc="-137" dirty="0">
                <a:solidFill>
                  <a:srgbClr val="181A0D"/>
                </a:solidFill>
                <a:latin typeface="FEBWQJ+FranklinGothic-BookItalic"/>
                <a:cs typeface="FEBWQJ+FranklinGothic-BookItalic"/>
              </a:rPr>
              <a:t> </a:t>
            </a:r>
            <a:r>
              <a:rPr sz="2000" dirty="0">
                <a:solidFill>
                  <a:srgbClr val="181A0D"/>
                </a:solidFill>
                <a:latin typeface="FEBWQJ+FranklinGothic-BookItalic"/>
                <a:cs typeface="FEBWQJ+FranklinGothic-BookItalic"/>
              </a:rPr>
              <a:t>dataset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>
            <a:spAutoFit/>
          </a:bodyPr>
          <a:lstStyle/>
          <a:p>
            <a:endParaRPr/>
          </a:p>
        </p:txBody>
      </p:sp>
      <p:sp>
        <p:nvSpPr>
          <p:cNvPr id="3" name="object 3"/>
          <p:cNvSpPr txBox="1"/>
          <p:nvPr/>
        </p:nvSpPr>
        <p:spPr>
          <a:xfrm>
            <a:off x="1463040" y="689700"/>
            <a:ext cx="2057883" cy="67050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0" marR="0">
              <a:lnSpc>
                <a:spcPts val="4979"/>
              </a:lnSpc>
              <a:spcBef>
                <a:spcPts val="0"/>
              </a:spcBef>
              <a:spcAft>
                <a:spcPts val="0"/>
              </a:spcAft>
            </a:pPr>
            <a:r>
              <a:rPr sz="4400" dirty="0">
                <a:solidFill>
                  <a:srgbClr val="181A0D"/>
                </a:solidFill>
                <a:latin typeface="VTCKGD+FranklinGothic-Book"/>
                <a:cs typeface="VTCKGD+FranklinGothic-Book"/>
              </a:rPr>
              <a:t>Analysis</a:t>
            </a:r>
          </a:p>
        </p:txBody>
      </p:sp>
      <p:sp>
        <p:nvSpPr>
          <p:cNvPr id="4" name="object 4"/>
          <p:cNvSpPr txBox="1"/>
          <p:nvPr/>
        </p:nvSpPr>
        <p:spPr>
          <a:xfrm>
            <a:off x="1463040" y="2328459"/>
            <a:ext cx="7594054" cy="1449642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0" marR="0">
              <a:lnSpc>
                <a:spcPts val="2258"/>
              </a:lnSpc>
              <a:spcBef>
                <a:spcPts val="0"/>
              </a:spcBef>
              <a:spcAft>
                <a:spcPts val="0"/>
              </a:spcAft>
            </a:pPr>
            <a:r>
              <a:rPr sz="2000" dirty="0">
                <a:solidFill>
                  <a:srgbClr val="181A0D"/>
                </a:solidFill>
                <a:latin typeface="PPUTKU+FranklinGothic-Book"/>
                <a:cs typeface="PPUTKU+FranklinGothic-Book"/>
              </a:rPr>
              <a:t>■</a:t>
            </a:r>
            <a:r>
              <a:rPr sz="2000" spc="1181" dirty="0">
                <a:solidFill>
                  <a:srgbClr val="181A0D"/>
                </a:solidFill>
                <a:latin typeface="DejaVu Sans"/>
                <a:cs typeface="DejaVu Sans"/>
              </a:rPr>
              <a:t> </a:t>
            </a:r>
            <a:r>
              <a:rPr sz="2000" dirty="0">
                <a:solidFill>
                  <a:srgbClr val="181A0D"/>
                </a:solidFill>
                <a:latin typeface="VTCKGD+FranklinGothic-Book"/>
                <a:cs typeface="VTCKGD+FranklinGothic-Book"/>
              </a:rPr>
              <a:t>Brief explanation of the statistical analyses</a:t>
            </a:r>
          </a:p>
          <a:p>
            <a:pPr marL="530225" marR="0">
              <a:lnSpc>
                <a:spcPts val="2258"/>
              </a:lnSpc>
              <a:spcBef>
                <a:spcPts val="643"/>
              </a:spcBef>
              <a:spcAft>
                <a:spcPts val="0"/>
              </a:spcAft>
            </a:pPr>
            <a:r>
              <a:rPr sz="2000" dirty="0">
                <a:solidFill>
                  <a:srgbClr val="181A0D"/>
                </a:solidFill>
                <a:latin typeface="VTCKGD+FranklinGothic-Book"/>
                <a:cs typeface="VTCKGD+FranklinGothic-Book"/>
              </a:rPr>
              <a:t>–</a:t>
            </a:r>
            <a:r>
              <a:rPr sz="2000" spc="1352" dirty="0">
                <a:solidFill>
                  <a:srgbClr val="181A0D"/>
                </a:solidFill>
                <a:latin typeface="VTCKGD+FranklinGothic-Book"/>
                <a:cs typeface="VTCKGD+FranklinGothic-Book"/>
              </a:rPr>
              <a:t> </a:t>
            </a:r>
            <a:r>
              <a:rPr sz="2000" spc="-30" dirty="0">
                <a:solidFill>
                  <a:srgbClr val="181A0D"/>
                </a:solidFill>
                <a:latin typeface="OAGDQN+FranklinGothic-BookItalic"/>
                <a:cs typeface="OAGDQN+FranklinGothic-BookItalic"/>
              </a:rPr>
              <a:t>Type</a:t>
            </a:r>
            <a:r>
              <a:rPr sz="2000" spc="-107" dirty="0">
                <a:solidFill>
                  <a:srgbClr val="181A0D"/>
                </a:solidFill>
                <a:latin typeface="OAGDQN+FranklinGothic-BookItalic"/>
                <a:cs typeface="OAGDQN+FranklinGothic-BookItalic"/>
              </a:rPr>
              <a:t> </a:t>
            </a:r>
            <a:r>
              <a:rPr sz="2000" dirty="0">
                <a:solidFill>
                  <a:srgbClr val="181A0D"/>
                </a:solidFill>
                <a:latin typeface="OAGDQN+FranklinGothic-BookItalic"/>
                <a:cs typeface="OAGDQN+FranklinGothic-BookItalic"/>
              </a:rPr>
              <a:t>of</a:t>
            </a:r>
            <a:r>
              <a:rPr sz="2000" spc="-131" dirty="0">
                <a:solidFill>
                  <a:srgbClr val="181A0D"/>
                </a:solidFill>
                <a:latin typeface="OAGDQN+FranklinGothic-BookItalic"/>
                <a:cs typeface="OAGDQN+FranklinGothic-BookItalic"/>
              </a:rPr>
              <a:t> </a:t>
            </a:r>
            <a:r>
              <a:rPr sz="2000" dirty="0">
                <a:solidFill>
                  <a:srgbClr val="181A0D"/>
                </a:solidFill>
                <a:latin typeface="OAGDQN+FranklinGothic-BookItalic"/>
                <a:cs typeface="OAGDQN+FranklinGothic-BookItalic"/>
              </a:rPr>
              <a:t>model</a:t>
            </a:r>
            <a:r>
              <a:rPr sz="2000" spc="-131" dirty="0">
                <a:solidFill>
                  <a:srgbClr val="181A0D"/>
                </a:solidFill>
                <a:latin typeface="OAGDQN+FranklinGothic-BookItalic"/>
                <a:cs typeface="OAGDQN+FranklinGothic-BookItalic"/>
              </a:rPr>
              <a:t> </a:t>
            </a:r>
            <a:r>
              <a:rPr sz="2000" dirty="0">
                <a:solidFill>
                  <a:srgbClr val="181A0D"/>
                </a:solidFill>
                <a:latin typeface="OAGDQN+FranklinGothic-BookItalic"/>
                <a:cs typeface="OAGDQN+FranklinGothic-BookItalic"/>
              </a:rPr>
              <a:t>(ex.</a:t>
            </a:r>
            <a:r>
              <a:rPr sz="2000" spc="-126" dirty="0">
                <a:solidFill>
                  <a:srgbClr val="181A0D"/>
                </a:solidFill>
                <a:latin typeface="OAGDQN+FranklinGothic-BookItalic"/>
                <a:cs typeface="OAGDQN+FranklinGothic-BookItalic"/>
              </a:rPr>
              <a:t> </a:t>
            </a:r>
            <a:r>
              <a:rPr sz="2000" dirty="0">
                <a:solidFill>
                  <a:srgbClr val="181A0D"/>
                </a:solidFill>
                <a:latin typeface="OAGDQN+FranklinGothic-BookItalic"/>
                <a:cs typeface="OAGDQN+FranklinGothic-BookItalic"/>
              </a:rPr>
              <a:t>Linear</a:t>
            </a:r>
            <a:r>
              <a:rPr sz="2000" spc="-138" dirty="0">
                <a:solidFill>
                  <a:srgbClr val="181A0D"/>
                </a:solidFill>
                <a:latin typeface="OAGDQN+FranklinGothic-BookItalic"/>
                <a:cs typeface="OAGDQN+FranklinGothic-BookItalic"/>
              </a:rPr>
              <a:t> </a:t>
            </a:r>
            <a:r>
              <a:rPr sz="2000" dirty="0">
                <a:solidFill>
                  <a:srgbClr val="181A0D"/>
                </a:solidFill>
                <a:latin typeface="OAGDQN+FranklinGothic-BookItalic"/>
                <a:cs typeface="OAGDQN+FranklinGothic-BookItalic"/>
              </a:rPr>
              <a:t>regression,</a:t>
            </a:r>
            <a:r>
              <a:rPr sz="2000" spc="-135" dirty="0">
                <a:solidFill>
                  <a:srgbClr val="181A0D"/>
                </a:solidFill>
                <a:latin typeface="OAGDQN+FranklinGothic-BookItalic"/>
                <a:cs typeface="OAGDQN+FranklinGothic-BookItalic"/>
              </a:rPr>
              <a:t> </a:t>
            </a:r>
            <a:r>
              <a:rPr sz="2000" dirty="0">
                <a:solidFill>
                  <a:srgbClr val="181A0D"/>
                </a:solidFill>
                <a:latin typeface="OAGDQN+FranklinGothic-BookItalic"/>
                <a:cs typeface="OAGDQN+FranklinGothic-BookItalic"/>
              </a:rPr>
              <a:t>logistic</a:t>
            </a:r>
            <a:r>
              <a:rPr sz="2000" spc="-130" dirty="0">
                <a:solidFill>
                  <a:srgbClr val="181A0D"/>
                </a:solidFill>
                <a:latin typeface="OAGDQN+FranklinGothic-BookItalic"/>
                <a:cs typeface="OAGDQN+FranklinGothic-BookItalic"/>
              </a:rPr>
              <a:t> </a:t>
            </a:r>
            <a:r>
              <a:rPr sz="2000" dirty="0">
                <a:solidFill>
                  <a:srgbClr val="181A0D"/>
                </a:solidFill>
                <a:latin typeface="OAGDQN+FranklinGothic-BookItalic"/>
                <a:cs typeface="OAGDQN+FranklinGothic-BookItalic"/>
              </a:rPr>
              <a:t>regression,</a:t>
            </a:r>
            <a:r>
              <a:rPr sz="2000" spc="-135" dirty="0">
                <a:solidFill>
                  <a:srgbClr val="181A0D"/>
                </a:solidFill>
                <a:latin typeface="OAGDQN+FranklinGothic-BookItalic"/>
                <a:cs typeface="OAGDQN+FranklinGothic-BookItalic"/>
              </a:rPr>
              <a:t> </a:t>
            </a:r>
            <a:r>
              <a:rPr sz="2000" dirty="0">
                <a:solidFill>
                  <a:srgbClr val="181A0D"/>
                </a:solidFill>
                <a:latin typeface="OAGDQN+FranklinGothic-BookItalic"/>
                <a:cs typeface="OAGDQN+FranklinGothic-BookItalic"/>
              </a:rPr>
              <a:t>etc.)</a:t>
            </a:r>
          </a:p>
          <a:p>
            <a:pPr marL="530225" marR="0">
              <a:lnSpc>
                <a:spcPts val="2258"/>
              </a:lnSpc>
              <a:spcBef>
                <a:spcPts val="693"/>
              </a:spcBef>
              <a:spcAft>
                <a:spcPts val="0"/>
              </a:spcAft>
            </a:pPr>
            <a:r>
              <a:rPr sz="2000" dirty="0">
                <a:solidFill>
                  <a:srgbClr val="181A0D"/>
                </a:solidFill>
                <a:latin typeface="VTCKGD+FranklinGothic-Book"/>
                <a:cs typeface="VTCKGD+FranklinGothic-Book"/>
              </a:rPr>
              <a:t>–</a:t>
            </a:r>
            <a:r>
              <a:rPr sz="2000" spc="1352" dirty="0">
                <a:solidFill>
                  <a:srgbClr val="181A0D"/>
                </a:solidFill>
                <a:latin typeface="VTCKGD+FranklinGothic-Book"/>
                <a:cs typeface="VTCKGD+FranklinGothic-Book"/>
              </a:rPr>
              <a:t> </a:t>
            </a:r>
            <a:r>
              <a:rPr sz="2000" dirty="0">
                <a:solidFill>
                  <a:srgbClr val="181A0D"/>
                </a:solidFill>
                <a:latin typeface="OAGDQN+FranklinGothic-BookItalic"/>
                <a:cs typeface="OAGDQN+FranklinGothic-BookItalic"/>
              </a:rPr>
              <a:t>Variables</a:t>
            </a:r>
            <a:r>
              <a:rPr sz="2000" spc="-128" dirty="0">
                <a:solidFill>
                  <a:srgbClr val="181A0D"/>
                </a:solidFill>
                <a:latin typeface="OAGDQN+FranklinGothic-BookItalic"/>
                <a:cs typeface="OAGDQN+FranklinGothic-BookItalic"/>
              </a:rPr>
              <a:t> </a:t>
            </a:r>
            <a:r>
              <a:rPr sz="2000" dirty="0">
                <a:solidFill>
                  <a:srgbClr val="181A0D"/>
                </a:solidFill>
                <a:latin typeface="OAGDQN+FranklinGothic-BookItalic"/>
                <a:cs typeface="OAGDQN+FranklinGothic-BookItalic"/>
              </a:rPr>
              <a:t>included</a:t>
            </a:r>
            <a:r>
              <a:rPr sz="2000" spc="-138" dirty="0">
                <a:solidFill>
                  <a:srgbClr val="181A0D"/>
                </a:solidFill>
                <a:latin typeface="OAGDQN+FranklinGothic-BookItalic"/>
                <a:cs typeface="OAGDQN+FranklinGothic-BookItalic"/>
              </a:rPr>
              <a:t> </a:t>
            </a:r>
            <a:r>
              <a:rPr sz="2000" dirty="0">
                <a:solidFill>
                  <a:srgbClr val="181A0D"/>
                </a:solidFill>
                <a:latin typeface="OAGDQN+FranklinGothic-BookItalic"/>
                <a:cs typeface="OAGDQN+FranklinGothic-BookItalic"/>
              </a:rPr>
              <a:t>in</a:t>
            </a:r>
            <a:r>
              <a:rPr sz="2000" spc="-134" dirty="0">
                <a:solidFill>
                  <a:srgbClr val="181A0D"/>
                </a:solidFill>
                <a:latin typeface="OAGDQN+FranklinGothic-BookItalic"/>
                <a:cs typeface="OAGDQN+FranklinGothic-BookItalic"/>
              </a:rPr>
              <a:t> </a:t>
            </a:r>
            <a:r>
              <a:rPr sz="2000" dirty="0">
                <a:solidFill>
                  <a:srgbClr val="181A0D"/>
                </a:solidFill>
                <a:latin typeface="OAGDQN+FranklinGothic-BookItalic"/>
                <a:cs typeface="OAGDQN+FranklinGothic-BookItalic"/>
              </a:rPr>
              <a:t>the</a:t>
            </a:r>
            <a:r>
              <a:rPr sz="2000" spc="-135" dirty="0">
                <a:solidFill>
                  <a:srgbClr val="181A0D"/>
                </a:solidFill>
                <a:latin typeface="OAGDQN+FranklinGothic-BookItalic"/>
                <a:cs typeface="OAGDQN+FranklinGothic-BookItalic"/>
              </a:rPr>
              <a:t> </a:t>
            </a:r>
            <a:r>
              <a:rPr sz="2000" dirty="0">
                <a:solidFill>
                  <a:srgbClr val="181A0D"/>
                </a:solidFill>
                <a:latin typeface="OAGDQN+FranklinGothic-BookItalic"/>
                <a:cs typeface="OAGDQN+FranklinGothic-BookItalic"/>
              </a:rPr>
              <a:t>models</a:t>
            </a:r>
            <a:r>
              <a:rPr sz="2000" spc="-133" dirty="0">
                <a:solidFill>
                  <a:srgbClr val="181A0D"/>
                </a:solidFill>
                <a:latin typeface="OAGDQN+FranklinGothic-BookItalic"/>
                <a:cs typeface="OAGDQN+FranklinGothic-BookItalic"/>
              </a:rPr>
              <a:t> </a:t>
            </a:r>
            <a:r>
              <a:rPr sz="2000" dirty="0">
                <a:solidFill>
                  <a:srgbClr val="181A0D"/>
                </a:solidFill>
                <a:latin typeface="OAGDQN+FranklinGothic-BookItalic"/>
                <a:cs typeface="OAGDQN+FranklinGothic-BookItalic"/>
              </a:rPr>
              <a:t>and</a:t>
            </a:r>
            <a:r>
              <a:rPr sz="2000" spc="-140" dirty="0">
                <a:solidFill>
                  <a:srgbClr val="181A0D"/>
                </a:solidFill>
                <a:latin typeface="OAGDQN+FranklinGothic-BookItalic"/>
                <a:cs typeface="OAGDQN+FranklinGothic-BookItalic"/>
              </a:rPr>
              <a:t> </a:t>
            </a:r>
            <a:r>
              <a:rPr sz="2000" dirty="0">
                <a:solidFill>
                  <a:srgbClr val="181A0D"/>
                </a:solidFill>
                <a:latin typeface="OAGDQN+FranklinGothic-BookItalic"/>
                <a:cs typeface="OAGDQN+FranklinGothic-BookItalic"/>
              </a:rPr>
              <a:t>their</a:t>
            </a:r>
            <a:r>
              <a:rPr sz="2000" spc="-136" dirty="0">
                <a:solidFill>
                  <a:srgbClr val="181A0D"/>
                </a:solidFill>
                <a:latin typeface="OAGDQN+FranklinGothic-BookItalic"/>
                <a:cs typeface="OAGDQN+FranklinGothic-BookItalic"/>
              </a:rPr>
              <a:t> </a:t>
            </a:r>
            <a:r>
              <a:rPr sz="2000" dirty="0">
                <a:solidFill>
                  <a:srgbClr val="181A0D"/>
                </a:solidFill>
                <a:latin typeface="OAGDQN+FranklinGothic-BookItalic"/>
                <a:cs typeface="OAGDQN+FranklinGothic-BookItalic"/>
              </a:rPr>
              <a:t>roles</a:t>
            </a:r>
          </a:p>
          <a:p>
            <a:pPr marL="530225" marR="0">
              <a:lnSpc>
                <a:spcPts val="2258"/>
              </a:lnSpc>
              <a:spcBef>
                <a:spcPts val="643"/>
              </a:spcBef>
              <a:spcAft>
                <a:spcPts val="0"/>
              </a:spcAft>
            </a:pPr>
            <a:r>
              <a:rPr sz="2000" dirty="0">
                <a:solidFill>
                  <a:srgbClr val="181A0D"/>
                </a:solidFill>
                <a:latin typeface="VTCKGD+FranklinGothic-Book"/>
                <a:cs typeface="VTCKGD+FranklinGothic-Book"/>
              </a:rPr>
              <a:t>–</a:t>
            </a:r>
            <a:r>
              <a:rPr sz="2000" spc="1352" dirty="0">
                <a:solidFill>
                  <a:srgbClr val="181A0D"/>
                </a:solidFill>
                <a:latin typeface="VTCKGD+FranklinGothic-Book"/>
                <a:cs typeface="VTCKGD+FranklinGothic-Book"/>
              </a:rPr>
              <a:t> </a:t>
            </a:r>
            <a:r>
              <a:rPr sz="2000" dirty="0">
                <a:solidFill>
                  <a:srgbClr val="181A0D"/>
                </a:solidFill>
                <a:latin typeface="OAGDQN+FranklinGothic-BookItalic"/>
                <a:cs typeface="OAGDQN+FranklinGothic-BookItalic"/>
              </a:rPr>
              <a:t>Statistical</a:t>
            </a:r>
            <a:r>
              <a:rPr sz="2000" spc="-128" dirty="0">
                <a:solidFill>
                  <a:srgbClr val="181A0D"/>
                </a:solidFill>
                <a:latin typeface="OAGDQN+FranklinGothic-BookItalic"/>
                <a:cs typeface="OAGDQN+FranklinGothic-BookItalic"/>
              </a:rPr>
              <a:t> </a:t>
            </a:r>
            <a:r>
              <a:rPr sz="2000" dirty="0">
                <a:solidFill>
                  <a:srgbClr val="181A0D"/>
                </a:solidFill>
                <a:latin typeface="OAGDQN+FranklinGothic-BookItalic"/>
                <a:cs typeface="OAGDQN+FranklinGothic-BookItalic"/>
              </a:rPr>
              <a:t>hypotheses</a:t>
            </a:r>
            <a:r>
              <a:rPr sz="2000" spc="-126" dirty="0">
                <a:solidFill>
                  <a:srgbClr val="181A0D"/>
                </a:solidFill>
                <a:latin typeface="OAGDQN+FranklinGothic-BookItalic"/>
                <a:cs typeface="OAGDQN+FranklinGothic-BookItalic"/>
              </a:rPr>
              <a:t> </a:t>
            </a:r>
            <a:r>
              <a:rPr sz="2000" spc="-25" dirty="0">
                <a:solidFill>
                  <a:srgbClr val="181A0D"/>
                </a:solidFill>
                <a:latin typeface="OAGDQN+FranklinGothic-BookItalic"/>
                <a:cs typeface="OAGDQN+FranklinGothic-BookItalic"/>
              </a:rPr>
              <a:t>tested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>
            <a:spAutoFit/>
          </a:bodyPr>
          <a:lstStyle/>
          <a:p>
            <a:endParaRPr/>
          </a:p>
        </p:txBody>
      </p:sp>
      <p:sp>
        <p:nvSpPr>
          <p:cNvPr id="3" name="object 3"/>
          <p:cNvSpPr txBox="1"/>
          <p:nvPr/>
        </p:nvSpPr>
        <p:spPr>
          <a:xfrm>
            <a:off x="1463040" y="689700"/>
            <a:ext cx="1903917" cy="67050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0" marR="0">
              <a:lnSpc>
                <a:spcPts val="4979"/>
              </a:lnSpc>
              <a:spcBef>
                <a:spcPts val="0"/>
              </a:spcBef>
              <a:spcAft>
                <a:spcPts val="0"/>
              </a:spcAft>
            </a:pPr>
            <a:r>
              <a:rPr sz="4400" spc="-12" dirty="0">
                <a:solidFill>
                  <a:srgbClr val="181A0D"/>
                </a:solidFill>
                <a:latin typeface="MPIRPG+FranklinGothic-Book"/>
                <a:cs typeface="MPIRPG+FranklinGothic-Book"/>
              </a:rPr>
              <a:t>Results</a:t>
            </a:r>
          </a:p>
        </p:txBody>
      </p:sp>
      <p:sp>
        <p:nvSpPr>
          <p:cNvPr id="4" name="object 4"/>
          <p:cNvSpPr txBox="1"/>
          <p:nvPr/>
        </p:nvSpPr>
        <p:spPr>
          <a:xfrm>
            <a:off x="1463040" y="2297979"/>
            <a:ext cx="8231988" cy="32493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0" marR="0">
              <a:lnSpc>
                <a:spcPts val="2258"/>
              </a:lnSpc>
              <a:spcBef>
                <a:spcPts val="0"/>
              </a:spcBef>
              <a:spcAft>
                <a:spcPts val="0"/>
              </a:spcAft>
            </a:pPr>
            <a:r>
              <a:rPr sz="2000" dirty="0">
                <a:solidFill>
                  <a:srgbClr val="181A0D"/>
                </a:solidFill>
                <a:latin typeface="PPUTKU+FranklinGothic-Book"/>
                <a:cs typeface="PPUTKU+FranklinGothic-Book"/>
              </a:rPr>
              <a:t>■</a:t>
            </a:r>
            <a:r>
              <a:rPr sz="2000" spc="1181" dirty="0">
                <a:solidFill>
                  <a:srgbClr val="181A0D"/>
                </a:solidFill>
                <a:latin typeface="DejaVu Sans"/>
                <a:cs typeface="DejaVu Sans"/>
              </a:rPr>
              <a:t> </a:t>
            </a:r>
            <a:r>
              <a:rPr sz="2000" dirty="0">
                <a:solidFill>
                  <a:srgbClr val="181A0D"/>
                </a:solidFill>
                <a:latin typeface="MPIRPG+FranklinGothic-Book"/>
                <a:cs typeface="MPIRPG+FranklinGothic-Book"/>
              </a:rPr>
              <a:t>Summarize the results as </a:t>
            </a:r>
            <a:r>
              <a:rPr sz="2000" spc="-14" dirty="0">
                <a:solidFill>
                  <a:srgbClr val="181A0D"/>
                </a:solidFill>
                <a:latin typeface="MPIRPG+FranklinGothic-Book"/>
                <a:cs typeface="MPIRPG+FranklinGothic-Book"/>
              </a:rPr>
              <a:t>they</a:t>
            </a:r>
            <a:r>
              <a:rPr sz="2000" dirty="0">
                <a:solidFill>
                  <a:srgbClr val="181A0D"/>
                </a:solidFill>
                <a:latin typeface="MPIRPG+FranklinGothic-Book"/>
                <a:cs typeface="MPIRPG+FranklinGothic-Book"/>
              </a:rPr>
              <a:t> relate </a:t>
            </a:r>
            <a:r>
              <a:rPr sz="2000" spc="-34" dirty="0">
                <a:solidFill>
                  <a:srgbClr val="181A0D"/>
                </a:solidFill>
                <a:latin typeface="MPIRPG+FranklinGothic-Book"/>
                <a:cs typeface="MPIRPG+FranklinGothic-Book"/>
              </a:rPr>
              <a:t>to</a:t>
            </a:r>
            <a:r>
              <a:rPr sz="2000" spc="32" dirty="0">
                <a:solidFill>
                  <a:srgbClr val="181A0D"/>
                </a:solidFill>
                <a:latin typeface="MPIRPG+FranklinGothic-Book"/>
                <a:cs typeface="MPIRPG+FranklinGothic-Book"/>
              </a:rPr>
              <a:t> </a:t>
            </a:r>
            <a:r>
              <a:rPr sz="2000" dirty="0">
                <a:solidFill>
                  <a:srgbClr val="181A0D"/>
                </a:solidFill>
                <a:latin typeface="MPIRPG+FranklinGothic-Book"/>
                <a:cs typeface="MPIRPG+FranklinGothic-Book"/>
              </a:rPr>
              <a:t>the statistical </a:t>
            </a:r>
            <a:r>
              <a:rPr sz="2000" spc="-10" dirty="0">
                <a:solidFill>
                  <a:srgbClr val="181A0D"/>
                </a:solidFill>
                <a:latin typeface="MPIRPG+FranklinGothic-Book"/>
                <a:cs typeface="MPIRPG+FranklinGothic-Book"/>
              </a:rPr>
              <a:t>hypotheses</a:t>
            </a:r>
            <a:r>
              <a:rPr sz="2000" dirty="0">
                <a:solidFill>
                  <a:srgbClr val="181A0D"/>
                </a:solidFill>
                <a:latin typeface="MPIRPG+FranklinGothic-Book"/>
                <a:cs typeface="MPIRPG+FranklinGothic-Book"/>
              </a:rPr>
              <a:t> </a:t>
            </a:r>
            <a:r>
              <a:rPr sz="2000" spc="-17" dirty="0">
                <a:solidFill>
                  <a:srgbClr val="181A0D"/>
                </a:solidFill>
                <a:latin typeface="MPIRPG+FranklinGothic-Book"/>
                <a:cs typeface="MPIRPG+FranklinGothic-Book"/>
              </a:rPr>
              <a:t>tested</a:t>
            </a:r>
          </a:p>
        </p:txBody>
      </p:sp>
      <p:sp>
        <p:nvSpPr>
          <p:cNvPr id="5" name="object 5"/>
          <p:cNvSpPr txBox="1"/>
          <p:nvPr/>
        </p:nvSpPr>
        <p:spPr>
          <a:xfrm>
            <a:off x="1993265" y="2642403"/>
            <a:ext cx="8462601" cy="32493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0" marR="0">
              <a:lnSpc>
                <a:spcPts val="2258"/>
              </a:lnSpc>
              <a:spcBef>
                <a:spcPts val="0"/>
              </a:spcBef>
              <a:spcAft>
                <a:spcPts val="0"/>
              </a:spcAft>
            </a:pPr>
            <a:r>
              <a:rPr sz="2000" dirty="0">
                <a:solidFill>
                  <a:srgbClr val="181A0D"/>
                </a:solidFill>
                <a:latin typeface="MPIRPG+FranklinGothic-Book"/>
                <a:cs typeface="MPIRPG+FranklinGothic-Book"/>
              </a:rPr>
              <a:t>–</a:t>
            </a:r>
            <a:r>
              <a:rPr sz="2000" spc="1352" dirty="0">
                <a:solidFill>
                  <a:srgbClr val="181A0D"/>
                </a:solidFill>
                <a:latin typeface="MPIRPG+FranklinGothic-Book"/>
                <a:cs typeface="MPIRPG+FranklinGothic-Book"/>
              </a:rPr>
              <a:t> </a:t>
            </a:r>
            <a:r>
              <a:rPr sz="2000" spc="-39" dirty="0">
                <a:solidFill>
                  <a:srgbClr val="181A0D"/>
                </a:solidFill>
                <a:latin typeface="IELAPA+FranklinGothic-BookItalic"/>
                <a:cs typeface="IELAPA+FranklinGothic-BookItalic"/>
              </a:rPr>
              <a:t>You</a:t>
            </a:r>
            <a:r>
              <a:rPr sz="2000" spc="-93" dirty="0">
                <a:solidFill>
                  <a:srgbClr val="181A0D"/>
                </a:solidFill>
                <a:latin typeface="IELAPA+FranklinGothic-BookItalic"/>
                <a:cs typeface="IELAPA+FranklinGothic-BookItalic"/>
              </a:rPr>
              <a:t> </a:t>
            </a:r>
            <a:r>
              <a:rPr sz="2000" dirty="0">
                <a:solidFill>
                  <a:srgbClr val="181A0D"/>
                </a:solidFill>
                <a:latin typeface="IELAPA+FranklinGothic-BookItalic"/>
                <a:cs typeface="IELAPA+FranklinGothic-BookItalic"/>
              </a:rPr>
              <a:t>do</a:t>
            </a:r>
            <a:r>
              <a:rPr sz="2000" spc="-138" dirty="0">
                <a:solidFill>
                  <a:srgbClr val="181A0D"/>
                </a:solidFill>
                <a:latin typeface="IELAPA+FranklinGothic-BookItalic"/>
                <a:cs typeface="IELAPA+FranklinGothic-BookItalic"/>
              </a:rPr>
              <a:t> </a:t>
            </a:r>
            <a:r>
              <a:rPr sz="2000" dirty="0">
                <a:solidFill>
                  <a:srgbClr val="181A0D"/>
                </a:solidFill>
                <a:latin typeface="IELAPA+FranklinGothic-BookItalic"/>
                <a:cs typeface="IELAPA+FranklinGothic-BookItalic"/>
              </a:rPr>
              <a:t>not</a:t>
            </a:r>
            <a:r>
              <a:rPr sz="2000" spc="-130" dirty="0">
                <a:solidFill>
                  <a:srgbClr val="181A0D"/>
                </a:solidFill>
                <a:latin typeface="IELAPA+FranklinGothic-BookItalic"/>
                <a:cs typeface="IELAPA+FranklinGothic-BookItalic"/>
              </a:rPr>
              <a:t> </a:t>
            </a:r>
            <a:r>
              <a:rPr sz="2000" dirty="0">
                <a:solidFill>
                  <a:srgbClr val="181A0D"/>
                </a:solidFill>
                <a:latin typeface="IELAPA+FranklinGothic-BookItalic"/>
                <a:cs typeface="IELAPA+FranklinGothic-BookItalic"/>
              </a:rPr>
              <a:t>need</a:t>
            </a:r>
            <a:r>
              <a:rPr sz="2000" spc="-134" dirty="0">
                <a:solidFill>
                  <a:srgbClr val="181A0D"/>
                </a:solidFill>
                <a:latin typeface="IELAPA+FranklinGothic-BookItalic"/>
                <a:cs typeface="IELAPA+FranklinGothic-BookItalic"/>
              </a:rPr>
              <a:t> </a:t>
            </a:r>
            <a:r>
              <a:rPr sz="2000" spc="-51" dirty="0">
                <a:solidFill>
                  <a:srgbClr val="181A0D"/>
                </a:solidFill>
                <a:latin typeface="IELAPA+FranklinGothic-BookItalic"/>
                <a:cs typeface="IELAPA+FranklinGothic-BookItalic"/>
              </a:rPr>
              <a:t>to</a:t>
            </a:r>
            <a:r>
              <a:rPr sz="2000" spc="-86" dirty="0">
                <a:solidFill>
                  <a:srgbClr val="181A0D"/>
                </a:solidFill>
                <a:latin typeface="IELAPA+FranklinGothic-BookItalic"/>
                <a:cs typeface="IELAPA+FranklinGothic-BookItalic"/>
              </a:rPr>
              <a:t> </a:t>
            </a:r>
            <a:r>
              <a:rPr sz="2000" dirty="0">
                <a:solidFill>
                  <a:srgbClr val="181A0D"/>
                </a:solidFill>
                <a:latin typeface="IELAPA+FranklinGothic-BookItalic"/>
                <a:cs typeface="IELAPA+FranklinGothic-BookItalic"/>
              </a:rPr>
              <a:t>interpret</a:t>
            </a:r>
            <a:r>
              <a:rPr sz="2000" spc="-127" dirty="0">
                <a:solidFill>
                  <a:srgbClr val="181A0D"/>
                </a:solidFill>
                <a:latin typeface="IELAPA+FranklinGothic-BookItalic"/>
                <a:cs typeface="IELAPA+FranklinGothic-BookItalic"/>
              </a:rPr>
              <a:t> </a:t>
            </a:r>
            <a:r>
              <a:rPr sz="2000" dirty="0">
                <a:solidFill>
                  <a:srgbClr val="181A0D"/>
                </a:solidFill>
                <a:latin typeface="IELAPA+FranklinGothic-BookItalic"/>
                <a:cs typeface="IELAPA+FranklinGothic-BookItalic"/>
              </a:rPr>
              <a:t>or</a:t>
            </a:r>
            <a:r>
              <a:rPr sz="2000" spc="-134" dirty="0">
                <a:solidFill>
                  <a:srgbClr val="181A0D"/>
                </a:solidFill>
                <a:latin typeface="IELAPA+FranklinGothic-BookItalic"/>
                <a:cs typeface="IELAPA+FranklinGothic-BookItalic"/>
              </a:rPr>
              <a:t> </a:t>
            </a:r>
            <a:r>
              <a:rPr sz="2000" dirty="0">
                <a:solidFill>
                  <a:srgbClr val="181A0D"/>
                </a:solidFill>
                <a:latin typeface="IELAPA+FranklinGothic-BookItalic"/>
                <a:cs typeface="IELAPA+FranklinGothic-BookItalic"/>
              </a:rPr>
              <a:t>discuss</a:t>
            </a:r>
            <a:r>
              <a:rPr sz="2000" spc="-135" dirty="0">
                <a:solidFill>
                  <a:srgbClr val="181A0D"/>
                </a:solidFill>
                <a:latin typeface="IELAPA+FranklinGothic-BookItalic"/>
                <a:cs typeface="IELAPA+FranklinGothic-BookItalic"/>
              </a:rPr>
              <a:t> </a:t>
            </a:r>
            <a:r>
              <a:rPr sz="2000" dirty="0">
                <a:solidFill>
                  <a:srgbClr val="181A0D"/>
                </a:solidFill>
                <a:latin typeface="IELAPA+FranklinGothic-BookItalic"/>
                <a:cs typeface="IELAPA+FranklinGothic-BookItalic"/>
              </a:rPr>
              <a:t>every</a:t>
            </a:r>
            <a:r>
              <a:rPr sz="2000" spc="-131" dirty="0">
                <a:solidFill>
                  <a:srgbClr val="181A0D"/>
                </a:solidFill>
                <a:latin typeface="IELAPA+FranklinGothic-BookItalic"/>
                <a:cs typeface="IELAPA+FranklinGothic-BookItalic"/>
              </a:rPr>
              <a:t> </a:t>
            </a:r>
            <a:r>
              <a:rPr sz="2000" dirty="0">
                <a:solidFill>
                  <a:srgbClr val="181A0D"/>
                </a:solidFill>
                <a:latin typeface="IELAPA+FranklinGothic-BookItalic"/>
                <a:cs typeface="IELAPA+FranklinGothic-BookItalic"/>
              </a:rPr>
              <a:t>parameter</a:t>
            </a:r>
            <a:r>
              <a:rPr sz="2000" spc="-131" dirty="0">
                <a:solidFill>
                  <a:srgbClr val="181A0D"/>
                </a:solidFill>
                <a:latin typeface="IELAPA+FranklinGothic-BookItalic"/>
                <a:cs typeface="IELAPA+FranklinGothic-BookItalic"/>
              </a:rPr>
              <a:t> </a:t>
            </a:r>
            <a:r>
              <a:rPr sz="2000" dirty="0">
                <a:solidFill>
                  <a:srgbClr val="181A0D"/>
                </a:solidFill>
                <a:latin typeface="IELAPA+FranklinGothic-BookItalic"/>
                <a:cs typeface="IELAPA+FranklinGothic-BookItalic"/>
              </a:rPr>
              <a:t>in</a:t>
            </a:r>
            <a:r>
              <a:rPr sz="2000" spc="-134" dirty="0">
                <a:solidFill>
                  <a:srgbClr val="181A0D"/>
                </a:solidFill>
                <a:latin typeface="IELAPA+FranklinGothic-BookItalic"/>
                <a:cs typeface="IELAPA+FranklinGothic-BookItalic"/>
              </a:rPr>
              <a:t> </a:t>
            </a:r>
            <a:r>
              <a:rPr sz="2000" dirty="0">
                <a:solidFill>
                  <a:srgbClr val="181A0D"/>
                </a:solidFill>
                <a:latin typeface="IELAPA+FranklinGothic-BookItalic"/>
                <a:cs typeface="IELAPA+FranklinGothic-BookItalic"/>
              </a:rPr>
              <a:t>your</a:t>
            </a:r>
            <a:r>
              <a:rPr sz="2000" spc="-128" dirty="0">
                <a:solidFill>
                  <a:srgbClr val="181A0D"/>
                </a:solidFill>
                <a:latin typeface="IELAPA+FranklinGothic-BookItalic"/>
                <a:cs typeface="IELAPA+FranklinGothic-BookItalic"/>
              </a:rPr>
              <a:t> </a:t>
            </a:r>
            <a:r>
              <a:rPr sz="2000" dirty="0">
                <a:solidFill>
                  <a:srgbClr val="181A0D"/>
                </a:solidFill>
                <a:latin typeface="IELAPA+FranklinGothic-BookItalic"/>
                <a:cs typeface="IELAPA+FranklinGothic-BookItalic"/>
              </a:rPr>
              <a:t>regression</a:t>
            </a:r>
          </a:p>
        </p:txBody>
      </p:sp>
      <p:sp>
        <p:nvSpPr>
          <p:cNvPr id="6" name="object 6"/>
          <p:cNvSpPr txBox="1"/>
          <p:nvPr/>
        </p:nvSpPr>
        <p:spPr>
          <a:xfrm>
            <a:off x="2377440" y="2898435"/>
            <a:ext cx="818631" cy="32493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0" marR="0">
              <a:lnSpc>
                <a:spcPts val="2258"/>
              </a:lnSpc>
              <a:spcBef>
                <a:spcPts val="0"/>
              </a:spcBef>
              <a:spcAft>
                <a:spcPts val="0"/>
              </a:spcAft>
            </a:pPr>
            <a:r>
              <a:rPr sz="2000" dirty="0">
                <a:solidFill>
                  <a:srgbClr val="181A0D"/>
                </a:solidFill>
                <a:latin typeface="IELAPA+FranklinGothic-BookItalic"/>
                <a:cs typeface="IELAPA+FranklinGothic-BookItalic"/>
              </a:rPr>
              <a:t>model</a:t>
            </a:r>
          </a:p>
        </p:txBody>
      </p:sp>
      <p:sp>
        <p:nvSpPr>
          <p:cNvPr id="7" name="object 7"/>
          <p:cNvSpPr txBox="1"/>
          <p:nvPr/>
        </p:nvSpPr>
        <p:spPr>
          <a:xfrm>
            <a:off x="1993265" y="3242859"/>
            <a:ext cx="8435404" cy="32493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0" marR="0">
              <a:lnSpc>
                <a:spcPts val="2258"/>
              </a:lnSpc>
              <a:spcBef>
                <a:spcPts val="0"/>
              </a:spcBef>
              <a:spcAft>
                <a:spcPts val="0"/>
              </a:spcAft>
            </a:pPr>
            <a:r>
              <a:rPr sz="2000" dirty="0">
                <a:solidFill>
                  <a:srgbClr val="181A0D"/>
                </a:solidFill>
                <a:latin typeface="MPIRPG+FranklinGothic-Book"/>
                <a:cs typeface="MPIRPG+FranklinGothic-Book"/>
              </a:rPr>
              <a:t>–</a:t>
            </a:r>
            <a:r>
              <a:rPr sz="2000" spc="1352" dirty="0">
                <a:solidFill>
                  <a:srgbClr val="181A0D"/>
                </a:solidFill>
                <a:latin typeface="MPIRPG+FranklinGothic-Book"/>
                <a:cs typeface="MPIRPG+FranklinGothic-Book"/>
              </a:rPr>
              <a:t> </a:t>
            </a:r>
            <a:r>
              <a:rPr sz="2000" dirty="0">
                <a:solidFill>
                  <a:srgbClr val="181A0D"/>
                </a:solidFill>
                <a:latin typeface="IELAPA+FranklinGothic-BookItalic"/>
                <a:cs typeface="IELAPA+FranklinGothic-BookItalic"/>
              </a:rPr>
              <a:t>Interpret</a:t>
            </a:r>
            <a:r>
              <a:rPr sz="2000" spc="-128" dirty="0">
                <a:solidFill>
                  <a:srgbClr val="181A0D"/>
                </a:solidFill>
                <a:latin typeface="IELAPA+FranklinGothic-BookItalic"/>
                <a:cs typeface="IELAPA+FranklinGothic-BookItalic"/>
              </a:rPr>
              <a:t> </a:t>
            </a:r>
            <a:r>
              <a:rPr sz="2000" dirty="0">
                <a:solidFill>
                  <a:srgbClr val="181A0D"/>
                </a:solidFill>
                <a:latin typeface="IELAPA+FranklinGothic-BookItalic"/>
                <a:cs typeface="IELAPA+FranklinGothic-BookItalic"/>
              </a:rPr>
              <a:t>the</a:t>
            </a:r>
            <a:r>
              <a:rPr sz="2000" spc="-136" dirty="0">
                <a:solidFill>
                  <a:srgbClr val="181A0D"/>
                </a:solidFill>
                <a:latin typeface="IELAPA+FranklinGothic-BookItalic"/>
                <a:cs typeface="IELAPA+FranklinGothic-BookItalic"/>
              </a:rPr>
              <a:t> </a:t>
            </a:r>
            <a:r>
              <a:rPr sz="2000" dirty="0">
                <a:solidFill>
                  <a:srgbClr val="181A0D"/>
                </a:solidFill>
                <a:latin typeface="IELAPA+FranklinGothic-BookItalic"/>
                <a:cs typeface="IELAPA+FranklinGothic-BookItalic"/>
              </a:rPr>
              <a:t>regression</a:t>
            </a:r>
            <a:r>
              <a:rPr sz="2000" spc="-131" dirty="0">
                <a:solidFill>
                  <a:srgbClr val="181A0D"/>
                </a:solidFill>
                <a:latin typeface="IELAPA+FranklinGothic-BookItalic"/>
                <a:cs typeface="IELAPA+FranklinGothic-BookItalic"/>
              </a:rPr>
              <a:t> </a:t>
            </a:r>
            <a:r>
              <a:rPr sz="2000" dirty="0">
                <a:solidFill>
                  <a:srgbClr val="181A0D"/>
                </a:solidFill>
                <a:latin typeface="IELAPA+FranklinGothic-BookItalic"/>
                <a:cs typeface="IELAPA+FranklinGothic-BookItalic"/>
              </a:rPr>
              <a:t>parameters</a:t>
            </a:r>
            <a:r>
              <a:rPr sz="2000" spc="-130" dirty="0">
                <a:solidFill>
                  <a:srgbClr val="181A0D"/>
                </a:solidFill>
                <a:latin typeface="IELAPA+FranklinGothic-BookItalic"/>
                <a:cs typeface="IELAPA+FranklinGothic-BookItalic"/>
              </a:rPr>
              <a:t> </a:t>
            </a:r>
            <a:r>
              <a:rPr sz="2000" dirty="0">
                <a:solidFill>
                  <a:srgbClr val="181A0D"/>
                </a:solidFill>
                <a:latin typeface="IELAPA+FranklinGothic-BookItalic"/>
                <a:cs typeface="IELAPA+FranklinGothic-BookItalic"/>
              </a:rPr>
              <a:t>and</a:t>
            </a:r>
            <a:r>
              <a:rPr sz="2000" spc="-139" dirty="0">
                <a:solidFill>
                  <a:srgbClr val="181A0D"/>
                </a:solidFill>
                <a:latin typeface="IELAPA+FranklinGothic-BookItalic"/>
                <a:cs typeface="IELAPA+FranklinGothic-BookItalic"/>
              </a:rPr>
              <a:t> </a:t>
            </a:r>
            <a:r>
              <a:rPr sz="2000" dirty="0">
                <a:solidFill>
                  <a:srgbClr val="181A0D"/>
                </a:solidFill>
                <a:latin typeface="IELAPA+FranklinGothic-BookItalic"/>
                <a:cs typeface="IELAPA+FranklinGothic-BookItalic"/>
              </a:rPr>
              <a:t>combinations</a:t>
            </a:r>
            <a:r>
              <a:rPr sz="2000" spc="-135" dirty="0">
                <a:solidFill>
                  <a:srgbClr val="181A0D"/>
                </a:solidFill>
                <a:latin typeface="IELAPA+FranklinGothic-BookItalic"/>
                <a:cs typeface="IELAPA+FranklinGothic-BookItalic"/>
              </a:rPr>
              <a:t> </a:t>
            </a:r>
            <a:r>
              <a:rPr sz="2000" dirty="0">
                <a:solidFill>
                  <a:srgbClr val="181A0D"/>
                </a:solidFill>
                <a:latin typeface="IELAPA+FranklinGothic-BookItalic"/>
                <a:cs typeface="IELAPA+FranklinGothic-BookItalic"/>
              </a:rPr>
              <a:t>of</a:t>
            </a:r>
            <a:r>
              <a:rPr sz="2000" spc="-132" dirty="0">
                <a:solidFill>
                  <a:srgbClr val="181A0D"/>
                </a:solidFill>
                <a:latin typeface="IELAPA+FranklinGothic-BookItalic"/>
                <a:cs typeface="IELAPA+FranklinGothic-BookItalic"/>
              </a:rPr>
              <a:t> </a:t>
            </a:r>
            <a:r>
              <a:rPr sz="2000" dirty="0">
                <a:solidFill>
                  <a:srgbClr val="181A0D"/>
                </a:solidFill>
                <a:latin typeface="IELAPA+FranklinGothic-BookItalic"/>
                <a:cs typeface="IELAPA+FranklinGothic-BookItalic"/>
              </a:rPr>
              <a:t>parameters</a:t>
            </a:r>
            <a:r>
              <a:rPr sz="2000" spc="-130" dirty="0">
                <a:solidFill>
                  <a:srgbClr val="181A0D"/>
                </a:solidFill>
                <a:latin typeface="IELAPA+FranklinGothic-BookItalic"/>
                <a:cs typeface="IELAPA+FranklinGothic-BookItalic"/>
              </a:rPr>
              <a:t> </a:t>
            </a:r>
            <a:r>
              <a:rPr sz="2000" dirty="0">
                <a:solidFill>
                  <a:srgbClr val="181A0D"/>
                </a:solidFill>
                <a:latin typeface="IELAPA+FranklinGothic-BookItalic"/>
                <a:cs typeface="IELAPA+FranklinGothic-BookItalic"/>
              </a:rPr>
              <a:t>that</a:t>
            </a:r>
          </a:p>
        </p:txBody>
      </p:sp>
      <p:sp>
        <p:nvSpPr>
          <p:cNvPr id="8" name="object 8"/>
          <p:cNvSpPr txBox="1"/>
          <p:nvPr/>
        </p:nvSpPr>
        <p:spPr>
          <a:xfrm>
            <a:off x="2377440" y="3498891"/>
            <a:ext cx="3419296" cy="32493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0" marR="0">
              <a:lnSpc>
                <a:spcPts val="2258"/>
              </a:lnSpc>
              <a:spcBef>
                <a:spcPts val="0"/>
              </a:spcBef>
              <a:spcAft>
                <a:spcPts val="0"/>
              </a:spcAft>
            </a:pPr>
            <a:r>
              <a:rPr sz="2000" dirty="0">
                <a:solidFill>
                  <a:srgbClr val="181A0D"/>
                </a:solidFill>
                <a:latin typeface="IELAPA+FranklinGothic-BookItalic"/>
                <a:cs typeface="IELAPA+FranklinGothic-BookItalic"/>
              </a:rPr>
              <a:t>address</a:t>
            </a:r>
            <a:r>
              <a:rPr sz="2000" spc="-133" dirty="0">
                <a:solidFill>
                  <a:srgbClr val="181A0D"/>
                </a:solidFill>
                <a:latin typeface="IELAPA+FranklinGothic-BookItalic"/>
                <a:cs typeface="IELAPA+FranklinGothic-BookItalic"/>
              </a:rPr>
              <a:t> </a:t>
            </a:r>
            <a:r>
              <a:rPr sz="2000" dirty="0">
                <a:solidFill>
                  <a:srgbClr val="181A0D"/>
                </a:solidFill>
                <a:latin typeface="IELAPA+FranklinGothic-BookItalic"/>
                <a:cs typeface="IELAPA+FranklinGothic-BookItalic"/>
              </a:rPr>
              <a:t>the</a:t>
            </a:r>
            <a:r>
              <a:rPr sz="2000" spc="-137" dirty="0">
                <a:solidFill>
                  <a:srgbClr val="181A0D"/>
                </a:solidFill>
                <a:latin typeface="IELAPA+FranklinGothic-BookItalic"/>
                <a:cs typeface="IELAPA+FranklinGothic-BookItalic"/>
              </a:rPr>
              <a:t> </a:t>
            </a:r>
            <a:r>
              <a:rPr sz="2000" dirty="0">
                <a:solidFill>
                  <a:srgbClr val="181A0D"/>
                </a:solidFill>
                <a:latin typeface="IELAPA+FranklinGothic-BookItalic"/>
                <a:cs typeface="IELAPA+FranklinGothic-BookItalic"/>
              </a:rPr>
              <a:t>research</a:t>
            </a:r>
            <a:r>
              <a:rPr sz="2000" spc="-134" dirty="0">
                <a:solidFill>
                  <a:srgbClr val="181A0D"/>
                </a:solidFill>
                <a:latin typeface="IELAPA+FranklinGothic-BookItalic"/>
                <a:cs typeface="IELAPA+FranklinGothic-BookItalic"/>
              </a:rPr>
              <a:t> </a:t>
            </a:r>
            <a:r>
              <a:rPr sz="2000" dirty="0">
                <a:solidFill>
                  <a:srgbClr val="181A0D"/>
                </a:solidFill>
                <a:latin typeface="IELAPA+FranklinGothic-BookItalic"/>
                <a:cs typeface="IELAPA+FranklinGothic-BookItalic"/>
              </a:rPr>
              <a:t>question</a:t>
            </a:r>
          </a:p>
        </p:txBody>
      </p:sp>
      <p:sp>
        <p:nvSpPr>
          <p:cNvPr id="9" name="object 9"/>
          <p:cNvSpPr txBox="1"/>
          <p:nvPr/>
        </p:nvSpPr>
        <p:spPr>
          <a:xfrm>
            <a:off x="1993265" y="3843315"/>
            <a:ext cx="8610044" cy="32493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0" marR="0">
              <a:lnSpc>
                <a:spcPts val="2258"/>
              </a:lnSpc>
              <a:spcBef>
                <a:spcPts val="0"/>
              </a:spcBef>
              <a:spcAft>
                <a:spcPts val="0"/>
              </a:spcAft>
            </a:pPr>
            <a:r>
              <a:rPr sz="2000" dirty="0">
                <a:solidFill>
                  <a:srgbClr val="181A0D"/>
                </a:solidFill>
                <a:latin typeface="MPIRPG+FranklinGothic-Book"/>
                <a:cs typeface="MPIRPG+FranklinGothic-Book"/>
              </a:rPr>
              <a:t>–</a:t>
            </a:r>
            <a:r>
              <a:rPr sz="2000" spc="1352" dirty="0">
                <a:solidFill>
                  <a:srgbClr val="181A0D"/>
                </a:solidFill>
                <a:latin typeface="MPIRPG+FranklinGothic-Book"/>
                <a:cs typeface="MPIRPG+FranklinGothic-Book"/>
              </a:rPr>
              <a:t> </a:t>
            </a:r>
            <a:r>
              <a:rPr sz="2000" dirty="0">
                <a:solidFill>
                  <a:srgbClr val="181A0D"/>
                </a:solidFill>
                <a:latin typeface="IELAPA+FranklinGothic-BookItalic"/>
                <a:cs typeface="IELAPA+FranklinGothic-BookItalic"/>
              </a:rPr>
              <a:t>Be</a:t>
            </a:r>
            <a:r>
              <a:rPr sz="2000" spc="-141" dirty="0">
                <a:solidFill>
                  <a:srgbClr val="181A0D"/>
                </a:solidFill>
                <a:latin typeface="IELAPA+FranklinGothic-BookItalic"/>
                <a:cs typeface="IELAPA+FranklinGothic-BookItalic"/>
              </a:rPr>
              <a:t> </a:t>
            </a:r>
            <a:r>
              <a:rPr sz="2000" dirty="0">
                <a:solidFill>
                  <a:srgbClr val="181A0D"/>
                </a:solidFill>
                <a:latin typeface="IELAPA+FranklinGothic-BookItalic"/>
                <a:cs typeface="IELAPA+FranklinGothic-BookItalic"/>
              </a:rPr>
              <a:t>sure</a:t>
            </a:r>
            <a:r>
              <a:rPr sz="2000" spc="-138" dirty="0">
                <a:solidFill>
                  <a:srgbClr val="181A0D"/>
                </a:solidFill>
                <a:latin typeface="IELAPA+FranklinGothic-BookItalic"/>
                <a:cs typeface="IELAPA+FranklinGothic-BookItalic"/>
              </a:rPr>
              <a:t> </a:t>
            </a:r>
            <a:r>
              <a:rPr sz="2000" spc="-52" dirty="0">
                <a:solidFill>
                  <a:srgbClr val="181A0D"/>
                </a:solidFill>
                <a:latin typeface="IELAPA+FranklinGothic-BookItalic"/>
                <a:cs typeface="IELAPA+FranklinGothic-BookItalic"/>
              </a:rPr>
              <a:t>to</a:t>
            </a:r>
            <a:r>
              <a:rPr sz="2000" spc="-87" dirty="0">
                <a:solidFill>
                  <a:srgbClr val="181A0D"/>
                </a:solidFill>
                <a:latin typeface="IELAPA+FranklinGothic-BookItalic"/>
                <a:cs typeface="IELAPA+FranklinGothic-BookItalic"/>
              </a:rPr>
              <a:t> </a:t>
            </a:r>
            <a:r>
              <a:rPr sz="2000" dirty="0">
                <a:solidFill>
                  <a:srgbClr val="181A0D"/>
                </a:solidFill>
                <a:latin typeface="IELAPA+FranklinGothic-BookItalic"/>
                <a:cs typeface="IELAPA+FranklinGothic-BookItalic"/>
              </a:rPr>
              <a:t>include</a:t>
            </a:r>
            <a:r>
              <a:rPr sz="2000" spc="-140" dirty="0">
                <a:solidFill>
                  <a:srgbClr val="181A0D"/>
                </a:solidFill>
                <a:latin typeface="IELAPA+FranklinGothic-BookItalic"/>
                <a:cs typeface="IELAPA+FranklinGothic-BookItalic"/>
              </a:rPr>
              <a:t> </a:t>
            </a:r>
            <a:r>
              <a:rPr sz="2000" dirty="0">
                <a:solidFill>
                  <a:srgbClr val="181A0D"/>
                </a:solidFill>
                <a:latin typeface="IELAPA+FranklinGothic-BookItalic"/>
                <a:cs typeface="IELAPA+FranklinGothic-BookItalic"/>
              </a:rPr>
              <a:t>p-values,</a:t>
            </a:r>
            <a:r>
              <a:rPr sz="2000" spc="-135" dirty="0">
                <a:solidFill>
                  <a:srgbClr val="181A0D"/>
                </a:solidFill>
                <a:latin typeface="IELAPA+FranklinGothic-BookItalic"/>
                <a:cs typeface="IELAPA+FranklinGothic-BookItalic"/>
              </a:rPr>
              <a:t> </a:t>
            </a:r>
            <a:r>
              <a:rPr sz="2000" dirty="0">
                <a:solidFill>
                  <a:srgbClr val="181A0D"/>
                </a:solidFill>
                <a:latin typeface="IELAPA+FranklinGothic-BookItalic"/>
                <a:cs typeface="IELAPA+FranklinGothic-BookItalic"/>
              </a:rPr>
              <a:t>point</a:t>
            </a:r>
            <a:r>
              <a:rPr sz="2000" spc="-137" dirty="0">
                <a:solidFill>
                  <a:srgbClr val="181A0D"/>
                </a:solidFill>
                <a:latin typeface="IELAPA+FranklinGothic-BookItalic"/>
                <a:cs typeface="IELAPA+FranklinGothic-BookItalic"/>
              </a:rPr>
              <a:t> </a:t>
            </a:r>
            <a:r>
              <a:rPr sz="2000" dirty="0">
                <a:solidFill>
                  <a:srgbClr val="181A0D"/>
                </a:solidFill>
                <a:latin typeface="IELAPA+FranklinGothic-BookItalic"/>
                <a:cs typeface="IELAPA+FranklinGothic-BookItalic"/>
              </a:rPr>
              <a:t>estimates,</a:t>
            </a:r>
            <a:r>
              <a:rPr sz="2000" spc="-129" dirty="0">
                <a:solidFill>
                  <a:srgbClr val="181A0D"/>
                </a:solidFill>
                <a:latin typeface="IELAPA+FranklinGothic-BookItalic"/>
                <a:cs typeface="IELAPA+FranklinGothic-BookItalic"/>
              </a:rPr>
              <a:t> </a:t>
            </a:r>
            <a:r>
              <a:rPr sz="2000" dirty="0">
                <a:solidFill>
                  <a:srgbClr val="181A0D"/>
                </a:solidFill>
                <a:latin typeface="IELAPA+FranklinGothic-BookItalic"/>
                <a:cs typeface="IELAPA+FranklinGothic-BookItalic"/>
              </a:rPr>
              <a:t>and</a:t>
            </a:r>
            <a:r>
              <a:rPr sz="2000" spc="-140" dirty="0">
                <a:solidFill>
                  <a:srgbClr val="181A0D"/>
                </a:solidFill>
                <a:latin typeface="IELAPA+FranklinGothic-BookItalic"/>
                <a:cs typeface="IELAPA+FranklinGothic-BookItalic"/>
              </a:rPr>
              <a:t> </a:t>
            </a:r>
            <a:r>
              <a:rPr sz="2000" dirty="0">
                <a:solidFill>
                  <a:srgbClr val="181A0D"/>
                </a:solidFill>
                <a:latin typeface="IELAPA+FranklinGothic-BookItalic"/>
                <a:cs typeface="IELAPA+FranklinGothic-BookItalic"/>
              </a:rPr>
              <a:t>95%</a:t>
            </a:r>
            <a:r>
              <a:rPr sz="2000" spc="-134" dirty="0">
                <a:solidFill>
                  <a:srgbClr val="181A0D"/>
                </a:solidFill>
                <a:latin typeface="IELAPA+FranklinGothic-BookItalic"/>
                <a:cs typeface="IELAPA+FranklinGothic-BookItalic"/>
              </a:rPr>
              <a:t> </a:t>
            </a:r>
            <a:r>
              <a:rPr sz="2000" dirty="0">
                <a:solidFill>
                  <a:srgbClr val="181A0D"/>
                </a:solidFill>
                <a:latin typeface="IELAPA+FranklinGothic-BookItalic"/>
                <a:cs typeface="IELAPA+FranklinGothic-BookItalic"/>
              </a:rPr>
              <a:t>confidence</a:t>
            </a:r>
            <a:r>
              <a:rPr sz="2000" spc="-140" dirty="0">
                <a:solidFill>
                  <a:srgbClr val="181A0D"/>
                </a:solidFill>
                <a:latin typeface="IELAPA+FranklinGothic-BookItalic"/>
                <a:cs typeface="IELAPA+FranklinGothic-BookItalic"/>
              </a:rPr>
              <a:t> </a:t>
            </a:r>
            <a:r>
              <a:rPr sz="2000" dirty="0">
                <a:solidFill>
                  <a:srgbClr val="181A0D"/>
                </a:solidFill>
                <a:latin typeface="IELAPA+FranklinGothic-BookItalic"/>
                <a:cs typeface="IELAPA+FranklinGothic-BookItalic"/>
              </a:rPr>
              <a:t>intervals.</a:t>
            </a:r>
          </a:p>
        </p:txBody>
      </p:sp>
      <p:sp>
        <p:nvSpPr>
          <p:cNvPr id="10" name="object 10"/>
          <p:cNvSpPr txBox="1"/>
          <p:nvPr/>
        </p:nvSpPr>
        <p:spPr>
          <a:xfrm>
            <a:off x="2450465" y="4191799"/>
            <a:ext cx="8316716" cy="757532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0" marR="0">
              <a:lnSpc>
                <a:spcPts val="2040"/>
              </a:lnSpc>
              <a:spcBef>
                <a:spcPts val="0"/>
              </a:spcBef>
              <a:spcAft>
                <a:spcPts val="0"/>
              </a:spcAft>
            </a:pPr>
            <a:r>
              <a:rPr sz="1800" dirty="0">
                <a:solidFill>
                  <a:srgbClr val="181A0D"/>
                </a:solidFill>
                <a:latin typeface="PPUTKU+FranklinGothic-Book"/>
                <a:cs typeface="PPUTKU+FranklinGothic-Book"/>
              </a:rPr>
              <a:t>■</a:t>
            </a:r>
            <a:r>
              <a:rPr sz="1800" spc="1366" dirty="0">
                <a:solidFill>
                  <a:srgbClr val="181A0D"/>
                </a:solidFill>
                <a:latin typeface="DejaVu Sans"/>
                <a:cs typeface="DejaVu Sans"/>
              </a:rPr>
              <a:t> </a:t>
            </a:r>
            <a:r>
              <a:rPr sz="1800" dirty="0">
                <a:solidFill>
                  <a:srgbClr val="181A0D"/>
                </a:solidFill>
                <a:latin typeface="MPIRPG+FranklinGothic-Book"/>
                <a:cs typeface="MPIRPG+FranklinGothic-Book"/>
              </a:rPr>
              <a:t>Ex. Controlling </a:t>
            </a:r>
            <a:r>
              <a:rPr sz="1800" spc="-21" dirty="0">
                <a:solidFill>
                  <a:srgbClr val="181A0D"/>
                </a:solidFill>
                <a:latin typeface="MPIRPG+FranklinGothic-Book"/>
                <a:cs typeface="MPIRPG+FranklinGothic-Book"/>
              </a:rPr>
              <a:t>for</a:t>
            </a:r>
            <a:r>
              <a:rPr sz="1800" spc="16" dirty="0">
                <a:solidFill>
                  <a:srgbClr val="181A0D"/>
                </a:solidFill>
                <a:latin typeface="MPIRPG+FranklinGothic-Book"/>
                <a:cs typeface="MPIRPG+FranklinGothic-Book"/>
              </a:rPr>
              <a:t> </a:t>
            </a:r>
            <a:r>
              <a:rPr sz="1800" dirty="0">
                <a:solidFill>
                  <a:srgbClr val="181A0D"/>
                </a:solidFill>
                <a:latin typeface="MPIRPG+FranklinGothic-Book"/>
                <a:cs typeface="MPIRPG+FranklinGothic-Book"/>
              </a:rPr>
              <a:t>age, males had significantly higher blood glucose than females</a:t>
            </a:r>
          </a:p>
          <a:p>
            <a:pPr marL="384175" marR="0">
              <a:lnSpc>
                <a:spcPts val="1823"/>
              </a:lnSpc>
              <a:spcBef>
                <a:spcPts val="50"/>
              </a:spcBef>
              <a:spcAft>
                <a:spcPts val="0"/>
              </a:spcAft>
            </a:pPr>
            <a:r>
              <a:rPr sz="1800" spc="-11" dirty="0">
                <a:solidFill>
                  <a:srgbClr val="181A0D"/>
                </a:solidFill>
                <a:latin typeface="MPIRPG+FranklinGothic-Book"/>
                <a:cs typeface="MPIRPG+FranklinGothic-Book"/>
              </a:rPr>
              <a:t>(p=0.001).</a:t>
            </a:r>
            <a:r>
              <a:rPr sz="1800" spc="461" dirty="0">
                <a:solidFill>
                  <a:srgbClr val="181A0D"/>
                </a:solidFill>
                <a:latin typeface="MPIRPG+FranklinGothic-Book"/>
                <a:cs typeface="MPIRPG+FranklinGothic-Book"/>
              </a:rPr>
              <a:t> </a:t>
            </a:r>
            <a:r>
              <a:rPr sz="1800" dirty="0">
                <a:solidFill>
                  <a:srgbClr val="181A0D"/>
                </a:solidFill>
                <a:latin typeface="MPIRPG+FranklinGothic-Book"/>
                <a:cs typeface="MPIRPG+FranklinGothic-Book"/>
              </a:rPr>
              <a:t>On </a:t>
            </a:r>
            <a:r>
              <a:rPr sz="1800" spc="-11" dirty="0">
                <a:solidFill>
                  <a:srgbClr val="181A0D"/>
                </a:solidFill>
                <a:latin typeface="MPIRPG+FranklinGothic-Book"/>
                <a:cs typeface="MPIRPG+FranklinGothic-Book"/>
              </a:rPr>
              <a:t>average</a:t>
            </a:r>
            <a:r>
              <a:rPr sz="1800" spc="12" dirty="0">
                <a:solidFill>
                  <a:srgbClr val="181A0D"/>
                </a:solidFill>
                <a:latin typeface="MPIRPG+FranklinGothic-Book"/>
                <a:cs typeface="MPIRPG+FranklinGothic-Book"/>
              </a:rPr>
              <a:t> </a:t>
            </a:r>
            <a:r>
              <a:rPr sz="1800" dirty="0">
                <a:solidFill>
                  <a:srgbClr val="181A0D"/>
                </a:solidFill>
                <a:latin typeface="MPIRPG+FranklinGothic-Book"/>
                <a:cs typeface="MPIRPG+FranklinGothic-Book"/>
              </a:rPr>
              <a:t>males’ blood glucose </a:t>
            </a:r>
            <a:r>
              <a:rPr sz="1800" spc="-11" dirty="0">
                <a:solidFill>
                  <a:srgbClr val="181A0D"/>
                </a:solidFill>
                <a:latin typeface="MPIRPG+FranklinGothic-Book"/>
                <a:cs typeface="MPIRPG+FranklinGothic-Book"/>
              </a:rPr>
              <a:t>levels</a:t>
            </a:r>
            <a:r>
              <a:rPr sz="1800" spc="13" dirty="0">
                <a:solidFill>
                  <a:srgbClr val="181A0D"/>
                </a:solidFill>
                <a:latin typeface="MPIRPG+FranklinGothic-Book"/>
                <a:cs typeface="MPIRPG+FranklinGothic-Book"/>
              </a:rPr>
              <a:t> </a:t>
            </a:r>
            <a:r>
              <a:rPr sz="1800" dirty="0">
                <a:solidFill>
                  <a:srgbClr val="181A0D"/>
                </a:solidFill>
                <a:latin typeface="MPIRPG+FranklinGothic-Book"/>
                <a:cs typeface="MPIRPG+FranklinGothic-Book"/>
              </a:rPr>
              <a:t>were 2.5 units higher than</a:t>
            </a:r>
          </a:p>
          <a:p>
            <a:pPr marL="384175" marR="0"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800" dirty="0">
                <a:solidFill>
                  <a:srgbClr val="181A0D"/>
                </a:solidFill>
                <a:latin typeface="MPIRPG+FranklinGothic-Book"/>
                <a:cs typeface="MPIRPG+FranklinGothic-Book"/>
              </a:rPr>
              <a:t>womens’ (95% CI: 1.5 </a:t>
            </a:r>
            <a:r>
              <a:rPr sz="1800" spc="-30" dirty="0">
                <a:solidFill>
                  <a:srgbClr val="181A0D"/>
                </a:solidFill>
                <a:latin typeface="MPIRPG+FranklinGothic-Book"/>
                <a:cs typeface="MPIRPG+FranklinGothic-Book"/>
              </a:rPr>
              <a:t>to</a:t>
            </a:r>
            <a:r>
              <a:rPr sz="1800" spc="31" dirty="0">
                <a:solidFill>
                  <a:srgbClr val="181A0D"/>
                </a:solidFill>
                <a:latin typeface="MPIRPG+FranklinGothic-Book"/>
                <a:cs typeface="MPIRPG+FranklinGothic-Book"/>
              </a:rPr>
              <a:t> </a:t>
            </a:r>
            <a:r>
              <a:rPr sz="1800" dirty="0">
                <a:solidFill>
                  <a:srgbClr val="181A0D"/>
                </a:solidFill>
                <a:latin typeface="MPIRPG+FranklinGothic-Book"/>
                <a:cs typeface="MPIRPG+FranklinGothic-Book"/>
              </a:rPr>
              <a:t>3.5).</a:t>
            </a:r>
          </a:p>
        </p:txBody>
      </p:sp>
      <p:sp>
        <p:nvSpPr>
          <p:cNvPr id="11" name="object 11"/>
          <p:cNvSpPr txBox="1"/>
          <p:nvPr/>
        </p:nvSpPr>
        <p:spPr>
          <a:xfrm>
            <a:off x="2450465" y="4972087"/>
            <a:ext cx="8545234" cy="757532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0" marR="0">
              <a:lnSpc>
                <a:spcPts val="2040"/>
              </a:lnSpc>
              <a:spcBef>
                <a:spcPts val="0"/>
              </a:spcBef>
              <a:spcAft>
                <a:spcPts val="0"/>
              </a:spcAft>
            </a:pPr>
            <a:r>
              <a:rPr sz="1800" dirty="0">
                <a:solidFill>
                  <a:srgbClr val="181A0D"/>
                </a:solidFill>
                <a:latin typeface="PPUTKU+FranklinGothic-Book"/>
                <a:cs typeface="PPUTKU+FranklinGothic-Book"/>
              </a:rPr>
              <a:t>■</a:t>
            </a:r>
            <a:r>
              <a:rPr sz="1800" spc="1366" dirty="0">
                <a:solidFill>
                  <a:srgbClr val="181A0D"/>
                </a:solidFill>
                <a:latin typeface="DejaVu Sans"/>
                <a:cs typeface="DejaVu Sans"/>
              </a:rPr>
              <a:t> </a:t>
            </a:r>
            <a:r>
              <a:rPr sz="1800" dirty="0">
                <a:solidFill>
                  <a:srgbClr val="181A0D"/>
                </a:solidFill>
                <a:latin typeface="MPIRPG+FranklinGothic-Book"/>
                <a:cs typeface="MPIRPG+FranklinGothic-Book"/>
              </a:rPr>
              <a:t>Ex. </a:t>
            </a:r>
            <a:r>
              <a:rPr sz="1800" spc="-38" dirty="0">
                <a:solidFill>
                  <a:srgbClr val="181A0D"/>
                </a:solidFill>
                <a:latin typeface="MPIRPG+FranklinGothic-Book"/>
                <a:cs typeface="MPIRPG+FranklinGothic-Book"/>
              </a:rPr>
              <a:t>We</a:t>
            </a:r>
            <a:r>
              <a:rPr sz="1800" spc="39" dirty="0">
                <a:solidFill>
                  <a:srgbClr val="181A0D"/>
                </a:solidFill>
                <a:latin typeface="MPIRPG+FranklinGothic-Book"/>
                <a:cs typeface="MPIRPG+FranklinGothic-Book"/>
              </a:rPr>
              <a:t> </a:t>
            </a:r>
            <a:r>
              <a:rPr sz="1800" dirty="0">
                <a:solidFill>
                  <a:srgbClr val="181A0D"/>
                </a:solidFill>
                <a:latin typeface="MPIRPG+FranklinGothic-Book"/>
                <a:cs typeface="MPIRPG+FranklinGothic-Book"/>
              </a:rPr>
              <a:t>did not find a significant effect of smoking </a:t>
            </a:r>
            <a:r>
              <a:rPr sz="1800" spc="-14" dirty="0">
                <a:solidFill>
                  <a:srgbClr val="181A0D"/>
                </a:solidFill>
                <a:latin typeface="MPIRPG+FranklinGothic-Book"/>
                <a:cs typeface="MPIRPG+FranklinGothic-Book"/>
              </a:rPr>
              <a:t>(p=0.13).</a:t>
            </a:r>
            <a:r>
              <a:rPr sz="1800" spc="464" dirty="0">
                <a:solidFill>
                  <a:srgbClr val="181A0D"/>
                </a:solidFill>
                <a:latin typeface="MPIRPG+FranklinGothic-Book"/>
                <a:cs typeface="MPIRPG+FranklinGothic-Book"/>
              </a:rPr>
              <a:t> </a:t>
            </a:r>
            <a:r>
              <a:rPr sz="1800" dirty="0">
                <a:solidFill>
                  <a:srgbClr val="181A0D"/>
                </a:solidFill>
                <a:latin typeface="MPIRPG+FranklinGothic-Book"/>
                <a:cs typeface="MPIRPG+FranklinGothic-Book"/>
              </a:rPr>
              <a:t>The </a:t>
            </a:r>
            <a:r>
              <a:rPr sz="1800" spc="-11" dirty="0">
                <a:solidFill>
                  <a:srgbClr val="181A0D"/>
                </a:solidFill>
                <a:latin typeface="MPIRPG+FranklinGothic-Book"/>
                <a:cs typeface="MPIRPG+FranklinGothic-Book"/>
              </a:rPr>
              <a:t>average</a:t>
            </a:r>
            <a:r>
              <a:rPr sz="1800" spc="12" dirty="0">
                <a:solidFill>
                  <a:srgbClr val="181A0D"/>
                </a:solidFill>
                <a:latin typeface="MPIRPG+FranklinGothic-Book"/>
                <a:cs typeface="MPIRPG+FranklinGothic-Book"/>
              </a:rPr>
              <a:t> </a:t>
            </a:r>
            <a:r>
              <a:rPr sz="1800" dirty="0">
                <a:solidFill>
                  <a:srgbClr val="181A0D"/>
                </a:solidFill>
                <a:latin typeface="MPIRPG+FranklinGothic-Book"/>
                <a:cs typeface="MPIRPG+FranklinGothic-Book"/>
              </a:rPr>
              <a:t>difference</a:t>
            </a:r>
          </a:p>
          <a:p>
            <a:pPr marL="384175" marR="0">
              <a:lnSpc>
                <a:spcPts val="1823"/>
              </a:lnSpc>
              <a:spcBef>
                <a:spcPts val="50"/>
              </a:spcBef>
              <a:spcAft>
                <a:spcPts val="0"/>
              </a:spcAft>
            </a:pPr>
            <a:r>
              <a:rPr sz="1800" dirty="0">
                <a:solidFill>
                  <a:srgbClr val="181A0D"/>
                </a:solidFill>
                <a:latin typeface="MPIRPG+FranklinGothic-Book"/>
                <a:cs typeface="MPIRPG+FranklinGothic-Book"/>
              </a:rPr>
              <a:t>in BMI between non-smokers and smokers was</a:t>
            </a:r>
            <a:r>
              <a:rPr sz="1800" spc="10" dirty="0">
                <a:solidFill>
                  <a:srgbClr val="181A0D"/>
                </a:solidFill>
                <a:latin typeface="MPIRPG+FranklinGothic-Book"/>
                <a:cs typeface="MPIRPG+FranklinGothic-Book"/>
              </a:rPr>
              <a:t> </a:t>
            </a:r>
            <a:r>
              <a:rPr sz="1800" dirty="0">
                <a:solidFill>
                  <a:srgbClr val="181A0D"/>
                </a:solidFill>
                <a:latin typeface="MPIRPG+FranklinGothic-Book"/>
                <a:cs typeface="MPIRPG+FranklinGothic-Book"/>
              </a:rPr>
              <a:t>0.3 kg/m</a:t>
            </a:r>
            <a:r>
              <a:rPr sz="1800" baseline="30666" dirty="0">
                <a:solidFill>
                  <a:srgbClr val="181A0D"/>
                </a:solidFill>
                <a:latin typeface="MPIRPG+FranklinGothic-Book"/>
                <a:cs typeface="MPIRPG+FranklinGothic-Book"/>
              </a:rPr>
              <a:t>2</a:t>
            </a:r>
            <a:r>
              <a:rPr sz="1800" spc="146" baseline="30666" dirty="0">
                <a:solidFill>
                  <a:srgbClr val="181A0D"/>
                </a:solidFill>
                <a:latin typeface="MPIRPG+FranklinGothic-Book"/>
                <a:cs typeface="MPIRPG+FranklinGothic-Book"/>
              </a:rPr>
              <a:t> </a:t>
            </a:r>
            <a:r>
              <a:rPr sz="1800" dirty="0">
                <a:solidFill>
                  <a:srgbClr val="181A0D"/>
                </a:solidFill>
                <a:latin typeface="MPIRPG+FranklinGothic-Book"/>
                <a:cs typeface="MPIRPG+FranklinGothic-Book"/>
              </a:rPr>
              <a:t>(95% CI: -0.3, 0.6, with</a:t>
            </a:r>
          </a:p>
          <a:p>
            <a:pPr marL="384175" marR="0"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800" dirty="0">
                <a:solidFill>
                  <a:srgbClr val="181A0D"/>
                </a:solidFill>
                <a:latin typeface="MPIRPG+FranklinGothic-Book"/>
                <a:cs typeface="MPIRPG+FranklinGothic-Book"/>
              </a:rPr>
              <a:t>negative values indicating higher</a:t>
            </a:r>
            <a:r>
              <a:rPr sz="1800" spc="444" dirty="0">
                <a:solidFill>
                  <a:srgbClr val="181A0D"/>
                </a:solidFill>
                <a:latin typeface="MPIRPG+FranklinGothic-Book"/>
                <a:cs typeface="MPIRPG+FranklinGothic-Book"/>
              </a:rPr>
              <a:t> </a:t>
            </a:r>
            <a:r>
              <a:rPr sz="1800" dirty="0">
                <a:solidFill>
                  <a:srgbClr val="181A0D"/>
                </a:solidFill>
                <a:latin typeface="MPIRPG+FranklinGothic-Book"/>
                <a:cs typeface="MPIRPG+FranklinGothic-Book"/>
              </a:rPr>
              <a:t>BMI in smokers).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>
            <a:spAutoFit/>
          </a:bodyPr>
          <a:lstStyle/>
          <a:p>
            <a:endParaRPr/>
          </a:p>
        </p:txBody>
      </p:sp>
      <p:sp>
        <p:nvSpPr>
          <p:cNvPr id="3" name="object 3"/>
          <p:cNvSpPr txBox="1"/>
          <p:nvPr/>
        </p:nvSpPr>
        <p:spPr>
          <a:xfrm>
            <a:off x="1463040" y="689700"/>
            <a:ext cx="4528479" cy="67050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0" marR="0">
              <a:lnSpc>
                <a:spcPts val="4979"/>
              </a:lnSpc>
              <a:spcBef>
                <a:spcPts val="0"/>
              </a:spcBef>
              <a:spcAft>
                <a:spcPts val="0"/>
              </a:spcAft>
            </a:pPr>
            <a:r>
              <a:rPr sz="4400" spc="-11" dirty="0">
                <a:solidFill>
                  <a:srgbClr val="181A0D"/>
                </a:solidFill>
                <a:latin typeface="WPQCJM+FranklinGothic-Book"/>
                <a:cs typeface="WPQCJM+FranklinGothic-Book"/>
              </a:rPr>
              <a:t>Results,</a:t>
            </a:r>
            <a:r>
              <a:rPr sz="4400" spc="13" dirty="0">
                <a:solidFill>
                  <a:srgbClr val="181A0D"/>
                </a:solidFill>
                <a:latin typeface="WPQCJM+FranklinGothic-Book"/>
                <a:cs typeface="WPQCJM+FranklinGothic-Book"/>
              </a:rPr>
              <a:t> </a:t>
            </a:r>
            <a:r>
              <a:rPr sz="4400" dirty="0">
                <a:solidFill>
                  <a:srgbClr val="181A0D"/>
                </a:solidFill>
                <a:latin typeface="WPQCJM+FranklinGothic-Book"/>
                <a:cs typeface="WPQCJM+FranklinGothic-Book"/>
              </a:rPr>
              <a:t>continued</a:t>
            </a:r>
          </a:p>
        </p:txBody>
      </p:sp>
      <p:sp>
        <p:nvSpPr>
          <p:cNvPr id="4" name="object 4"/>
          <p:cNvSpPr txBox="1"/>
          <p:nvPr/>
        </p:nvSpPr>
        <p:spPr>
          <a:xfrm>
            <a:off x="1463040" y="2328459"/>
            <a:ext cx="6115108" cy="32493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0" marR="0">
              <a:lnSpc>
                <a:spcPts val="2258"/>
              </a:lnSpc>
              <a:spcBef>
                <a:spcPts val="0"/>
              </a:spcBef>
              <a:spcAft>
                <a:spcPts val="0"/>
              </a:spcAft>
            </a:pPr>
            <a:r>
              <a:rPr sz="2000" dirty="0">
                <a:solidFill>
                  <a:srgbClr val="181A0D"/>
                </a:solidFill>
                <a:latin typeface="WPQCJM+FranklinGothic-Book"/>
                <a:cs typeface="WPQCJM+FranklinGothic-Book"/>
              </a:rPr>
              <a:t>Include plots </a:t>
            </a:r>
            <a:r>
              <a:rPr sz="2000" spc="-34" dirty="0">
                <a:solidFill>
                  <a:srgbClr val="181A0D"/>
                </a:solidFill>
                <a:latin typeface="WPQCJM+FranklinGothic-Book"/>
                <a:cs typeface="WPQCJM+FranklinGothic-Book"/>
              </a:rPr>
              <a:t>to</a:t>
            </a:r>
            <a:r>
              <a:rPr sz="2000" spc="32" dirty="0">
                <a:solidFill>
                  <a:srgbClr val="181A0D"/>
                </a:solidFill>
                <a:latin typeface="WPQCJM+FranklinGothic-Book"/>
                <a:cs typeface="WPQCJM+FranklinGothic-Book"/>
              </a:rPr>
              <a:t> </a:t>
            </a:r>
            <a:r>
              <a:rPr sz="2000" dirty="0">
                <a:solidFill>
                  <a:srgbClr val="181A0D"/>
                </a:solidFill>
                <a:latin typeface="WPQCJM+FranklinGothic-Book"/>
                <a:cs typeface="WPQCJM+FranklinGothic-Book"/>
              </a:rPr>
              <a:t>help illustrate your</a:t>
            </a:r>
            <a:r>
              <a:rPr sz="2000" spc="13" dirty="0">
                <a:solidFill>
                  <a:srgbClr val="181A0D"/>
                </a:solidFill>
                <a:latin typeface="WPQCJM+FranklinGothic-Book"/>
                <a:cs typeface="WPQCJM+FranklinGothic-Book"/>
              </a:rPr>
              <a:t> </a:t>
            </a:r>
            <a:r>
              <a:rPr sz="2000" dirty="0">
                <a:solidFill>
                  <a:srgbClr val="181A0D"/>
                </a:solidFill>
                <a:latin typeface="WPQCJM+FranklinGothic-Book"/>
                <a:cs typeface="WPQCJM+FranklinGothic-Book"/>
              </a:rPr>
              <a:t>results if appropriate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>
            <a:spAutoFit/>
          </a:bodyPr>
          <a:lstStyle/>
          <a:p>
            <a:endParaRPr/>
          </a:p>
        </p:txBody>
      </p:sp>
      <p:sp>
        <p:nvSpPr>
          <p:cNvPr id="3" name="object 3"/>
          <p:cNvSpPr txBox="1"/>
          <p:nvPr/>
        </p:nvSpPr>
        <p:spPr>
          <a:xfrm>
            <a:off x="1463040" y="689700"/>
            <a:ext cx="2704871" cy="67050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0" marR="0">
              <a:lnSpc>
                <a:spcPts val="4979"/>
              </a:lnSpc>
              <a:spcBef>
                <a:spcPts val="0"/>
              </a:spcBef>
              <a:spcAft>
                <a:spcPts val="0"/>
              </a:spcAft>
            </a:pPr>
            <a:r>
              <a:rPr sz="4400" dirty="0">
                <a:solidFill>
                  <a:srgbClr val="181A0D"/>
                </a:solidFill>
                <a:latin typeface="LVLFDH+FranklinGothic-Book"/>
                <a:cs typeface="LVLFDH+FranklinGothic-Book"/>
              </a:rPr>
              <a:t>Discussion</a:t>
            </a:r>
          </a:p>
        </p:txBody>
      </p:sp>
      <p:sp>
        <p:nvSpPr>
          <p:cNvPr id="4" name="object 4"/>
          <p:cNvSpPr txBox="1"/>
          <p:nvPr/>
        </p:nvSpPr>
        <p:spPr>
          <a:xfrm>
            <a:off x="1463040" y="2328459"/>
            <a:ext cx="6763774" cy="763842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0" marR="0">
              <a:lnSpc>
                <a:spcPts val="2258"/>
              </a:lnSpc>
              <a:spcBef>
                <a:spcPts val="0"/>
              </a:spcBef>
              <a:spcAft>
                <a:spcPts val="0"/>
              </a:spcAft>
            </a:pPr>
            <a:r>
              <a:rPr sz="2000" dirty="0">
                <a:solidFill>
                  <a:srgbClr val="181A0D"/>
                </a:solidFill>
                <a:latin typeface="PPUTKU+FranklinGothic-Book"/>
                <a:cs typeface="PPUTKU+FranklinGothic-Book"/>
              </a:rPr>
              <a:t>■</a:t>
            </a:r>
            <a:r>
              <a:rPr sz="2000" spc="1181" dirty="0">
                <a:solidFill>
                  <a:srgbClr val="181A0D"/>
                </a:solidFill>
                <a:latin typeface="DejaVu Sans"/>
                <a:cs typeface="DejaVu Sans"/>
              </a:rPr>
              <a:t> </a:t>
            </a:r>
            <a:r>
              <a:rPr sz="2000" spc="11" dirty="0">
                <a:solidFill>
                  <a:srgbClr val="181A0D"/>
                </a:solidFill>
                <a:latin typeface="LVLFDH+FranklinGothic-Book"/>
                <a:cs typeface="LVLFDH+FranklinGothic-Book"/>
              </a:rPr>
              <a:t>Summary</a:t>
            </a:r>
            <a:r>
              <a:rPr sz="2000" spc="-16" dirty="0">
                <a:solidFill>
                  <a:srgbClr val="181A0D"/>
                </a:solidFill>
                <a:latin typeface="LVLFDH+FranklinGothic-Book"/>
                <a:cs typeface="LVLFDH+FranklinGothic-Book"/>
              </a:rPr>
              <a:t> </a:t>
            </a:r>
            <a:r>
              <a:rPr sz="2000" dirty="0">
                <a:solidFill>
                  <a:srgbClr val="181A0D"/>
                </a:solidFill>
                <a:latin typeface="LVLFDH+FranklinGothic-Book"/>
                <a:cs typeface="LVLFDH+FranklinGothic-Book"/>
              </a:rPr>
              <a:t>of </a:t>
            </a:r>
            <a:r>
              <a:rPr sz="2000" spc="-17" dirty="0">
                <a:solidFill>
                  <a:srgbClr val="181A0D"/>
                </a:solidFill>
                <a:latin typeface="LVLFDH+FranklinGothic-Book"/>
                <a:cs typeface="LVLFDH+FranklinGothic-Book"/>
              </a:rPr>
              <a:t>how</a:t>
            </a:r>
            <a:r>
              <a:rPr sz="2000" spc="13" dirty="0">
                <a:solidFill>
                  <a:srgbClr val="181A0D"/>
                </a:solidFill>
                <a:latin typeface="LVLFDH+FranklinGothic-Book"/>
                <a:cs typeface="LVLFDH+FranklinGothic-Book"/>
              </a:rPr>
              <a:t> </a:t>
            </a:r>
            <a:r>
              <a:rPr sz="2000" dirty="0">
                <a:solidFill>
                  <a:srgbClr val="181A0D"/>
                </a:solidFill>
                <a:latin typeface="LVLFDH+FranklinGothic-Book"/>
                <a:cs typeface="LVLFDH+FranklinGothic-Book"/>
              </a:rPr>
              <a:t>the results answer</a:t>
            </a:r>
            <a:r>
              <a:rPr sz="2000" spc="10" dirty="0">
                <a:solidFill>
                  <a:srgbClr val="181A0D"/>
                </a:solidFill>
                <a:latin typeface="LVLFDH+FranklinGothic-Book"/>
                <a:cs typeface="LVLFDH+FranklinGothic-Book"/>
              </a:rPr>
              <a:t> </a:t>
            </a:r>
            <a:r>
              <a:rPr sz="2000" dirty="0">
                <a:solidFill>
                  <a:srgbClr val="181A0D"/>
                </a:solidFill>
                <a:latin typeface="LVLFDH+FranklinGothic-Book"/>
                <a:cs typeface="LVLFDH+FranklinGothic-Book"/>
              </a:rPr>
              <a:t>the research question</a:t>
            </a:r>
          </a:p>
          <a:p>
            <a:pPr marL="0" marR="0">
              <a:lnSpc>
                <a:spcPts val="2258"/>
              </a:lnSpc>
              <a:spcBef>
                <a:spcPts val="1147"/>
              </a:spcBef>
              <a:spcAft>
                <a:spcPts val="0"/>
              </a:spcAft>
            </a:pPr>
            <a:r>
              <a:rPr sz="2000" dirty="0">
                <a:solidFill>
                  <a:srgbClr val="181A0D"/>
                </a:solidFill>
                <a:latin typeface="PPUTKU+FranklinGothic-Book"/>
                <a:cs typeface="PPUTKU+FranklinGothic-Book"/>
              </a:rPr>
              <a:t>■</a:t>
            </a:r>
            <a:r>
              <a:rPr sz="2000" spc="1181" dirty="0">
                <a:solidFill>
                  <a:srgbClr val="181A0D"/>
                </a:solidFill>
                <a:latin typeface="DejaVu Sans"/>
                <a:cs typeface="DejaVu Sans"/>
              </a:rPr>
              <a:t> </a:t>
            </a:r>
            <a:r>
              <a:rPr sz="2000" dirty="0">
                <a:solidFill>
                  <a:srgbClr val="181A0D"/>
                </a:solidFill>
                <a:latin typeface="LVLFDH+FranklinGothic-Book"/>
                <a:cs typeface="LVLFDH+FranklinGothic-Book"/>
              </a:rPr>
              <a:t>Limitations of the analysis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heme Office">
  <a:themeElements>
    <a:clrScheme name="Standard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Standard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tandar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2691</TotalTime>
  <Words>442</Words>
  <Application>Microsoft Macintosh PowerPoint</Application>
  <PresentationFormat>Widescreen</PresentationFormat>
  <Paragraphs>52</Paragraphs>
  <Slides>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16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24" baseType="lpstr">
      <vt:lpstr>KDMFEK+FranklinGothic-Book</vt:lpstr>
      <vt:lpstr>Wingdings</vt:lpstr>
      <vt:lpstr>IELAPA+FranklinGothic-BookItalic</vt:lpstr>
      <vt:lpstr>LVLFDH+FranklinGothic-Book</vt:lpstr>
      <vt:lpstr>Aptos</vt:lpstr>
      <vt:lpstr>DejaVu Sans</vt:lpstr>
      <vt:lpstr>PPUTKU+FranklinGothic-Book</vt:lpstr>
      <vt:lpstr>VTCKGD+FranklinGothic-Book</vt:lpstr>
      <vt:lpstr>OAGDQN+FranklinGothic-BookItalic</vt:lpstr>
      <vt:lpstr>NOOILK+FranklinGothic-Book</vt:lpstr>
      <vt:lpstr>MPIRPG+FranklinGothic-Book</vt:lpstr>
      <vt:lpstr>FEBWQJ+FranklinGothic-BookItalic</vt:lpstr>
      <vt:lpstr>Cambria Math</vt:lpstr>
      <vt:lpstr>WPQCJM+FranklinGothic-Book</vt:lpstr>
      <vt:lpstr>GEHAIV+FranklinGothic-Book</vt:lpstr>
      <vt:lpstr>Calibri</vt:lpstr>
      <vt:lpstr>Theme Office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 PowerPoint</dc:title>
  <dc:creator>root</dc:creator>
  <cp:lastModifiedBy>Ryan Summers</cp:lastModifiedBy>
  <cp:revision>9</cp:revision>
  <dcterms:modified xsi:type="dcterms:W3CDTF">2026-02-02T16:28:54Z</dcterms:modified>
</cp:coreProperties>
</file>