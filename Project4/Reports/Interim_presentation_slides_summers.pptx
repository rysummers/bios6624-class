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embeddedFontLst>
    <p:embeddedFont>
      <p:font typeface="Cambria Math" panose="02040503050406030204" pitchFamily="18" charset="0"/>
      <p:regular r:id="rId7"/>
    </p:embeddedFont>
    <p:embeddedFont>
      <p:font typeface="PWMWTI+FranklinGothic-Book" panose="02000500000000000000" pitchFamily="2" charset="0"/>
      <p:regular r:id="rId8"/>
    </p:embeddedFont>
    <p:embeddedFont>
      <p:font typeface="WPQCJM+FranklinGothic-Book" panose="02000500000000000000" pitchFamily="2"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330"/>
    <p:restoredTop sz="50808"/>
  </p:normalViewPr>
  <p:slideViewPr>
    <p:cSldViewPr>
      <p:cViewPr varScale="1">
        <p:scale>
          <a:sx n="50" d="100"/>
          <a:sy n="50" d="100"/>
        </p:scale>
        <p:origin x="1896" y="176"/>
      </p:cViewPr>
      <p:guideLst>
        <p:guide orient="horz" pos="3168"/>
        <p:guide pos="2448"/>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242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414" y="0"/>
            <a:ext cx="2971800" cy="612423"/>
          </a:xfrm>
          <a:prstGeom prst="rect">
            <a:avLst/>
          </a:prstGeom>
        </p:spPr>
        <p:txBody>
          <a:bodyPr vert="horz" lIns="91440" tIns="45720" rIns="91440" bIns="45720" rtlCol="0"/>
          <a:lstStyle>
            <a:lvl1pPr algn="r">
              <a:defRPr sz="1200"/>
            </a:lvl1pPr>
          </a:lstStyle>
          <a:p>
            <a:fld id="{5572088B-D286-3046-B6F7-B15DDA392F38}" type="datetimeFigureOut">
              <a:rPr lang="en-US" smtClean="0"/>
              <a:t>5/4/26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5"/>
            <a:ext cx="5486400" cy="480059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79583"/>
            <a:ext cx="2971800" cy="61242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414" y="11579583"/>
            <a:ext cx="2971800" cy="612421"/>
          </a:xfrm>
          <a:prstGeom prst="rect">
            <a:avLst/>
          </a:prstGeom>
        </p:spPr>
        <p:txBody>
          <a:bodyPr vert="horz" lIns="91440" tIns="45720" rIns="91440" bIns="45720" rtlCol="0" anchor="b"/>
          <a:lstStyle>
            <a:lvl1pPr algn="r">
              <a:defRPr sz="1200"/>
            </a:lvl1pPr>
          </a:lstStyle>
          <a:p>
            <a:fld id="{8FFD2A8B-BCD5-3141-A454-1E72234D25CF}" type="slidenum">
              <a:rPr lang="en-US" smtClean="0"/>
              <a:t>‹#›</a:t>
            </a:fld>
            <a:endParaRPr lang="en-US"/>
          </a:p>
        </p:txBody>
      </p:sp>
    </p:spTree>
    <p:extLst>
      <p:ext uri="{BB962C8B-B14F-4D97-AF65-F5344CB8AC3E}">
        <p14:creationId xmlns:p14="http://schemas.microsoft.com/office/powerpoint/2010/main" val="2027190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FD2A8B-BCD5-3141-A454-1E72234D25CF}" type="slidenum">
              <a:rPr lang="en-US" smtClean="0"/>
              <a:t>1</a:t>
            </a:fld>
            <a:endParaRPr lang="en-US"/>
          </a:p>
        </p:txBody>
      </p:sp>
    </p:spTree>
    <p:extLst>
      <p:ext uri="{BB962C8B-B14F-4D97-AF65-F5344CB8AC3E}">
        <p14:creationId xmlns:p14="http://schemas.microsoft.com/office/powerpoint/2010/main" val="3039820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main research question guiding this project is: how do different variable selection methods perform in identifying true predictors and excluding irrelevant ones under varying sample sizes and correlations</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To address this, we have three aims: comparing variable selection accuracy across methods, evaluating coefficient estimation performance, and assessing Type I and Type II error rates</a:t>
            </a:r>
            <a:endParaRPr lang="en-US" dirty="0"/>
          </a:p>
        </p:txBody>
      </p:sp>
      <p:sp>
        <p:nvSpPr>
          <p:cNvPr id="4" name="Slide Number Placeholder 3"/>
          <p:cNvSpPr>
            <a:spLocks noGrp="1"/>
          </p:cNvSpPr>
          <p:nvPr>
            <p:ph type="sldNum" sz="quarter" idx="5"/>
          </p:nvPr>
        </p:nvSpPr>
        <p:spPr/>
        <p:txBody>
          <a:bodyPr/>
          <a:lstStyle/>
          <a:p>
            <a:fld id="{8FFD2A8B-BCD5-3141-A454-1E72234D25CF}" type="slidenum">
              <a:rPr lang="en-US" smtClean="0"/>
              <a:t>2</a:t>
            </a:fld>
            <a:endParaRPr lang="en-US"/>
          </a:p>
        </p:txBody>
      </p:sp>
    </p:spTree>
    <p:extLst>
      <p:ext uri="{BB962C8B-B14F-4D97-AF65-F5344CB8AC3E}">
        <p14:creationId xmlns:p14="http://schemas.microsoft.com/office/powerpoint/2010/main" val="2330120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Starting with sim design, we will simulate data under a linear regression model using the ‘hdrm’ package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Each simulated dataset will include 20 continuous predictors, but only 5 of them are truly associated with the outcome, while the remaining 15 are null.</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then vary two parameters of this data-generating process.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sample size, using 250 and 500 observations and correlation among the predictors using an exchangeable structure with values 0, 0.35, and 0.7.</a:t>
            </a:r>
          </a:p>
          <a:p>
            <a:r>
              <a:rPr lang="en-US" sz="1200" kern="1200" dirty="0">
                <a:solidFill>
                  <a:schemeClr val="tx1"/>
                </a:solidFill>
                <a:effectLst/>
                <a:latin typeface="+mn-lt"/>
                <a:ea typeface="+mn-ea"/>
                <a:cs typeface="+mn-cs"/>
              </a:rPr>
              <a:t>Which will give us six scenarios to evaluate .</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Across these six scenarios we will be comparing seven selection methods </a:t>
            </a:r>
          </a:p>
          <a:p>
            <a:endParaRPr lang="en-US" sz="1200" b="0" i="0" u="none" strike="noStrike" kern="1200" dirty="0">
              <a:solidFill>
                <a:schemeClr val="tx1"/>
              </a:solidFill>
              <a:effectLst/>
              <a:latin typeface="+mn-lt"/>
              <a:ea typeface="+mn-ea"/>
              <a:cs typeface="+mn-cs"/>
            </a:endParaRPr>
          </a:p>
          <a:p>
            <a:r>
              <a:rPr lang="en-US" dirty="0"/>
              <a:t>The first group consists of backward selection approaches, which iteratively remove predictors based on different criteria: in our case, variables are removed if their p-value exceeds 0.157, or if removing them improves model fit according to AIC or BIC</a:t>
            </a:r>
          </a:p>
          <a:p>
            <a:endParaRPr lang="en-US" dirty="0"/>
          </a:p>
          <a:p>
            <a:r>
              <a:rPr lang="en-US" dirty="0"/>
              <a:t>The second group consists of penalized regression methods, including LASSO, which applies a penalty that can shrink coefficients to zero, and elastic net, that uses a combination of penalties is said to perform better when predictors are highly correlated.</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both, the tuning parameter lambda will be selected by 10-fold cross-validation, and two lambdas will be investigated, one that minimizes CV prediction error and a more conservative choice within 1 SE of that minimum.</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l-GR" b="1" dirty="0"/>
              <a:t>λ_</a:t>
            </a:r>
            <a:r>
              <a:rPr lang="en-US" b="1" dirty="0"/>
              <a:t>min</a:t>
            </a:r>
            <a:r>
              <a:rPr lang="en-US" dirty="0"/>
              <a:t> → higher FP, lower FN (misses)</a:t>
            </a:r>
            <a:br>
              <a:rPr lang="en-US" dirty="0"/>
            </a:br>
            <a:r>
              <a:rPr lang="el-GR" b="1" dirty="0"/>
              <a:t>λ_1</a:t>
            </a:r>
            <a:r>
              <a:rPr lang="en-US" b="1" dirty="0"/>
              <a:t>se</a:t>
            </a:r>
            <a:r>
              <a:rPr lang="en-US" dirty="0"/>
              <a:t> → lower FP, higher FN</a:t>
            </a:r>
          </a:p>
          <a:p>
            <a:endParaRPr lang="en-US" sz="1200" kern="1200" dirty="0">
              <a:solidFill>
                <a:schemeClr val="tx1"/>
              </a:solidFill>
              <a:effectLst/>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8FFD2A8B-BCD5-3141-A454-1E72234D25CF}" type="slidenum">
              <a:rPr lang="en-US" smtClean="0"/>
              <a:t>3</a:t>
            </a:fld>
            <a:endParaRPr lang="en-US"/>
          </a:p>
        </p:txBody>
      </p:sp>
    </p:spTree>
    <p:extLst>
      <p:ext uri="{BB962C8B-B14F-4D97-AF65-F5344CB8AC3E}">
        <p14:creationId xmlns:p14="http://schemas.microsoft.com/office/powerpoint/2010/main" val="4156645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0"/>
            <a:r>
              <a:rPr lang="en-US" sz="1200" b="0" i="0" u="none" strike="noStrike" kern="1200" dirty="0">
                <a:solidFill>
                  <a:schemeClr val="tx1"/>
                </a:solidFill>
                <a:effectLst/>
                <a:latin typeface="+mn-lt"/>
                <a:ea typeface="+mn-ea"/>
                <a:cs typeface="+mn-cs"/>
              </a:rPr>
              <a:t>For the simulation workflow, we will generate a dataset, fit the full model with all 20 predictors, and apply each selection method to obtain a final variable set. </a:t>
            </a:r>
          </a:p>
          <a:p>
            <a:pPr lvl="0"/>
            <a:r>
              <a:rPr lang="en-US" sz="1200" b="0" i="0" u="none" strike="noStrike" kern="1200" dirty="0">
                <a:solidFill>
                  <a:schemeClr val="tx1"/>
                </a:solidFill>
                <a:effectLst/>
                <a:latin typeface="+mn-lt"/>
                <a:ea typeface="+mn-ea"/>
                <a:cs typeface="+mn-cs"/>
              </a:rPr>
              <a:t>We then refit the model using only the selected variables so we can compare </a:t>
            </a:r>
            <a:r>
              <a:rPr lang="en-US" b="0" dirty="0"/>
              <a:t>estimates to the true </a:t>
            </a:r>
            <a:r>
              <a:rPr lang="el-GR" b="0" dirty="0"/>
              <a:t>β </a:t>
            </a:r>
            <a:r>
              <a:rPr lang="en-US" b="0" dirty="0"/>
              <a:t>values</a:t>
            </a:r>
          </a:p>
          <a:p>
            <a:pPr lvl="0"/>
            <a:endParaRPr lang="en-US" sz="1200" b="0" i="0" u="none" strike="noStrike" kern="1200" dirty="0">
              <a:solidFill>
                <a:schemeClr val="tx1"/>
              </a:solidFill>
              <a:effectLst/>
              <a:latin typeface="+mn-lt"/>
              <a:ea typeface="+mn-ea"/>
              <a:cs typeface="+mn-cs"/>
            </a:endParaRPr>
          </a:p>
          <a:p>
            <a:pPr lvl="0"/>
            <a:r>
              <a:rPr lang="en-US" sz="1200" b="0" i="0" u="none" strike="noStrike" kern="1200" dirty="0">
                <a:solidFill>
                  <a:schemeClr val="tx1"/>
                </a:solidFill>
                <a:effectLst/>
                <a:latin typeface="+mn-lt"/>
                <a:ea typeface="+mn-ea"/>
                <a:cs typeface="+mn-cs"/>
              </a:rPr>
              <a:t>This process repeats 10,000 times per scenario, and results will be summarized as averages across iterations.</a:t>
            </a:r>
          </a:p>
          <a:p>
            <a:pPr lvl="0"/>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Each Methods Performance will be assessed across two areas. </a:t>
            </a:r>
            <a:r>
              <a:rPr lang="en-US" dirty="0"/>
              <a:t>For variable selection, we evaluate how well each method identifies true predictors and avoids selecting null variables, using measures like sensitivity and false positive rate, along with mean model size as a measure of complexity</a:t>
            </a:r>
          </a:p>
          <a:p>
            <a:pPr lvl="0"/>
            <a:endParaRPr lang="en-US" sz="1200" dirty="0">
              <a:solidFill>
                <a:schemeClr val="bg1"/>
              </a:solidFill>
            </a:endParaRPr>
          </a:p>
          <a:p>
            <a:pPr lvl="0"/>
            <a:r>
              <a:rPr lang="en-US" sz="1200" dirty="0">
                <a:solidFill>
                  <a:schemeClr val="bg1"/>
                </a:solidFill>
              </a:rPr>
              <a:t>For estimation, we evaluate bias, 95% CI coverage, and Type I and Type II error rates. - with the key detail</a:t>
            </a:r>
          </a:p>
          <a:p>
            <a:pPr lvl="0"/>
            <a:r>
              <a:rPr lang="en-US" sz="1200" dirty="0">
                <a:solidFill>
                  <a:schemeClr val="bg1"/>
                </a:solidFill>
              </a:rPr>
              <a:t>That any variable that is not selected (true or not) will have its estimate treated as zero, which adds to bias and counts as non-coverage.</a:t>
            </a:r>
          </a:p>
          <a:p>
            <a:endParaRPr lang="en-US" dirty="0"/>
          </a:p>
          <a:p>
            <a:r>
              <a:rPr lang="en-US" sz="1200" b="0" i="0" u="none" strike="noStrike" kern="1200" dirty="0">
                <a:solidFill>
                  <a:schemeClr val="tx1"/>
                </a:solidFill>
                <a:effectLst/>
                <a:latin typeface="+mn-lt"/>
                <a:ea typeface="+mn-ea"/>
                <a:cs typeface="+mn-cs"/>
              </a:rPr>
              <a:t>Once all simulations are complete, results will be summarized using tables and plots like the examples shown here,</a:t>
            </a:r>
            <a:endParaRPr lang="en-US" dirty="0"/>
          </a:p>
        </p:txBody>
      </p:sp>
      <p:sp>
        <p:nvSpPr>
          <p:cNvPr id="4" name="Slide Number Placeholder 3"/>
          <p:cNvSpPr>
            <a:spLocks noGrp="1"/>
          </p:cNvSpPr>
          <p:nvPr>
            <p:ph type="sldNum" sz="quarter" idx="5"/>
          </p:nvPr>
        </p:nvSpPr>
        <p:spPr/>
        <p:txBody>
          <a:bodyPr/>
          <a:lstStyle/>
          <a:p>
            <a:fld id="{8FFD2A8B-BCD5-3141-A454-1E72234D25CF}" type="slidenum">
              <a:rPr lang="en-US" smtClean="0"/>
              <a:t>4</a:t>
            </a:fld>
            <a:endParaRPr lang="en-US"/>
          </a:p>
        </p:txBody>
      </p:sp>
    </p:spTree>
    <p:extLst>
      <p:ext uri="{BB962C8B-B14F-4D97-AF65-F5344CB8AC3E}">
        <p14:creationId xmlns:p14="http://schemas.microsoft.com/office/powerpoint/2010/main" val="1258638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5/4/26</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5/4/26</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a:p>
        </p:txBody>
      </p:sp>
      <p:sp>
        <p:nvSpPr>
          <p:cNvPr id="3" name="object 3"/>
          <p:cNvSpPr txBox="1"/>
          <p:nvPr/>
        </p:nvSpPr>
        <p:spPr>
          <a:xfrm>
            <a:off x="1271464" y="1628800"/>
            <a:ext cx="8640960" cy="2023054"/>
          </a:xfrm>
          <a:prstGeom prst="rect">
            <a:avLst/>
          </a:prstGeom>
        </p:spPr>
        <p:txBody>
          <a:bodyPr vert="horz" wrap="square" lIns="0" tIns="0" rIns="0" bIns="0" rtlCol="0">
            <a:spAutoFit/>
          </a:bodyPr>
          <a:lstStyle/>
          <a:p>
            <a:pPr marL="1279779" marR="0" algn="ctr">
              <a:lnSpc>
                <a:spcPts val="8163"/>
              </a:lnSpc>
              <a:spcBef>
                <a:spcPts val="0"/>
              </a:spcBef>
              <a:spcAft>
                <a:spcPts val="0"/>
              </a:spcAft>
            </a:pPr>
            <a:r>
              <a:rPr lang="en-US" sz="5400" dirty="0">
                <a:solidFill>
                  <a:srgbClr val="191B0E"/>
                </a:solidFill>
                <a:latin typeface="+mj-lt"/>
                <a:cs typeface="PWMWTI+FranklinGothic-Book"/>
              </a:rPr>
              <a:t>Project 4 :</a:t>
            </a:r>
          </a:p>
          <a:p>
            <a:pPr marL="1279779" marR="0" algn="ctr">
              <a:lnSpc>
                <a:spcPts val="8163"/>
              </a:lnSpc>
              <a:spcBef>
                <a:spcPts val="0"/>
              </a:spcBef>
              <a:spcAft>
                <a:spcPts val="0"/>
              </a:spcAft>
            </a:pPr>
            <a:r>
              <a:rPr lang="en-US" sz="5400" dirty="0">
                <a:solidFill>
                  <a:srgbClr val="191B0E"/>
                </a:solidFill>
                <a:latin typeface="+mj-lt"/>
                <a:cs typeface="PWMWTI+FranklinGothic-Book"/>
              </a:rPr>
              <a:t>Interim </a:t>
            </a:r>
            <a:r>
              <a:rPr lang="en-US" sz="5400" spc="-75" dirty="0">
                <a:solidFill>
                  <a:srgbClr val="191B0E"/>
                </a:solidFill>
                <a:latin typeface="+mj-lt"/>
                <a:cs typeface="PWMWTI+FranklinGothic-Book"/>
              </a:rPr>
              <a:t>Data Analysis Plan</a:t>
            </a:r>
            <a:endParaRPr sz="5400" spc="-75" dirty="0">
              <a:solidFill>
                <a:srgbClr val="191B0E"/>
              </a:solidFill>
              <a:latin typeface="+mj-lt"/>
              <a:cs typeface="PWMWTI+FranklinGothic-Book"/>
            </a:endParaRPr>
          </a:p>
        </p:txBody>
      </p:sp>
      <p:sp>
        <p:nvSpPr>
          <p:cNvPr id="4" name="object 4"/>
          <p:cNvSpPr txBox="1"/>
          <p:nvPr/>
        </p:nvSpPr>
        <p:spPr>
          <a:xfrm>
            <a:off x="5083629" y="4095852"/>
            <a:ext cx="2024742" cy="730969"/>
          </a:xfrm>
          <a:prstGeom prst="rect">
            <a:avLst/>
          </a:prstGeom>
        </p:spPr>
        <p:txBody>
          <a:bodyPr vert="horz" wrap="square" lIns="0" tIns="0" rIns="0" bIns="0" rtlCol="0">
            <a:spAutoFit/>
          </a:bodyPr>
          <a:lstStyle/>
          <a:p>
            <a:pPr marL="0" marR="0">
              <a:lnSpc>
                <a:spcPts val="2612"/>
              </a:lnSpc>
              <a:spcBef>
                <a:spcPts val="0"/>
              </a:spcBef>
              <a:spcAft>
                <a:spcPts val="0"/>
              </a:spcAft>
            </a:pPr>
            <a:r>
              <a:rPr lang="en-US" sz="2300" dirty="0">
                <a:solidFill>
                  <a:srgbClr val="191B0E"/>
                </a:solidFill>
                <a:latin typeface="PWMWTI+FranklinGothic-Book"/>
                <a:cs typeface="PWMWTI+FranklinGothic-Book"/>
              </a:rPr>
              <a:t>Ryan Summers</a:t>
            </a:r>
            <a:endParaRPr sz="2300" dirty="0">
              <a:solidFill>
                <a:srgbClr val="191B0E"/>
              </a:solidFill>
              <a:latin typeface="PWMWTI+FranklinGothic-Book"/>
              <a:cs typeface="PWMWTI+FranklinGothic-Book"/>
            </a:endParaRPr>
          </a:p>
          <a:p>
            <a:pPr marL="77914" marR="0" algn="ctr">
              <a:lnSpc>
                <a:spcPts val="2612"/>
              </a:lnSpc>
              <a:spcBef>
                <a:spcPts val="459"/>
              </a:spcBef>
              <a:spcAft>
                <a:spcPts val="0"/>
              </a:spcAft>
            </a:pPr>
            <a:r>
              <a:rPr lang="en-US" sz="2300" spc="-13" dirty="0">
                <a:solidFill>
                  <a:srgbClr val="191B0E"/>
                </a:solidFill>
                <a:latin typeface="PWMWTI+FranklinGothic-Book"/>
                <a:cs typeface="PWMWTI+FranklinGothic-Book"/>
              </a:rPr>
              <a:t>5/4/26</a:t>
            </a:r>
            <a:endParaRPr sz="2300" spc="-13" dirty="0">
              <a:solidFill>
                <a:srgbClr val="191B0E"/>
              </a:solidFill>
              <a:latin typeface="PWMWTI+FranklinGothic-Book"/>
              <a:cs typeface="PWMWTI+FranklinGothic-Boo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a:p>
        </p:txBody>
      </p:sp>
      <p:sp>
        <p:nvSpPr>
          <p:cNvPr id="3" name="object 3"/>
          <p:cNvSpPr txBox="1"/>
          <p:nvPr/>
        </p:nvSpPr>
        <p:spPr>
          <a:xfrm>
            <a:off x="1127448" y="260648"/>
            <a:ext cx="10321592"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spc="-21" dirty="0">
                <a:solidFill>
                  <a:srgbClr val="181A0D"/>
                </a:solidFill>
                <a:latin typeface="+mj-lt"/>
                <a:cs typeface="WPQCJM+FranklinGothic-Book"/>
              </a:rPr>
              <a:t>Research</a:t>
            </a:r>
            <a:r>
              <a:rPr sz="4400" spc="21" dirty="0">
                <a:solidFill>
                  <a:srgbClr val="181A0D"/>
                </a:solidFill>
                <a:latin typeface="+mj-lt"/>
                <a:cs typeface="WPQCJM+FranklinGothic-Book"/>
              </a:rPr>
              <a:t> </a:t>
            </a:r>
            <a:r>
              <a:rPr sz="4400" dirty="0">
                <a:solidFill>
                  <a:srgbClr val="181A0D"/>
                </a:solidFill>
                <a:latin typeface="+mj-lt"/>
                <a:cs typeface="WPQCJM+FranklinGothic-Book"/>
              </a:rPr>
              <a:t>Question</a:t>
            </a:r>
            <a:r>
              <a:rPr lang="en-US" sz="4400" dirty="0">
                <a:solidFill>
                  <a:srgbClr val="181A0D"/>
                </a:solidFill>
                <a:latin typeface="+mj-lt"/>
                <a:cs typeface="WPQCJM+FranklinGothic-Book"/>
              </a:rPr>
              <a:t> / Aims</a:t>
            </a:r>
            <a:endParaRPr sz="4400" dirty="0">
              <a:solidFill>
                <a:srgbClr val="181A0D"/>
              </a:solidFill>
              <a:latin typeface="+mj-lt"/>
              <a:cs typeface="WPQCJM+FranklinGothic-Book"/>
            </a:endParaRPr>
          </a:p>
        </p:txBody>
      </p:sp>
      <p:sp>
        <p:nvSpPr>
          <p:cNvPr id="4" name="object 4"/>
          <p:cNvSpPr txBox="1"/>
          <p:nvPr/>
        </p:nvSpPr>
        <p:spPr>
          <a:xfrm>
            <a:off x="1127448" y="1628800"/>
            <a:ext cx="9265920" cy="3244478"/>
          </a:xfrm>
          <a:prstGeom prst="rect">
            <a:avLst/>
          </a:prstGeom>
        </p:spPr>
        <p:txBody>
          <a:bodyPr vert="horz" wrap="square" lIns="0" tIns="0" rIns="0" bIns="0" rtlCol="0">
            <a:spAutoFit/>
          </a:bodyPr>
          <a:lstStyle/>
          <a:p>
            <a:pPr marL="285750" indent="-285750">
              <a:lnSpc>
                <a:spcPts val="2258"/>
              </a:lnSpc>
              <a:buFont typeface="Wingdings" pitchFamily="2" charset="2"/>
              <a:buChar char="q"/>
            </a:pPr>
            <a:r>
              <a:rPr lang="en-US" sz="2000" dirty="0"/>
              <a:t>How do different variable selection methods perform in including true predictors and excluding irrelevant predictors in linear regression models under varying sample sizes and levels of variable correlation</a:t>
            </a:r>
          </a:p>
          <a:p>
            <a:pPr>
              <a:lnSpc>
                <a:spcPts val="2258"/>
              </a:lnSpc>
            </a:pPr>
            <a:endParaRPr lang="en-US" sz="2000" dirty="0"/>
          </a:p>
          <a:p>
            <a:pPr>
              <a:lnSpc>
                <a:spcPts val="2258"/>
              </a:lnSpc>
            </a:pPr>
            <a:endParaRPr lang="en-US" sz="2000" dirty="0">
              <a:solidFill>
                <a:srgbClr val="181A0D"/>
              </a:solidFill>
              <a:latin typeface="WPQCJM+FranklinGothic-Book"/>
              <a:cs typeface="WPQCJM+FranklinGothic-Book"/>
            </a:endParaRPr>
          </a:p>
          <a:p>
            <a:pPr>
              <a:lnSpc>
                <a:spcPts val="2258"/>
              </a:lnSpc>
            </a:pPr>
            <a:endParaRPr lang="en-US" sz="2000" dirty="0">
              <a:solidFill>
                <a:srgbClr val="181A0D"/>
              </a:solidFill>
              <a:latin typeface="WPQCJM+FranklinGothic-Book"/>
              <a:cs typeface="WPQCJM+FranklinGothic-Book"/>
            </a:endParaRPr>
          </a:p>
          <a:p>
            <a:pPr>
              <a:lnSpc>
                <a:spcPts val="2258"/>
              </a:lnSpc>
            </a:pPr>
            <a:r>
              <a:rPr lang="en-US" sz="2400" b="1" dirty="0">
                <a:solidFill>
                  <a:srgbClr val="181A0D"/>
                </a:solidFill>
                <a:cs typeface="WPQCJM+FranklinGothic-Book"/>
              </a:rPr>
              <a:t>Aims:</a:t>
            </a:r>
          </a:p>
          <a:p>
            <a:pPr marL="800100" lvl="1" indent="-342900">
              <a:lnSpc>
                <a:spcPts val="2258"/>
              </a:lnSpc>
              <a:buFont typeface="Wingdings" pitchFamily="2" charset="2"/>
              <a:buChar char="Ø"/>
            </a:pPr>
            <a:r>
              <a:rPr lang="en-US" sz="2000" dirty="0">
                <a:solidFill>
                  <a:srgbClr val="181A0D"/>
                </a:solidFill>
                <a:cs typeface="WPQCJM+FranklinGothic-Book"/>
              </a:rPr>
              <a:t>Compare variable selection accuracy across selection methods</a:t>
            </a:r>
          </a:p>
          <a:p>
            <a:pPr marL="800100" lvl="1" indent="-342900">
              <a:lnSpc>
                <a:spcPts val="2258"/>
              </a:lnSpc>
              <a:buFont typeface="Wingdings" pitchFamily="2" charset="2"/>
              <a:buChar char="Ø"/>
            </a:pPr>
            <a:r>
              <a:rPr lang="en-US" sz="2000" dirty="0">
                <a:solidFill>
                  <a:srgbClr val="181A0D"/>
                </a:solidFill>
                <a:cs typeface="WPQCJM+FranklinGothic-Book"/>
              </a:rPr>
              <a:t>Evaluate coefficient estimation performance (bias, CI coverage)</a:t>
            </a:r>
          </a:p>
          <a:p>
            <a:pPr marL="800100" lvl="1" indent="-342900">
              <a:lnSpc>
                <a:spcPts val="2258"/>
              </a:lnSpc>
              <a:buFont typeface="Wingdings" pitchFamily="2" charset="2"/>
              <a:buChar char="Ø"/>
            </a:pPr>
            <a:r>
              <a:rPr lang="en-US" sz="2000" dirty="0">
                <a:solidFill>
                  <a:srgbClr val="181A0D"/>
                </a:solidFill>
                <a:cs typeface="WPQCJM+FranklinGothic-Book"/>
              </a:rPr>
              <a:t>Assess Type I &amp; II error post-model selection</a:t>
            </a:r>
          </a:p>
          <a:p>
            <a:pPr>
              <a:lnSpc>
                <a:spcPts val="2258"/>
              </a:lnSpc>
            </a:pPr>
            <a:endParaRPr lang="en-US" sz="2000" dirty="0">
              <a:solidFill>
                <a:srgbClr val="181A0D"/>
              </a:solidFill>
              <a:cs typeface="WPQCJM+FranklinGothic-Boo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p:cNvSpPr txBox="1"/>
          <p:nvPr/>
        </p:nvSpPr>
        <p:spPr>
          <a:xfrm>
            <a:off x="1055440" y="244403"/>
            <a:ext cx="9433048" cy="641201"/>
          </a:xfrm>
          <a:prstGeom prst="rect">
            <a:avLst/>
          </a:prstGeom>
        </p:spPr>
        <p:txBody>
          <a:bodyPr vert="horz" wrap="square" lIns="0" tIns="0" rIns="0" bIns="0" rtlCol="0">
            <a:spAutoFit/>
          </a:bodyPr>
          <a:lstStyle/>
          <a:p>
            <a:pPr marL="0" marR="0">
              <a:lnSpc>
                <a:spcPts val="4979"/>
              </a:lnSpc>
              <a:spcBef>
                <a:spcPts val="0"/>
              </a:spcBef>
              <a:spcAft>
                <a:spcPts val="0"/>
              </a:spcAft>
            </a:pPr>
            <a:r>
              <a:rPr lang="en-US" sz="4400" dirty="0">
                <a:solidFill>
                  <a:srgbClr val="181A0D"/>
                </a:solidFill>
                <a:latin typeface="+mj-lt"/>
                <a:cs typeface="VTCKGD+FranklinGothic-Book"/>
              </a:rPr>
              <a:t>Design &amp; Methods</a:t>
            </a:r>
            <a:endParaRPr sz="4400" dirty="0">
              <a:solidFill>
                <a:srgbClr val="181A0D"/>
              </a:solidFill>
              <a:latin typeface="+mj-lt"/>
              <a:cs typeface="VTCKGD+FranklinGothic-Book"/>
            </a:endParaRPr>
          </a:p>
        </p:txBody>
      </p:sp>
      <mc:AlternateContent xmlns:mc="http://schemas.openxmlformats.org/markup-compatibility/2006" xmlns:a14="http://schemas.microsoft.com/office/drawing/2010/main">
        <mc:Choice Requires="a14">
          <p:sp>
            <p:nvSpPr>
              <p:cNvPr id="16" name="object 4">
                <a:extLst>
                  <a:ext uri="{FF2B5EF4-FFF2-40B4-BE49-F238E27FC236}">
                    <a16:creationId xmlns:a16="http://schemas.microsoft.com/office/drawing/2014/main" id="{374F020B-F79C-7A71-C268-57FB6096B43E}"/>
                  </a:ext>
                </a:extLst>
              </p:cNvPr>
              <p:cNvSpPr txBox="1"/>
              <p:nvPr/>
            </p:nvSpPr>
            <p:spPr>
              <a:xfrm>
                <a:off x="7824192" y="1130007"/>
                <a:ext cx="4104456" cy="4732065"/>
              </a:xfrm>
              <a:prstGeom prst="rect">
                <a:avLst/>
              </a:prstGeom>
            </p:spPr>
            <p:txBody>
              <a:bodyPr vert="horz" wrap="square" lIns="0" tIns="0" rIns="0" bIns="0" rtlCol="0">
                <a:spAutoFit/>
              </a:bodyPr>
              <a:lstStyle/>
              <a:p>
                <a:pPr>
                  <a:lnSpc>
                    <a:spcPts val="2258"/>
                  </a:lnSpc>
                </a:pPr>
                <a:endParaRPr lang="en-US" sz="2400" b="1" dirty="0">
                  <a:solidFill>
                    <a:srgbClr val="181A0D"/>
                  </a:solidFill>
                  <a:cs typeface="WPQCJM+FranklinGothic-Book"/>
                </a:endParaRPr>
              </a:p>
              <a:p>
                <a:pPr>
                  <a:lnSpc>
                    <a:spcPts val="2258"/>
                  </a:lnSpc>
                </a:pPr>
                <a:r>
                  <a:rPr lang="en-US" sz="2400" b="1" dirty="0">
                    <a:solidFill>
                      <a:srgbClr val="181A0D"/>
                    </a:solidFill>
                    <a:cs typeface="WPQCJM+FranklinGothic-Book"/>
                  </a:rPr>
                  <a:t>Backward Selection:</a:t>
                </a:r>
              </a:p>
              <a:p>
                <a:pPr marL="800100" lvl="1" indent="-342900">
                  <a:lnSpc>
                    <a:spcPts val="2258"/>
                  </a:lnSpc>
                  <a:buFont typeface="Wingdings" pitchFamily="2" charset="2"/>
                  <a:buChar char="Ø"/>
                </a:pPr>
                <a:r>
                  <a:rPr lang="en-US" sz="2000" dirty="0">
                    <a:solidFill>
                      <a:srgbClr val="181A0D"/>
                    </a:solidFill>
                    <a:cs typeface="WPQCJM+FranklinGothic-Book"/>
                  </a:rPr>
                  <a:t>P-value/F-test (α=0.157)</a:t>
                </a:r>
              </a:p>
              <a:p>
                <a:pPr marL="800100" lvl="1" indent="-342900">
                  <a:lnSpc>
                    <a:spcPts val="2258"/>
                  </a:lnSpc>
                  <a:buFont typeface="Wingdings" pitchFamily="2" charset="2"/>
                  <a:buChar char="Ø"/>
                </a:pPr>
                <a:r>
                  <a:rPr lang="en-US" sz="2000" dirty="0">
                    <a:solidFill>
                      <a:srgbClr val="181A0D"/>
                    </a:solidFill>
                    <a:cs typeface="WPQCJM+FranklinGothic-Book"/>
                  </a:rPr>
                  <a:t>AIC (MASS package)</a:t>
                </a:r>
              </a:p>
              <a:p>
                <a:pPr marL="800100" lvl="1" indent="-342900">
                  <a:lnSpc>
                    <a:spcPts val="2258"/>
                  </a:lnSpc>
                  <a:buFont typeface="Wingdings" pitchFamily="2" charset="2"/>
                  <a:buChar char="Ø"/>
                </a:pPr>
                <a:r>
                  <a:rPr lang="en-US" sz="2000" dirty="0">
                    <a:solidFill>
                      <a:srgbClr val="181A0D"/>
                    </a:solidFill>
                    <a:cs typeface="WPQCJM+FranklinGothic-Book"/>
                  </a:rPr>
                  <a:t>BIC (</a:t>
                </a:r>
                <a:r>
                  <a:rPr lang="en-US" sz="2000" dirty="0"/>
                  <a:t>MASS package)</a:t>
                </a:r>
              </a:p>
              <a:p>
                <a:pPr marL="800100" lvl="1" indent="-342900">
                  <a:lnSpc>
                    <a:spcPts val="2258"/>
                  </a:lnSpc>
                  <a:buFont typeface="Wingdings" pitchFamily="2" charset="2"/>
                  <a:buChar char="Ø"/>
                </a:pPr>
                <a:endParaRPr lang="en-US" sz="2000" dirty="0">
                  <a:solidFill>
                    <a:srgbClr val="181A0D"/>
                  </a:solidFill>
                  <a:cs typeface="WPQCJM+FranklinGothic-Book"/>
                </a:endParaRPr>
              </a:p>
              <a:p>
                <a:pPr lvl="1">
                  <a:lnSpc>
                    <a:spcPts val="2258"/>
                  </a:lnSpc>
                </a:pPr>
                <a:endParaRPr lang="en-US" sz="2000" dirty="0">
                  <a:solidFill>
                    <a:srgbClr val="181A0D"/>
                  </a:solidFill>
                  <a:cs typeface="WPQCJM+FranklinGothic-Book"/>
                </a:endParaRPr>
              </a:p>
              <a:p>
                <a:pPr>
                  <a:lnSpc>
                    <a:spcPts val="2258"/>
                  </a:lnSpc>
                </a:pPr>
                <a:r>
                  <a:rPr lang="en-US" sz="2400" b="1" dirty="0">
                    <a:solidFill>
                      <a:srgbClr val="181A0D"/>
                    </a:solidFill>
                    <a:cs typeface="WPQCJM+FranklinGothic-Book"/>
                  </a:rPr>
                  <a:t>Penalized Regression:</a:t>
                </a:r>
              </a:p>
              <a:p>
                <a:pPr marL="800100" lvl="1" indent="-342900">
                  <a:lnSpc>
                    <a:spcPts val="2258"/>
                  </a:lnSpc>
                  <a:buFont typeface="Wingdings" pitchFamily="2" charset="2"/>
                  <a:buChar char="Ø"/>
                </a:pPr>
                <a:r>
                  <a:rPr lang="en-US" sz="2000" dirty="0">
                    <a:solidFill>
                      <a:srgbClr val="181A0D"/>
                    </a:solidFill>
                    <a:cs typeface="WPQCJM+FranklinGothic-Book"/>
                  </a:rPr>
                  <a:t>LASSO (</a:t>
                </a:r>
                <a14:m>
                  <m:oMath xmlns:m="http://schemas.openxmlformats.org/officeDocument/2006/math">
                    <m:sSub>
                      <m:sSubPr>
                        <m:ctrlPr>
                          <a:rPr lang="ar-AE" sz="2000" i="1" smtClean="0">
                            <a:latin typeface="Cambria Math" panose="02040503050406030204" pitchFamily="18" charset="0"/>
                          </a:rPr>
                        </m:ctrlPr>
                      </m:sSubPr>
                      <m:e>
                        <m:r>
                          <a:rPr lang="ar-AE" sz="2000" i="1">
                            <a:latin typeface="Cambria Math" panose="02040503050406030204" pitchFamily="18" charset="0"/>
                          </a:rPr>
                          <m:t>𝐿</m:t>
                        </m:r>
                      </m:e>
                      <m:sub>
                        <m:r>
                          <a:rPr lang="ar-AE" sz="2000" i="1">
                            <a:latin typeface="Cambria Math" panose="02040503050406030204" pitchFamily="18" charset="0"/>
                          </a:rPr>
                          <m:t>1</m:t>
                        </m:r>
                      </m:sub>
                    </m:sSub>
                    <m:r>
                      <a:rPr lang="en-US" sz="2000" b="0" i="0" smtClean="0">
                        <a:latin typeface="Cambria Math" panose="02040503050406030204" pitchFamily="18" charset="0"/>
                      </a:rPr>
                      <m:t>)</m:t>
                    </m:r>
                  </m:oMath>
                </a14:m>
                <a:endParaRPr lang="ar-AE" sz="2000" dirty="0">
                  <a:solidFill>
                    <a:srgbClr val="181A0D"/>
                  </a:solidFill>
                  <a:cs typeface="WPQCJM+FranklinGothic-Book"/>
                </a:endParaRPr>
              </a:p>
              <a:p>
                <a:pPr marL="800100" lvl="1" indent="-342900">
                  <a:lnSpc>
                    <a:spcPts val="2258"/>
                  </a:lnSpc>
                  <a:buFont typeface="Wingdings" pitchFamily="2" charset="2"/>
                  <a:buChar char="Ø"/>
                </a:pPr>
                <a:r>
                  <a:rPr lang="en-US" sz="2000" dirty="0">
                    <a:solidFill>
                      <a:srgbClr val="181A0D"/>
                    </a:solidFill>
                    <a:cs typeface="WPQCJM+FranklinGothic-Book"/>
                  </a:rPr>
                  <a:t>Elastic Net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𝐿</m:t>
                        </m:r>
                      </m:e>
                      <m:sub>
                        <m:r>
                          <a:rPr lang="ar-AE" sz="2000" i="1">
                            <a:latin typeface="Cambria Math" panose="02040503050406030204" pitchFamily="18" charset="0"/>
                          </a:rPr>
                          <m:t>1</m:t>
                        </m:r>
                      </m:sub>
                    </m:sSub>
                  </m:oMath>
                </a14:m>
                <a:r>
                  <a:rPr lang="ar-AE" sz="2000" dirty="0"/>
                  <a:t> +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𝐿</m:t>
                        </m:r>
                      </m:e>
                      <m:sub>
                        <m:r>
                          <a:rPr lang="ar-AE" sz="2000" i="1">
                            <a:latin typeface="Cambria Math" panose="02040503050406030204" pitchFamily="18" charset="0"/>
                          </a:rPr>
                          <m:t>2</m:t>
                        </m:r>
                      </m:sub>
                    </m:sSub>
                  </m:oMath>
                </a14:m>
                <a:r>
                  <a:rPr lang="ar-AE" sz="2000" dirty="0"/>
                  <a:t> , </a:t>
                </a:r>
                <a:r>
                  <a:rPr lang="el-GR" sz="2000" dirty="0"/>
                  <a:t>α</a:t>
                </a:r>
                <a:r>
                  <a:rPr lang="en-US" sz="2000" dirty="0"/>
                  <a:t>=0.5</a:t>
                </a:r>
                <a:r>
                  <a:rPr lang="el-GR" sz="2000" dirty="0"/>
                  <a:t>)</a:t>
                </a:r>
              </a:p>
              <a:p>
                <a:pPr marL="800100" lvl="1" indent="-342900">
                  <a:lnSpc>
                    <a:spcPts val="2258"/>
                  </a:lnSpc>
                  <a:buFont typeface="Wingdings" pitchFamily="2" charset="2"/>
                  <a:buChar char="Ø"/>
                </a:pPr>
                <a:r>
                  <a:rPr lang="el-GR" sz="2000" dirty="0">
                    <a:solidFill>
                      <a:srgbClr val="181A0D"/>
                    </a:solidFill>
                    <a:cs typeface="WPQCJM+FranklinGothic-Book"/>
                  </a:rPr>
                  <a:t>λ </a:t>
                </a:r>
                <a:r>
                  <a:rPr lang="en-US" sz="2000" dirty="0">
                    <a:solidFill>
                      <a:srgbClr val="181A0D"/>
                    </a:solidFill>
                    <a:cs typeface="WPQCJM+FranklinGothic-Book"/>
                  </a:rPr>
                  <a:t>selected via 10-fold CV</a:t>
                </a:r>
              </a:p>
              <a:p>
                <a:pPr marL="1257300" lvl="2" indent="-342900">
                  <a:lnSpc>
                    <a:spcPts val="2258"/>
                  </a:lnSpc>
                  <a:buFont typeface="Wingdings" pitchFamily="2" charset="2"/>
                  <a:buChar char="§"/>
                </a:pPr>
                <a14:m>
                  <m:oMath xmlns:m="http://schemas.openxmlformats.org/officeDocument/2006/math">
                    <m:sSub>
                      <m:sSubPr>
                        <m:ctrlPr>
                          <a:rPr lang="ar-AE" sz="2000" i="1">
                            <a:latin typeface="Cambria Math" panose="02040503050406030204" pitchFamily="18" charset="0"/>
                          </a:rPr>
                        </m:ctrlPr>
                      </m:sSubPr>
                      <m:e>
                        <m:r>
                          <a:rPr lang="ar-AE" sz="2000" b="0" i="1">
                            <a:latin typeface="Cambria Math" panose="02040503050406030204" pitchFamily="18" charset="0"/>
                          </a:rPr>
                          <m:t>𝜆</m:t>
                        </m:r>
                      </m:e>
                      <m:sub>
                        <m:r>
                          <a:rPr lang="ar-AE" sz="2000" b="0" i="1">
                            <a:latin typeface="Cambria Math" panose="02040503050406030204" pitchFamily="18" charset="0"/>
                          </a:rPr>
                          <m:t>𝑚𝑖𝑛</m:t>
                        </m:r>
                      </m:sub>
                    </m:sSub>
                  </m:oMath>
                </a14:m>
                <a:r>
                  <a:rPr lang="ar-AE" sz="2000" dirty="0"/>
                  <a:t>  </a:t>
                </a:r>
                <a:endParaRPr lang="en-US" sz="2000" dirty="0"/>
              </a:p>
              <a:p>
                <a:pPr marL="1257300" lvl="2" indent="-342900">
                  <a:lnSpc>
                    <a:spcPts val="2258"/>
                  </a:lnSpc>
                  <a:buFont typeface="Wingdings" pitchFamily="2" charset="2"/>
                  <a:buChar char="§"/>
                </a:pP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𝜆</m:t>
                        </m:r>
                      </m:e>
                      <m:sub>
                        <m:r>
                          <a:rPr lang="ar-AE" sz="2000" i="1">
                            <a:latin typeface="Cambria Math" panose="02040503050406030204" pitchFamily="18" charset="0"/>
                          </a:rPr>
                          <m:t>1</m:t>
                        </m:r>
                        <m:r>
                          <a:rPr lang="ar-AE" sz="2000" i="1">
                            <a:latin typeface="Cambria Math" panose="02040503050406030204" pitchFamily="18" charset="0"/>
                          </a:rPr>
                          <m:t>𝑠𝑒</m:t>
                        </m:r>
                      </m:sub>
                    </m:sSub>
                  </m:oMath>
                </a14:m>
                <a:endParaRPr lang="ar-AE" sz="2000" dirty="0">
                  <a:solidFill>
                    <a:srgbClr val="181A0D"/>
                  </a:solidFill>
                  <a:cs typeface="WPQCJM+FranklinGothic-Book"/>
                </a:endParaRPr>
              </a:p>
              <a:p>
                <a:pPr lvl="1">
                  <a:lnSpc>
                    <a:spcPts val="2258"/>
                  </a:lnSpc>
                </a:pPr>
                <a:endParaRPr lang="en-US" sz="2000" dirty="0">
                  <a:solidFill>
                    <a:srgbClr val="181A0D"/>
                  </a:solidFill>
                  <a:cs typeface="WPQCJM+FranklinGothic-Book"/>
                </a:endParaRPr>
              </a:p>
              <a:p>
                <a:pPr lvl="1">
                  <a:lnSpc>
                    <a:spcPts val="2258"/>
                  </a:lnSpc>
                </a:pPr>
                <a:endParaRPr lang="en-US" sz="2000" dirty="0">
                  <a:solidFill>
                    <a:srgbClr val="181A0D"/>
                  </a:solidFill>
                  <a:cs typeface="WPQCJM+FranklinGothic-Book"/>
                </a:endParaRPr>
              </a:p>
              <a:p>
                <a:pPr>
                  <a:lnSpc>
                    <a:spcPts val="2258"/>
                  </a:lnSpc>
                </a:pPr>
                <a:endParaRPr lang="en-US" sz="2000" dirty="0">
                  <a:solidFill>
                    <a:srgbClr val="181A0D"/>
                  </a:solidFill>
                  <a:cs typeface="WPQCJM+FranklinGothic-Book"/>
                </a:endParaRPr>
              </a:p>
            </p:txBody>
          </p:sp>
        </mc:Choice>
        <mc:Fallback xmlns="">
          <p:sp>
            <p:nvSpPr>
              <p:cNvPr id="16" name="object 4">
                <a:extLst>
                  <a:ext uri="{FF2B5EF4-FFF2-40B4-BE49-F238E27FC236}">
                    <a16:creationId xmlns:a16="http://schemas.microsoft.com/office/drawing/2014/main" id="{374F020B-F79C-7A71-C268-57FB6096B43E}"/>
                  </a:ext>
                </a:extLst>
              </p:cNvPr>
              <p:cNvSpPr txBox="1">
                <a:spLocks noRot="1" noChangeAspect="1" noMove="1" noResize="1" noEditPoints="1" noAdjustHandles="1" noChangeArrowheads="1" noChangeShapeType="1" noTextEdit="1"/>
              </p:cNvSpPr>
              <p:nvPr/>
            </p:nvSpPr>
            <p:spPr>
              <a:xfrm>
                <a:off x="7824192" y="1130007"/>
                <a:ext cx="4104456" cy="4732065"/>
              </a:xfrm>
              <a:prstGeom prst="rect">
                <a:avLst/>
              </a:prstGeom>
              <a:blipFill>
                <a:blip r:embed="rId4"/>
                <a:stretch>
                  <a:fillRect l="-43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17ECB50-2355-E827-B570-C880457499B5}"/>
                  </a:ext>
                </a:extLst>
              </p:cNvPr>
              <p:cNvSpPr txBox="1"/>
              <p:nvPr/>
            </p:nvSpPr>
            <p:spPr>
              <a:xfrm>
                <a:off x="761425" y="1416279"/>
                <a:ext cx="6064999" cy="3947234"/>
              </a:xfrm>
              <a:prstGeom prst="rect">
                <a:avLst/>
              </a:prstGeom>
              <a:noFill/>
            </p:spPr>
            <p:txBody>
              <a:bodyPr wrap="square" rtlCol="0">
                <a:spAutoFit/>
              </a:bodyPr>
              <a:lstStyle/>
              <a:p>
                <a:pPr>
                  <a:lnSpc>
                    <a:spcPts val="2258"/>
                  </a:lnSpc>
                </a:pPr>
                <a:r>
                  <a:rPr lang="en-US" sz="2400" b="1" dirty="0">
                    <a:solidFill>
                      <a:srgbClr val="181A0D"/>
                    </a:solidFill>
                    <a:cs typeface="WPQCJM+FranklinGothic-Book"/>
                  </a:rPr>
                  <a:t>Simulation Design:</a:t>
                </a:r>
              </a:p>
              <a:p>
                <a:pPr marL="800100" lvl="1" indent="-342900">
                  <a:lnSpc>
                    <a:spcPts val="2258"/>
                  </a:lnSpc>
                  <a:buFont typeface="Wingdings" pitchFamily="2" charset="2"/>
                  <a:buChar char="Ø"/>
                </a:pPr>
                <a:r>
                  <a:rPr lang="en-US" sz="2000" dirty="0">
                    <a:solidFill>
                      <a:srgbClr val="181A0D"/>
                    </a:solidFill>
                  </a:rPr>
                  <a:t>Data generated under Linear Regression using </a:t>
                </a:r>
                <a:r>
                  <a:rPr lang="en-US" sz="2000" dirty="0" err="1">
                    <a:solidFill>
                      <a:srgbClr val="181A0D"/>
                    </a:solidFill>
                  </a:rPr>
                  <a:t>hdrm</a:t>
                </a:r>
                <a:r>
                  <a:rPr lang="en-US" sz="2000" dirty="0">
                    <a:solidFill>
                      <a:srgbClr val="181A0D"/>
                    </a:solidFill>
                  </a:rPr>
                  <a:t>::</a:t>
                </a:r>
                <a:r>
                  <a:rPr lang="en-US" sz="2000" dirty="0" err="1">
                    <a:solidFill>
                      <a:srgbClr val="181A0D"/>
                    </a:solidFill>
                  </a:rPr>
                  <a:t>gen_data</a:t>
                </a:r>
                <a:r>
                  <a:rPr lang="en-US" sz="2000" dirty="0">
                    <a:solidFill>
                      <a:srgbClr val="181A0D"/>
                    </a:solidFill>
                  </a:rPr>
                  <a:t>() </a:t>
                </a:r>
              </a:p>
              <a:p>
                <a:pPr marL="1257300" lvl="2" indent="-342900">
                  <a:lnSpc>
                    <a:spcPts val="2258"/>
                  </a:lnSpc>
                  <a:buFont typeface="Wingdings" pitchFamily="2" charset="2"/>
                  <a:buChar char="§"/>
                </a:pPr>
                <a14:m>
                  <m:oMath xmlns:m="http://schemas.openxmlformats.org/officeDocument/2006/math">
                    <m:r>
                      <a:rPr lang="en-US" sz="2000" i="1">
                        <a:latin typeface="Cambria Math" panose="02040503050406030204" pitchFamily="18" charset="0"/>
                      </a:rPr>
                      <m:t>𝑌</m:t>
                    </m:r>
                    <m:r>
                      <a:rPr lang="en-US" sz="2000">
                        <a:latin typeface="Cambria Math" panose="02040503050406030204" pitchFamily="18" charset="0"/>
                      </a:rPr>
                      <m:t>=</m:t>
                    </m:r>
                    <m:r>
                      <a:rPr lang="en-US" sz="2000" i="1">
                        <a:latin typeface="Cambria Math" panose="02040503050406030204" pitchFamily="18" charset="0"/>
                      </a:rPr>
                      <m:t>𝑋</m:t>
                    </m:r>
                    <m:r>
                      <a:rPr lang="en-US" sz="2000" i="1">
                        <a:latin typeface="Cambria Math" panose="02040503050406030204" pitchFamily="18" charset="0"/>
                      </a:rPr>
                      <m:t>𝛽</m:t>
                    </m:r>
                    <m:r>
                      <a:rPr lang="en-US" sz="2000">
                        <a:latin typeface="Cambria Math" panose="02040503050406030204" pitchFamily="18" charset="0"/>
                      </a:rPr>
                      <m:t>+</m:t>
                    </m:r>
                    <m:r>
                      <a:rPr lang="en-US" sz="2000" i="1">
                        <a:latin typeface="Cambria Math" panose="02040503050406030204" pitchFamily="18" charset="0"/>
                      </a:rPr>
                      <m:t>𝜖</m:t>
                    </m:r>
                  </m:oMath>
                </a14:m>
                <a:r>
                  <a:rPr lang="en-US" sz="2000" dirty="0"/>
                  <a:t> </a:t>
                </a:r>
              </a:p>
              <a:p>
                <a:pPr marL="1257300" lvl="2" indent="-342900">
                  <a:lnSpc>
                    <a:spcPts val="2258"/>
                  </a:lnSpc>
                  <a:buFont typeface="Wingdings" pitchFamily="2" charset="2"/>
                  <a:buChar char="§"/>
                </a:pPr>
                <a14:m>
                  <m:oMath xmlns:m="http://schemas.openxmlformats.org/officeDocument/2006/math">
                    <m:r>
                      <a:rPr lang="en-US" sz="2000" i="1">
                        <a:latin typeface="Cambria Math" panose="02040503050406030204" pitchFamily="18" charset="0"/>
                      </a:rPr>
                      <m:t>𝑋</m:t>
                    </m:r>
                  </m:oMath>
                </a14:m>
                <a:r>
                  <a:rPr lang="en-US" sz="2000" dirty="0"/>
                  <a:t> is </a:t>
                </a:r>
                <a14:m>
                  <m:oMath xmlns:m="http://schemas.openxmlformats.org/officeDocument/2006/math">
                    <m:sSub>
                      <m:sSubPr>
                        <m:ctrlPr>
                          <a:rPr lang="en-US" sz="2000" i="1">
                            <a:solidFill>
                              <a:srgbClr val="181A0D"/>
                            </a:solidFill>
                            <a:latin typeface="Cambria Math" panose="02040503050406030204" pitchFamily="18" charset="0"/>
                          </a:rPr>
                        </m:ctrlPr>
                      </m:sSubPr>
                      <m:e>
                        <m:r>
                          <m:rPr>
                            <m:sty m:val="p"/>
                          </m:rPr>
                          <a:rPr lang="en-US" sz="2000" i="1">
                            <a:solidFill>
                              <a:srgbClr val="181A0D"/>
                            </a:solidFill>
                            <a:latin typeface="Cambria Math" panose="02040503050406030204" pitchFamily="18" charset="0"/>
                          </a:rPr>
                          <m:t>n</m:t>
                        </m:r>
                      </m:e>
                      <m:sub>
                        <m:r>
                          <m:rPr>
                            <m:sty m:val="p"/>
                          </m:rPr>
                          <a:rPr lang="en-US" sz="2000" i="1">
                            <a:solidFill>
                              <a:srgbClr val="181A0D"/>
                            </a:solidFill>
                            <a:latin typeface="Cambria Math" panose="02040503050406030204" pitchFamily="18" charset="0"/>
                          </a:rPr>
                          <m:t>obs</m:t>
                        </m:r>
                      </m:sub>
                    </m:sSub>
                    <m:r>
                      <a:rPr lang="en-US" sz="2000" b="0" i="0" smtClean="0">
                        <a:solidFill>
                          <a:srgbClr val="181A0D"/>
                        </a:solidFill>
                        <a:latin typeface="Cambria Math" panose="02040503050406030204" pitchFamily="18" charset="0"/>
                      </a:rPr>
                      <m:t> </m:t>
                    </m:r>
                    <m:r>
                      <a:rPr lang="en-US" sz="2000">
                        <a:latin typeface="Cambria Math" panose="02040503050406030204" pitchFamily="18" charset="0"/>
                      </a:rPr>
                      <m:t>×</m:t>
                    </m:r>
                    <m:r>
                      <a:rPr lang="en-US" sz="2000" b="0" i="1" smtClean="0">
                        <a:latin typeface="Cambria Math" panose="02040503050406030204" pitchFamily="18" charset="0"/>
                      </a:rPr>
                      <m:t> </m:t>
                    </m:r>
                    <m:r>
                      <a:rPr lang="en-US" sz="2000" i="1">
                        <a:latin typeface="Cambria Math" panose="02040503050406030204" pitchFamily="18" charset="0"/>
                      </a:rPr>
                      <m:t>20</m:t>
                    </m:r>
                    <m:r>
                      <a:rPr lang="en-US" sz="2000" b="0" i="1" smtClean="0">
                        <a:latin typeface="Cambria Math" panose="02040503050406030204" pitchFamily="18" charset="0"/>
                      </a:rPr>
                      <m:t> ; </m:t>
                    </m:r>
                    <m:r>
                      <a:rPr lang="en-US" sz="2000" i="1">
                        <a:latin typeface="Cambria Math" panose="02040503050406030204" pitchFamily="18" charset="0"/>
                      </a:rPr>
                      <m:t>𝜖</m:t>
                    </m:r>
                    <m:r>
                      <a:rPr lang="en-US" sz="2000">
                        <a:latin typeface="Cambria Math" panose="02040503050406030204" pitchFamily="18" charset="0"/>
                      </a:rPr>
                      <m:t>∼</m:t>
                    </m:r>
                    <m:r>
                      <a:rPr lang="en-US" sz="2000" i="1">
                        <a:latin typeface="Cambria Math" panose="02040503050406030204" pitchFamily="18" charset="0"/>
                      </a:rPr>
                      <m:t>𝑁</m:t>
                    </m:r>
                    <m:r>
                      <a:rPr lang="en-US" sz="2000">
                        <a:latin typeface="Cambria Math" panose="02040503050406030204" pitchFamily="18" charset="0"/>
                      </a:rPr>
                      <m:t>(</m:t>
                    </m:r>
                    <m:r>
                      <a:rPr lang="en-US" sz="2000" i="1">
                        <a:latin typeface="Cambria Math" panose="02040503050406030204" pitchFamily="18" charset="0"/>
                      </a:rPr>
                      <m:t>0</m:t>
                    </m:r>
                    <m:r>
                      <a:rPr lang="en-US" sz="200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r>
                      <a:rPr lang="en-US" sz="2000">
                        <a:latin typeface="Cambria Math" panose="02040503050406030204" pitchFamily="18" charset="0"/>
                      </a:rPr>
                      <m:t>)</m:t>
                    </m:r>
                  </m:oMath>
                </a14:m>
                <a:endParaRPr lang="en-US" sz="2000" dirty="0"/>
              </a:p>
              <a:p>
                <a:pPr marL="1257300" lvl="2" indent="-342900">
                  <a:lnSpc>
                    <a:spcPts val="2258"/>
                  </a:lnSpc>
                  <a:buFont typeface="Wingdings" pitchFamily="2" charset="2"/>
                  <a:buChar char="§"/>
                </a:pPr>
                <a:r>
                  <a:rPr lang="en-US" sz="2000" dirty="0">
                    <a:solidFill>
                      <a:srgbClr val="181A0D"/>
                    </a:solidFill>
                    <a:cs typeface="WPQCJM+FranklinGothic-Book"/>
                  </a:rPr>
                  <a:t>5 true predictors:</a:t>
                </a:r>
              </a:p>
              <a:p>
                <a:pPr marL="1714500" lvl="3" indent="-342900">
                  <a:lnSpc>
                    <a:spcPts val="2258"/>
                  </a:lnSpc>
                  <a:buFont typeface="Arial" panose="020B0604020202020204" pitchFamily="34" charset="0"/>
                  <a:buChar char="•"/>
                </a:pP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𝛽</m:t>
                        </m:r>
                      </m:e>
                      <m:sub>
                        <m:r>
                          <a:rPr lang="en-US" sz="2000" b="0" i="1" smtClean="0">
                            <a:latin typeface="Cambria Math" panose="02040503050406030204" pitchFamily="18" charset="0"/>
                          </a:rPr>
                          <m:t>1:5</m:t>
                        </m:r>
                      </m:sub>
                    </m:sSub>
                    <m:r>
                      <a:rPr lang="en-US" sz="2000">
                        <a:latin typeface="Cambria Math" panose="02040503050406030204" pitchFamily="18" charset="0"/>
                      </a:rPr>
                      <m:t> =</m:t>
                    </m:r>
                    <m:r>
                      <m:rPr>
                        <m:nor/>
                      </m:rPr>
                      <a:rPr lang="en-US" sz="2000">
                        <a:latin typeface="Cambria Math" panose="02040503050406030204" pitchFamily="18" charset="0"/>
                      </a:rPr>
                      <m:t>(</m:t>
                    </m:r>
                    <m:r>
                      <m:rPr>
                        <m:nor/>
                      </m:rPr>
                      <a:rPr lang="en-US" sz="2000"/>
                      <m:t>0.5/3, 1/3, 1.5/3, 2/3, 2.5/3</m:t>
                    </m:r>
                  </m:oMath>
                </a14:m>
                <a:r>
                  <a:rPr lang="en-US" sz="2000" dirty="0">
                    <a:solidFill>
                      <a:srgbClr val="181A0D"/>
                    </a:solidFill>
                    <a:cs typeface="WPQCJM+FranklinGothic-Book"/>
                  </a:rPr>
                  <a:t>)</a:t>
                </a:r>
              </a:p>
              <a:p>
                <a:pPr marL="1257300" lvl="2" indent="-342900">
                  <a:lnSpc>
                    <a:spcPts val="2258"/>
                  </a:lnSpc>
                  <a:buFont typeface="Wingdings" pitchFamily="2" charset="2"/>
                  <a:buChar char="§"/>
                </a:pPr>
                <a:r>
                  <a:rPr lang="en-US" sz="2000" dirty="0">
                    <a:solidFill>
                      <a:srgbClr val="181A0D"/>
                    </a:solidFill>
                    <a:cs typeface="WPQCJM+FranklinGothic-Book"/>
                  </a:rPr>
                  <a:t>15 unrelated:</a:t>
                </a:r>
                <a:r>
                  <a:rPr lang="en-US" sz="2000" dirty="0"/>
                  <a:t> </a:t>
                </a:r>
                <a:endParaRPr lang="en-US" sz="2000" i="1" dirty="0">
                  <a:latin typeface="Cambria Math" panose="02040503050406030204" pitchFamily="18" charset="0"/>
                </a:endParaRPr>
              </a:p>
              <a:p>
                <a:pPr marL="1714500" lvl="3" indent="-342900">
                  <a:lnSpc>
                    <a:spcPts val="2258"/>
                  </a:lnSpc>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b="0" i="1" smtClean="0">
                            <a:latin typeface="Cambria Math" panose="02040503050406030204" pitchFamily="18" charset="0"/>
                          </a:rPr>
                          <m:t>6</m:t>
                        </m:r>
                        <m:r>
                          <a:rPr lang="en-US" sz="2000" i="1">
                            <a:latin typeface="Cambria Math" panose="02040503050406030204" pitchFamily="18" charset="0"/>
                          </a:rPr>
                          <m:t>:</m:t>
                        </m:r>
                        <m:r>
                          <a:rPr lang="en-US" sz="2000" b="0" i="1" smtClean="0">
                            <a:latin typeface="Cambria Math" panose="02040503050406030204" pitchFamily="18" charset="0"/>
                          </a:rPr>
                          <m:t>20</m:t>
                        </m:r>
                      </m:sub>
                    </m:sSub>
                    <m:r>
                      <a:rPr lang="en-US" sz="2000">
                        <a:latin typeface="Cambria Math" panose="02040503050406030204" pitchFamily="18" charset="0"/>
                      </a:rPr>
                      <m:t> =</m:t>
                    </m:r>
                    <m:r>
                      <m:rPr>
                        <m:nor/>
                      </m:rPr>
                      <a:rPr lang="en-US" sz="2000">
                        <a:latin typeface="Cambria Math" panose="02040503050406030204" pitchFamily="18" charset="0"/>
                      </a:rPr>
                      <m:t>0</m:t>
                    </m:r>
                  </m:oMath>
                </a14:m>
                <a:endParaRPr lang="en-US" sz="2000" dirty="0">
                  <a:solidFill>
                    <a:srgbClr val="181A0D"/>
                  </a:solidFill>
                  <a:cs typeface="WPQCJM+FranklinGothic-Book"/>
                </a:endParaRPr>
              </a:p>
              <a:p>
                <a:pPr marL="800100" lvl="1" indent="-342900">
                  <a:buFont typeface="Wingdings" pitchFamily="2" charset="2"/>
                  <a:buChar char="Ø"/>
                </a:pPr>
                <a:r>
                  <a:rPr lang="en-US" sz="2000" dirty="0">
                    <a:solidFill>
                      <a:srgbClr val="181A0D"/>
                    </a:solidFill>
                    <a:cs typeface="WPQCJM+FranklinGothic-Book"/>
                  </a:rPr>
                  <a:t>Sample sizes: </a:t>
                </a:r>
                <a14:m>
                  <m:oMath xmlns:m="http://schemas.openxmlformats.org/officeDocument/2006/math">
                    <m:sSub>
                      <m:sSubPr>
                        <m:ctrlPr>
                          <a:rPr lang="en-US" sz="2000" i="1">
                            <a:solidFill>
                              <a:srgbClr val="181A0D"/>
                            </a:solidFill>
                            <a:latin typeface="Cambria Math" panose="02040503050406030204" pitchFamily="18" charset="0"/>
                          </a:rPr>
                        </m:ctrlPr>
                      </m:sSubPr>
                      <m:e>
                        <m:r>
                          <m:rPr>
                            <m:sty m:val="p"/>
                          </m:rPr>
                          <a:rPr lang="en-US" sz="2000" i="1">
                            <a:solidFill>
                              <a:srgbClr val="181A0D"/>
                            </a:solidFill>
                            <a:latin typeface="Cambria Math" panose="02040503050406030204" pitchFamily="18" charset="0"/>
                          </a:rPr>
                          <m:t>n</m:t>
                        </m:r>
                      </m:e>
                      <m:sub>
                        <m:r>
                          <m:rPr>
                            <m:sty m:val="p"/>
                          </m:rPr>
                          <a:rPr lang="en-US" sz="2000" i="1">
                            <a:solidFill>
                              <a:srgbClr val="181A0D"/>
                            </a:solidFill>
                            <a:latin typeface="Cambria Math" panose="02040503050406030204" pitchFamily="18" charset="0"/>
                          </a:rPr>
                          <m:t>obs</m:t>
                        </m:r>
                      </m:sub>
                    </m:sSub>
                  </m:oMath>
                </a14:m>
                <a:r>
                  <a:rPr lang="en-US" sz="2000" dirty="0"/>
                  <a:t>∈ {250, 500}</a:t>
                </a:r>
              </a:p>
              <a:p>
                <a:pPr marL="800100" lvl="1" indent="-342900">
                  <a:buFont typeface="Wingdings" pitchFamily="2" charset="2"/>
                  <a:buChar char="Ø"/>
                </a:pPr>
                <a:r>
                  <a:rPr lang="en-US" sz="2000" dirty="0">
                    <a:solidFill>
                      <a:srgbClr val="181A0D"/>
                    </a:solidFill>
                    <a:cs typeface="WPQCJM+FranklinGothic-Book"/>
                  </a:rPr>
                  <a:t>Correlation: </a:t>
                </a:r>
                <a14:m>
                  <m:oMath xmlns:m="http://schemas.openxmlformats.org/officeDocument/2006/math">
                    <m:r>
                      <a:rPr lang="en-US" sz="2000" i="1">
                        <a:solidFill>
                          <a:srgbClr val="181A0D"/>
                        </a:solidFill>
                        <a:latin typeface="Cambria Math" panose="02040503050406030204" pitchFamily="18" charset="0"/>
                        <a:ea typeface="Cambria Math" panose="02040503050406030204" pitchFamily="18" charset="0"/>
                        <a:cs typeface="WPQCJM+FranklinGothic-Book"/>
                      </a:rPr>
                      <m:t>𝜌</m:t>
                    </m:r>
                  </m:oMath>
                </a14:m>
                <a:r>
                  <a:rPr lang="en-US" sz="2000" dirty="0">
                    <a:solidFill>
                      <a:srgbClr val="181A0D"/>
                    </a:solidFill>
                    <a:cs typeface="WPQCJM+FranklinGothic-Book"/>
                  </a:rPr>
                  <a:t> </a:t>
                </a:r>
                <a:r>
                  <a:rPr lang="en-US" sz="2000" dirty="0"/>
                  <a:t>∈ </a:t>
                </a:r>
                <a:r>
                  <a:rPr lang="en-US" sz="2000" dirty="0">
                    <a:solidFill>
                      <a:srgbClr val="181A0D"/>
                    </a:solidFill>
                    <a:cs typeface="WPQCJM+FranklinGothic-Book"/>
                  </a:rPr>
                  <a:t> {0, 0.35, 0.7} (exchangeable/CS)</a:t>
                </a:r>
              </a:p>
              <a:p>
                <a:pPr marL="800100" lvl="1" indent="-342900">
                  <a:buFont typeface="Wingdings" pitchFamily="2" charset="2"/>
                  <a:buChar char="Ø"/>
                </a:pPr>
                <a:r>
                  <a:rPr lang="en-US" sz="2000" dirty="0">
                    <a:solidFill>
                      <a:srgbClr val="181A0D"/>
                    </a:solidFill>
                    <a:cs typeface="WPQCJM+FranklinGothic-Book"/>
                  </a:rPr>
                  <a:t>6 data-generating scenarios</a:t>
                </a:r>
              </a:p>
              <a:p>
                <a:endParaRPr lang="en-US" dirty="0"/>
              </a:p>
            </p:txBody>
          </p:sp>
        </mc:Choice>
        <mc:Fallback xmlns="">
          <p:sp>
            <p:nvSpPr>
              <p:cNvPr id="4" name="TextBox 3">
                <a:extLst>
                  <a:ext uri="{FF2B5EF4-FFF2-40B4-BE49-F238E27FC236}">
                    <a16:creationId xmlns:a16="http://schemas.microsoft.com/office/drawing/2014/main" id="{617ECB50-2355-E827-B570-C880457499B5}"/>
                  </a:ext>
                </a:extLst>
              </p:cNvPr>
              <p:cNvSpPr txBox="1">
                <a:spLocks noRot="1" noChangeAspect="1" noMove="1" noResize="1" noEditPoints="1" noAdjustHandles="1" noChangeArrowheads="1" noChangeShapeType="1" noTextEdit="1"/>
              </p:cNvSpPr>
              <p:nvPr/>
            </p:nvSpPr>
            <p:spPr>
              <a:xfrm>
                <a:off x="761425" y="1416279"/>
                <a:ext cx="6064999" cy="3947234"/>
              </a:xfrm>
              <a:prstGeom prst="rect">
                <a:avLst/>
              </a:prstGeom>
              <a:blipFill>
                <a:blip r:embed="rId5"/>
                <a:stretch>
                  <a:fillRect l="-1674" t="-2885" r="-209"/>
                </a:stretch>
              </a:blipFill>
            </p:spPr>
            <p:txBody>
              <a:bodyPr/>
              <a:lstStyle/>
              <a:p>
                <a:r>
                  <a:rPr 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a:p>
        </p:txBody>
      </p:sp>
      <p:sp>
        <p:nvSpPr>
          <p:cNvPr id="3" name="object 3"/>
          <p:cNvSpPr txBox="1"/>
          <p:nvPr/>
        </p:nvSpPr>
        <p:spPr>
          <a:xfrm>
            <a:off x="1127448" y="167056"/>
            <a:ext cx="3236829" cy="641201"/>
          </a:xfrm>
          <a:prstGeom prst="rect">
            <a:avLst/>
          </a:prstGeom>
        </p:spPr>
        <p:txBody>
          <a:bodyPr vert="horz" wrap="square" lIns="0" tIns="0" rIns="0" bIns="0" rtlCol="0">
            <a:spAutoFit/>
          </a:bodyPr>
          <a:lstStyle/>
          <a:p>
            <a:pPr marL="0" marR="0">
              <a:lnSpc>
                <a:spcPts val="4979"/>
              </a:lnSpc>
              <a:spcBef>
                <a:spcPts val="0"/>
              </a:spcBef>
              <a:spcAft>
                <a:spcPts val="0"/>
              </a:spcAft>
            </a:pPr>
            <a:r>
              <a:rPr sz="4400" dirty="0">
                <a:solidFill>
                  <a:srgbClr val="181A0D"/>
                </a:solidFill>
                <a:latin typeface="+mj-lt"/>
                <a:cs typeface="AJGUUA+FranklinGothic-Book"/>
              </a:rPr>
              <a:t>Analysis Plan</a:t>
            </a:r>
          </a:p>
        </p:txBody>
      </p:sp>
      <p:sp>
        <p:nvSpPr>
          <p:cNvPr id="15" name="object 4">
            <a:extLst>
              <a:ext uri="{FF2B5EF4-FFF2-40B4-BE49-F238E27FC236}">
                <a16:creationId xmlns:a16="http://schemas.microsoft.com/office/drawing/2014/main" id="{F0DA2DE1-A3F4-C83F-5B55-E0F9335279E1}"/>
              </a:ext>
            </a:extLst>
          </p:cNvPr>
          <p:cNvSpPr txBox="1"/>
          <p:nvPr/>
        </p:nvSpPr>
        <p:spPr>
          <a:xfrm>
            <a:off x="911424" y="1017600"/>
            <a:ext cx="9265920" cy="5899051"/>
          </a:xfrm>
          <a:prstGeom prst="rect">
            <a:avLst/>
          </a:prstGeom>
        </p:spPr>
        <p:txBody>
          <a:bodyPr vert="horz" wrap="square" lIns="0" tIns="0" rIns="0" bIns="0" rtlCol="0">
            <a:spAutoFit/>
          </a:bodyPr>
          <a:lstStyle/>
          <a:p>
            <a:pPr>
              <a:lnSpc>
                <a:spcPts val="2258"/>
              </a:lnSpc>
            </a:pPr>
            <a:r>
              <a:rPr lang="en-US" sz="2400" b="1" dirty="0">
                <a:solidFill>
                  <a:srgbClr val="181A0D"/>
                </a:solidFill>
                <a:cs typeface="WPQCJM+FranklinGothic-Book"/>
              </a:rPr>
              <a:t>Simulation</a:t>
            </a:r>
            <a:r>
              <a:rPr lang="en-US" sz="2000" b="1" dirty="0">
                <a:solidFill>
                  <a:srgbClr val="181A0D"/>
                </a:solidFill>
                <a:cs typeface="WPQCJM+FranklinGothic-Book"/>
              </a:rPr>
              <a:t>:</a:t>
            </a:r>
          </a:p>
          <a:p>
            <a:pPr marL="800100" lvl="1" indent="-342900">
              <a:lnSpc>
                <a:spcPts val="2258"/>
              </a:lnSpc>
              <a:buFont typeface="Wingdings" pitchFamily="2" charset="2"/>
              <a:buChar char="Ø"/>
            </a:pPr>
            <a:r>
              <a:rPr lang="en-US" sz="2000" dirty="0">
                <a:solidFill>
                  <a:srgbClr val="181A0D"/>
                </a:solidFill>
                <a:cs typeface="WPQCJM+FranklinGothic-Book"/>
              </a:rPr>
              <a:t>Generate dataset under specified scenario</a:t>
            </a:r>
          </a:p>
          <a:p>
            <a:pPr marL="800100" lvl="1" indent="-342900">
              <a:lnSpc>
                <a:spcPts val="2258"/>
              </a:lnSpc>
              <a:buFont typeface="Wingdings" pitchFamily="2" charset="2"/>
              <a:buChar char="Ø"/>
            </a:pPr>
            <a:r>
              <a:rPr lang="en-US" sz="2000" dirty="0">
                <a:solidFill>
                  <a:srgbClr val="181A0D"/>
                </a:solidFill>
                <a:cs typeface="WPQCJM+FranklinGothic-Book"/>
              </a:rPr>
              <a:t>Fit full model w/20 predictors</a:t>
            </a:r>
          </a:p>
          <a:p>
            <a:pPr marL="800100" lvl="1" indent="-342900">
              <a:lnSpc>
                <a:spcPts val="2258"/>
              </a:lnSpc>
              <a:buFont typeface="Wingdings" pitchFamily="2" charset="2"/>
              <a:buChar char="Ø"/>
            </a:pPr>
            <a:r>
              <a:rPr lang="en-US" sz="2000" dirty="0">
                <a:solidFill>
                  <a:srgbClr val="181A0D"/>
                </a:solidFill>
                <a:cs typeface="WPQCJM+FranklinGothic-Book"/>
              </a:rPr>
              <a:t>Apply all selection methods</a:t>
            </a:r>
          </a:p>
          <a:p>
            <a:pPr marL="800100" lvl="1" indent="-342900">
              <a:lnSpc>
                <a:spcPts val="2258"/>
              </a:lnSpc>
              <a:buFont typeface="Wingdings" pitchFamily="2" charset="2"/>
              <a:buChar char="Ø"/>
            </a:pPr>
            <a:r>
              <a:rPr lang="en-US" sz="2000" dirty="0">
                <a:solidFill>
                  <a:srgbClr val="181A0D"/>
                </a:solidFill>
                <a:cs typeface="WPQCJM+FranklinGothic-Book"/>
              </a:rPr>
              <a:t>Refit final model </a:t>
            </a:r>
          </a:p>
          <a:p>
            <a:pPr marL="800100" lvl="1" indent="-342900">
              <a:lnSpc>
                <a:spcPts val="2258"/>
              </a:lnSpc>
              <a:buFont typeface="Wingdings" pitchFamily="2" charset="2"/>
              <a:buChar char="Ø"/>
            </a:pPr>
            <a:r>
              <a:rPr lang="en-US" sz="2000" dirty="0">
                <a:solidFill>
                  <a:srgbClr val="181A0D"/>
                </a:solidFill>
                <a:cs typeface="WPQCJM+FranklinGothic-Book"/>
              </a:rPr>
              <a:t>Repeat 10k per scenario </a:t>
            </a:r>
          </a:p>
          <a:p>
            <a:pPr marL="1257300" lvl="2" indent="-342900">
              <a:lnSpc>
                <a:spcPts val="2258"/>
              </a:lnSpc>
              <a:buFont typeface="Wingdings" pitchFamily="2" charset="2"/>
              <a:buChar char="§"/>
            </a:pPr>
            <a:r>
              <a:rPr lang="en-US" sz="2000" dirty="0">
                <a:solidFill>
                  <a:srgbClr val="181A0D"/>
                </a:solidFill>
                <a:cs typeface="WPQCJM+FranklinGothic-Book"/>
              </a:rPr>
              <a:t>Average across iterations</a:t>
            </a:r>
          </a:p>
          <a:p>
            <a:pPr lvl="1">
              <a:lnSpc>
                <a:spcPts val="2258"/>
              </a:lnSpc>
            </a:pPr>
            <a:endParaRPr lang="en-US" sz="2000" dirty="0">
              <a:solidFill>
                <a:srgbClr val="181A0D"/>
              </a:solidFill>
              <a:latin typeface="WPQCJM+FranklinGothic-Book"/>
              <a:cs typeface="WPQCJM+FranklinGothic-Book"/>
            </a:endParaRPr>
          </a:p>
          <a:p>
            <a:pPr>
              <a:lnSpc>
                <a:spcPts val="2258"/>
              </a:lnSpc>
            </a:pPr>
            <a:r>
              <a:rPr lang="en-US" sz="2400" b="1" dirty="0">
                <a:solidFill>
                  <a:srgbClr val="181A0D"/>
                </a:solidFill>
                <a:cs typeface="WPQCJM+FranklinGothic-Book"/>
              </a:rPr>
              <a:t>Selection Performance measures:</a:t>
            </a:r>
          </a:p>
          <a:p>
            <a:pPr marL="800100" lvl="1" indent="-342900">
              <a:lnSpc>
                <a:spcPts val="2258"/>
              </a:lnSpc>
              <a:buFont typeface="Wingdings" pitchFamily="2" charset="2"/>
              <a:buChar char="Ø"/>
            </a:pPr>
            <a:r>
              <a:rPr lang="en-US" sz="2000" dirty="0">
                <a:solidFill>
                  <a:srgbClr val="181A0D"/>
                </a:solidFill>
                <a:cs typeface="WPQCJM+FranklinGothic-Book"/>
              </a:rPr>
              <a:t>True Positive Rate (TPR)</a:t>
            </a:r>
          </a:p>
          <a:p>
            <a:pPr marL="1257300" lvl="2" indent="-342900">
              <a:lnSpc>
                <a:spcPts val="2258"/>
              </a:lnSpc>
              <a:buFont typeface="Wingdings" pitchFamily="2" charset="2"/>
              <a:buChar char="§"/>
            </a:pPr>
            <a:r>
              <a:rPr lang="en-US" sz="2000" dirty="0">
                <a:solidFill>
                  <a:srgbClr val="181A0D"/>
                </a:solidFill>
                <a:cs typeface="WPQCJM+FranklinGothic-Book"/>
              </a:rPr>
              <a:t>Sensitivity</a:t>
            </a:r>
          </a:p>
          <a:p>
            <a:pPr marL="800100" lvl="1" indent="-342900">
              <a:lnSpc>
                <a:spcPts val="2258"/>
              </a:lnSpc>
              <a:buFont typeface="Wingdings" pitchFamily="2" charset="2"/>
              <a:buChar char="Ø"/>
            </a:pPr>
            <a:r>
              <a:rPr lang="en-US" sz="2000" dirty="0">
                <a:solidFill>
                  <a:srgbClr val="181A0D"/>
                </a:solidFill>
                <a:cs typeface="WPQCJM+FranklinGothic-Book"/>
              </a:rPr>
              <a:t>False Positive Rate (FPR)</a:t>
            </a:r>
          </a:p>
          <a:p>
            <a:pPr marL="1257300" lvl="2" indent="-342900">
              <a:lnSpc>
                <a:spcPts val="2258"/>
              </a:lnSpc>
              <a:buFont typeface="Wingdings" pitchFamily="2" charset="2"/>
              <a:buChar char="§"/>
            </a:pPr>
            <a:r>
              <a:rPr lang="en-US" sz="2000" dirty="0">
                <a:solidFill>
                  <a:srgbClr val="181A0D"/>
                </a:solidFill>
                <a:cs typeface="WPQCJM+FranklinGothic-Book"/>
              </a:rPr>
              <a:t>1-Specificity</a:t>
            </a:r>
          </a:p>
          <a:p>
            <a:pPr marL="800100" lvl="1" indent="-342900">
              <a:lnSpc>
                <a:spcPts val="2258"/>
              </a:lnSpc>
              <a:buFont typeface="Wingdings" pitchFamily="2" charset="2"/>
              <a:buChar char="Ø"/>
            </a:pPr>
            <a:r>
              <a:rPr lang="en-US" sz="2000" dirty="0">
                <a:solidFill>
                  <a:srgbClr val="181A0D"/>
                </a:solidFill>
                <a:cs typeface="WPQCJM+FranklinGothic-Book"/>
              </a:rPr>
              <a:t>Mean model size (complexity)</a:t>
            </a:r>
          </a:p>
          <a:p>
            <a:pPr lvl="1">
              <a:lnSpc>
                <a:spcPts val="2258"/>
              </a:lnSpc>
            </a:pPr>
            <a:endParaRPr lang="en-US" sz="2000" dirty="0">
              <a:solidFill>
                <a:srgbClr val="181A0D"/>
              </a:solidFill>
              <a:cs typeface="WPQCJM+FranklinGothic-Book"/>
            </a:endParaRPr>
          </a:p>
          <a:p>
            <a:pPr>
              <a:lnSpc>
                <a:spcPts val="2258"/>
              </a:lnSpc>
            </a:pPr>
            <a:r>
              <a:rPr lang="en-US" sz="2400" b="1" dirty="0">
                <a:solidFill>
                  <a:srgbClr val="181A0D"/>
                </a:solidFill>
                <a:cs typeface="WPQCJM+FranklinGothic-Book"/>
              </a:rPr>
              <a:t>Estimation Evaluation:</a:t>
            </a:r>
          </a:p>
          <a:p>
            <a:pPr marL="800100" lvl="1" indent="-342900">
              <a:lnSpc>
                <a:spcPts val="2258"/>
              </a:lnSpc>
              <a:buFont typeface="Wingdings" pitchFamily="2" charset="2"/>
              <a:buChar char="Ø"/>
            </a:pPr>
            <a:r>
              <a:rPr lang="en-US" sz="2000" dirty="0">
                <a:solidFill>
                  <a:srgbClr val="181A0D"/>
                </a:solidFill>
                <a:cs typeface="WPQCJM+FranklinGothic-Book"/>
              </a:rPr>
              <a:t>Bias of coefficients</a:t>
            </a:r>
          </a:p>
          <a:p>
            <a:pPr marL="800100" lvl="1" indent="-342900">
              <a:lnSpc>
                <a:spcPts val="2258"/>
              </a:lnSpc>
              <a:buFont typeface="Wingdings" pitchFamily="2" charset="2"/>
              <a:buChar char="Ø"/>
            </a:pPr>
            <a:r>
              <a:rPr lang="en-US" sz="2000" dirty="0">
                <a:solidFill>
                  <a:srgbClr val="181A0D"/>
                </a:solidFill>
                <a:cs typeface="WPQCJM+FranklinGothic-Book"/>
              </a:rPr>
              <a:t>95% CI coverage</a:t>
            </a:r>
          </a:p>
          <a:p>
            <a:pPr marL="800100" lvl="1" indent="-342900">
              <a:lnSpc>
                <a:spcPts val="2258"/>
              </a:lnSpc>
              <a:buFont typeface="Wingdings" pitchFamily="2" charset="2"/>
              <a:buChar char="Ø"/>
            </a:pPr>
            <a:r>
              <a:rPr lang="en-US" sz="2000" dirty="0">
                <a:solidFill>
                  <a:srgbClr val="181A0D"/>
                </a:solidFill>
              </a:rPr>
              <a:t>Type I &amp; II error</a:t>
            </a:r>
          </a:p>
          <a:p>
            <a:pPr lvl="1">
              <a:lnSpc>
                <a:spcPts val="2258"/>
              </a:lnSpc>
            </a:pPr>
            <a:endParaRPr lang="en-US" sz="2000" dirty="0">
              <a:solidFill>
                <a:srgbClr val="181A0D"/>
              </a:solidFill>
              <a:cs typeface="WPQCJM+FranklinGothic-Book"/>
            </a:endParaRPr>
          </a:p>
        </p:txBody>
      </p:sp>
      <p:pic>
        <p:nvPicPr>
          <p:cNvPr id="7" name="Picture 6">
            <a:extLst>
              <a:ext uri="{FF2B5EF4-FFF2-40B4-BE49-F238E27FC236}">
                <a16:creationId xmlns:a16="http://schemas.microsoft.com/office/drawing/2014/main" id="{690F9C39-A685-E7A1-9ED3-6832242F61E4}"/>
              </a:ext>
            </a:extLst>
          </p:cNvPr>
          <p:cNvPicPr>
            <a:picLocks noChangeAspect="1"/>
          </p:cNvPicPr>
          <p:nvPr/>
        </p:nvPicPr>
        <p:blipFill>
          <a:blip r:embed="rId4"/>
          <a:stretch>
            <a:fillRect/>
          </a:stretch>
        </p:blipFill>
        <p:spPr>
          <a:xfrm>
            <a:off x="6696374" y="136106"/>
            <a:ext cx="4608418" cy="3300071"/>
          </a:xfrm>
          <a:prstGeom prst="rect">
            <a:avLst/>
          </a:prstGeom>
          <a:ln>
            <a:solidFill>
              <a:schemeClr val="tx1"/>
            </a:solidFill>
          </a:ln>
        </p:spPr>
      </p:pic>
      <p:pic>
        <p:nvPicPr>
          <p:cNvPr id="9" name="Picture 8">
            <a:extLst>
              <a:ext uri="{FF2B5EF4-FFF2-40B4-BE49-F238E27FC236}">
                <a16:creationId xmlns:a16="http://schemas.microsoft.com/office/drawing/2014/main" id="{77BCF447-67B6-C28C-40E9-5990274A5254}"/>
              </a:ext>
            </a:extLst>
          </p:cNvPr>
          <p:cNvPicPr>
            <a:picLocks noChangeAspect="1"/>
          </p:cNvPicPr>
          <p:nvPr/>
        </p:nvPicPr>
        <p:blipFill>
          <a:blip r:embed="rId5"/>
          <a:stretch>
            <a:fillRect/>
          </a:stretch>
        </p:blipFill>
        <p:spPr>
          <a:xfrm>
            <a:off x="6675854" y="3525339"/>
            <a:ext cx="4604721" cy="3200231"/>
          </a:xfrm>
          <a:prstGeom prst="rect">
            <a:avLst/>
          </a:prstGeom>
          <a:ln>
            <a:solidFill>
              <a:schemeClr val="tx1"/>
            </a:solidFill>
          </a:ln>
        </p:spPr>
      </p:pic>
    </p:spTree>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4352</TotalTime>
  <Words>783</Words>
  <Application>Microsoft Macintosh PowerPoint</Application>
  <PresentationFormat>Widescreen</PresentationFormat>
  <Paragraphs>96</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WPQCJM+FranklinGothic-Book</vt:lpstr>
      <vt:lpstr>Wingdings</vt:lpstr>
      <vt:lpstr>PWMWTI+FranklinGothic-Book</vt:lpstr>
      <vt:lpstr>Arial</vt:lpstr>
      <vt:lpstr>Cambria Math</vt:lpstr>
      <vt:lpstr>Aptos</vt:lpstr>
      <vt:lpstr>Calibri</vt:lpstr>
      <vt:lpstr>Theme Office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root</dc:creator>
  <cp:lastModifiedBy>Ryan Summers</cp:lastModifiedBy>
  <cp:revision>166</cp:revision>
  <cp:lastPrinted>2026-05-03T16:12:15Z</cp:lastPrinted>
  <dcterms:modified xsi:type="dcterms:W3CDTF">2026-05-04T17:53:10Z</dcterms:modified>
</cp:coreProperties>
</file>