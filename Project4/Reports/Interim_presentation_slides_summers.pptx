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12192000" cy="6858000"/>
  <p:embeddedFontLst>
    <p:embeddedFont>
      <p:font typeface="Cambria Math" panose="02040503050406030204" pitchFamily="18" charset="0"/>
      <p:regular r:id="rId7"/>
    </p:embeddedFont>
    <p:embeddedFont>
      <p:font typeface="PWMWTI+FranklinGothic-Book" panose="02000500000000000000" pitchFamily="2" charset="0"/>
      <p:regular r:id="rId8"/>
    </p:embeddedFont>
    <p:embeddedFont>
      <p:font typeface="WPQCJM+FranklinGothic-Book" panose="02000500000000000000"/>
      <p:regular r:id="rId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68">
          <p15:clr>
            <a:srgbClr val="A4A3A4"/>
          </p15:clr>
        </p15:guide>
        <p15:guide id="2" pos="24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183"/>
    <p:restoredTop sz="61421"/>
  </p:normalViewPr>
  <p:slideViewPr>
    <p:cSldViewPr>
      <p:cViewPr varScale="1">
        <p:scale>
          <a:sx n="74" d="100"/>
          <a:sy n="74" d="100"/>
        </p:scale>
        <p:origin x="1048" y="168"/>
      </p:cViewPr>
      <p:guideLst>
        <p:guide orient="horz" pos="3168"/>
        <p:guide pos="244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font" Target="fonts/font1.fntdata"/><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5572088B-D286-3046-B6F7-B15DDA392F38}" type="datetimeFigureOut">
              <a:rPr lang="en-US" smtClean="0"/>
              <a:t>5/1/26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8FFD2A8B-BCD5-3141-A454-1E72234D25CF}" type="slidenum">
              <a:rPr lang="en-US" smtClean="0"/>
              <a:t>‹#›</a:t>
            </a:fld>
            <a:endParaRPr lang="en-US"/>
          </a:p>
        </p:txBody>
      </p:sp>
    </p:spTree>
    <p:extLst>
      <p:ext uri="{BB962C8B-B14F-4D97-AF65-F5344CB8AC3E}">
        <p14:creationId xmlns:p14="http://schemas.microsoft.com/office/powerpoint/2010/main" val="2027190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FFD2A8B-BCD5-3141-A454-1E72234D25CF}" type="slidenum">
              <a:rPr lang="en-US" smtClean="0"/>
              <a:t>1</a:t>
            </a:fld>
            <a:endParaRPr lang="en-US"/>
          </a:p>
        </p:txBody>
      </p:sp>
    </p:spTree>
    <p:extLst>
      <p:ext uri="{BB962C8B-B14F-4D97-AF65-F5344CB8AC3E}">
        <p14:creationId xmlns:p14="http://schemas.microsoft.com/office/powerpoint/2010/main" val="30398208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So, the main research question we’re trying to answer is how different variable selection methods perform in identifying true predictors and excluding irrelevant ones in linear regression models under varying sample sizes and correlations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main goals are to compare selection accuracy, evaluate estimation performance, and assess Type I and Type II error.</a:t>
            </a:r>
          </a:p>
          <a:p>
            <a:endParaRPr lang="en-US" dirty="0"/>
          </a:p>
          <a:p>
            <a:r>
              <a:rPr lang="en-US" dirty="0"/>
              <a:t>To study this, we will simulate data under a linear regression model using the hdrm package </a:t>
            </a:r>
          </a:p>
          <a:p>
            <a:endParaRPr lang="en-US" dirty="0"/>
          </a:p>
          <a:p>
            <a:r>
              <a:rPr lang="en-US" dirty="0"/>
              <a:t>In each of the simulated datasets, we include 20 continuous predictors, but only 5 of them are truly associated with the outcome with non-zero effects, while the remaining 15 are null variables with effects set to zero.</a:t>
            </a:r>
          </a:p>
          <a:p>
            <a:endParaRPr lang="en-US" dirty="0"/>
          </a:p>
          <a:p>
            <a:r>
              <a:rPr lang="en-US" dirty="0"/>
              <a:t>We then vary two key parameters of the data-generating process. First, we vary the sample size, using 250 and 500 observations.</a:t>
            </a:r>
          </a:p>
          <a:p>
            <a:endParaRPr lang="en-US" dirty="0"/>
          </a:p>
          <a:p>
            <a:r>
              <a:rPr lang="en-US" dirty="0"/>
              <a:t>Second, we vary the level of correlation among predictors using an exchangeable structure, with correlation values of 0, 0.35, and 0.7.</a:t>
            </a:r>
          </a:p>
          <a:p>
            <a:endParaRPr lang="en-US" dirty="0"/>
          </a:p>
          <a:p>
            <a:r>
              <a:rPr lang="en-US" dirty="0"/>
              <a:t>This gives us six scenarios, which will allow us to evaluate how each of these method performs under different conditions.</a:t>
            </a:r>
          </a:p>
          <a:p>
            <a:endParaRPr lang="en-US" dirty="0"/>
          </a:p>
        </p:txBody>
      </p:sp>
      <p:sp>
        <p:nvSpPr>
          <p:cNvPr id="4" name="Slide Number Placeholder 3"/>
          <p:cNvSpPr>
            <a:spLocks noGrp="1"/>
          </p:cNvSpPr>
          <p:nvPr>
            <p:ph type="sldNum" sz="quarter" idx="5"/>
          </p:nvPr>
        </p:nvSpPr>
        <p:spPr/>
        <p:txBody>
          <a:bodyPr/>
          <a:lstStyle/>
          <a:p>
            <a:fld id="{8FFD2A8B-BCD5-3141-A454-1E72234D25CF}" type="slidenum">
              <a:rPr lang="en-US" smtClean="0"/>
              <a:t>2</a:t>
            </a:fld>
            <a:endParaRPr lang="en-US"/>
          </a:p>
        </p:txBody>
      </p:sp>
    </p:spTree>
    <p:extLst>
      <p:ext uri="{BB962C8B-B14F-4D97-AF65-F5344CB8AC3E}">
        <p14:creationId xmlns:p14="http://schemas.microsoft.com/office/powerpoint/2010/main" val="23301203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On to the selection methods,</a:t>
            </a:r>
          </a:p>
          <a:p>
            <a:endParaRPr lang="en-US" dirty="0"/>
          </a:p>
          <a:p>
            <a:r>
              <a:rPr lang="en-US" dirty="0"/>
              <a:t>For each simulated dataset, we begin by fitting the linear regression model with all 20 predictors.</a:t>
            </a:r>
          </a:p>
          <a:p>
            <a:endParaRPr lang="en-US" dirty="0"/>
          </a:p>
          <a:p>
            <a:r>
              <a:rPr lang="en-US" dirty="0"/>
              <a:t>We will then apply two types of selection methods.</a:t>
            </a:r>
            <a:br>
              <a:rPr lang="en-US" dirty="0"/>
            </a:br>
            <a:endParaRPr lang="en-US" dirty="0"/>
          </a:p>
          <a:p>
            <a:r>
              <a:rPr lang="en-US" dirty="0"/>
              <a:t>The first method is backward selection with three criteria. These include p-value–based selection using a threshold of 0.15, as well as AIC and BIC, </a:t>
            </a:r>
          </a:p>
          <a:p>
            <a:r>
              <a:rPr lang="en-US" dirty="0"/>
              <a:t>Where BIC typically favors simpler models due to its stronger penalty.</a:t>
            </a:r>
            <a:br>
              <a:rPr lang="en-US" dirty="0"/>
            </a:br>
            <a:endParaRPr lang="en-US" dirty="0"/>
          </a:p>
          <a:p>
            <a:r>
              <a:rPr lang="en-US" dirty="0"/>
              <a:t>The second method is penalized regression methods. These include LASSO, which can shrink coefficients exactly to zero and perform variable selection, </a:t>
            </a:r>
          </a:p>
          <a:p>
            <a:r>
              <a:rPr lang="en-US" dirty="0"/>
              <a:t>and elastic net, which combines L1 and L2 penalties and is particularly useful when predictors are correlated.</a:t>
            </a:r>
          </a:p>
          <a:p>
            <a:endParaRPr lang="en-US" dirty="0"/>
          </a:p>
          <a:p>
            <a:r>
              <a:rPr lang="en-US" dirty="0"/>
              <a:t>For both LASSO and elastic net, the tuning parameter lambda will be selected by using 10-fold cross-validation, and consider two lambdas, one that minimizes CV prediction error and a more conservative choice within 1 SE of that minimum.</a:t>
            </a:r>
          </a:p>
          <a:p>
            <a:endParaRPr lang="en-US" dirty="0"/>
          </a:p>
          <a:p>
            <a:r>
              <a:rPr lang="el-GR" dirty="0"/>
              <a:t>Λ</a:t>
            </a:r>
            <a:r>
              <a:rPr lang="en-US" dirty="0"/>
              <a:t>≈0=more complexity=higher variance-lower bias</a:t>
            </a:r>
          </a:p>
          <a:p>
            <a:r>
              <a:rPr lang="el-GR" dirty="0"/>
              <a:t>Λ</a:t>
            </a:r>
            <a:r>
              <a:rPr lang="en-US" dirty="0"/>
              <a:t>&gt;0=increases regularization, which reduces complexity=lower variance-higher bias</a:t>
            </a:r>
          </a:p>
          <a:p>
            <a:endParaRPr lang="en-US" dirty="0"/>
          </a:p>
          <a:p>
            <a:endParaRPr lang="en-US" dirty="0"/>
          </a:p>
        </p:txBody>
      </p:sp>
      <p:sp>
        <p:nvSpPr>
          <p:cNvPr id="4" name="Slide Number Placeholder 3"/>
          <p:cNvSpPr>
            <a:spLocks noGrp="1"/>
          </p:cNvSpPr>
          <p:nvPr>
            <p:ph type="sldNum" sz="quarter" idx="5"/>
          </p:nvPr>
        </p:nvSpPr>
        <p:spPr/>
        <p:txBody>
          <a:bodyPr/>
          <a:lstStyle/>
          <a:p>
            <a:fld id="{8FFD2A8B-BCD5-3141-A454-1E72234D25CF}" type="slidenum">
              <a:rPr lang="en-US" smtClean="0"/>
              <a:t>3</a:t>
            </a:fld>
            <a:endParaRPr lang="en-US"/>
          </a:p>
        </p:txBody>
      </p:sp>
    </p:spTree>
    <p:extLst>
      <p:ext uri="{BB962C8B-B14F-4D97-AF65-F5344CB8AC3E}">
        <p14:creationId xmlns:p14="http://schemas.microsoft.com/office/powerpoint/2010/main" val="41566452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For each scenario, we start by generating a dataset based on the sample size and correlation level.</a:t>
            </a:r>
          </a:p>
          <a:p>
            <a:endParaRPr lang="en-US" dirty="0"/>
          </a:p>
          <a:p>
            <a:r>
              <a:rPr lang="en-US" dirty="0"/>
              <a:t>We then fit a full model with all predictors and apply each variable selection method to identify a final set of variables.</a:t>
            </a:r>
            <a:br>
              <a:rPr lang="en-US" dirty="0"/>
            </a:br>
            <a:endParaRPr lang="en-US" dirty="0"/>
          </a:p>
          <a:p>
            <a:r>
              <a:rPr lang="en-US" dirty="0"/>
              <a:t>After that, we refit the model using only the selected variables so that we can evaluate inference, including confidence intervals and hypothesis tests.</a:t>
            </a:r>
            <a:br>
              <a:rPr lang="en-US" dirty="0"/>
            </a:br>
            <a:endParaRPr lang="en-US" dirty="0"/>
          </a:p>
          <a:p>
            <a:r>
              <a:rPr lang="en-US" dirty="0"/>
              <a:t>We then repeat this entire process 10,000 times for each scenario to obtain stable estimates of performance and then are summarized as averages across the</a:t>
            </a:r>
          </a:p>
          <a:p>
            <a:r>
              <a:rPr lang="en-US" dirty="0"/>
              <a:t>Simulation runs</a:t>
            </a:r>
          </a:p>
          <a:p>
            <a:endParaRPr lang="en-US" dirty="0"/>
          </a:p>
          <a:p>
            <a:r>
              <a:rPr lang="en-US" dirty="0"/>
              <a:t>Once all simulations are complete, we will evaluate performance across several metrics.</a:t>
            </a:r>
          </a:p>
          <a:p>
            <a:endParaRPr lang="en-US" dirty="0"/>
          </a:p>
          <a:p>
            <a:r>
              <a:rPr lang="en-US" dirty="0"/>
              <a:t>First, we  will look at variable selection performance — more specifically how often each method correctly identifies true predictors and how often it incorrectly selects null variables. As an additional metric we will look at the mean number of variables selected from each method to assess complexity</a:t>
            </a:r>
            <a:br>
              <a:rPr lang="en-US" dirty="0"/>
            </a:br>
            <a:endParaRPr lang="en-US" dirty="0"/>
          </a:p>
          <a:p>
            <a:r>
              <a:rPr lang="en-US" dirty="0"/>
              <a:t>Second, we will evaluate estimation by looking at bias, CI coverage, and type I and type II error rates.</a:t>
            </a:r>
          </a:p>
          <a:p>
            <a:endParaRPr lang="en-US" dirty="0"/>
          </a:p>
          <a:p>
            <a:r>
              <a:rPr lang="en-US" dirty="0"/>
              <a:t>A key detail here is that these metrics are evaluated across all variables, not just those selected.</a:t>
            </a:r>
            <a:br>
              <a:rPr lang="en-US" dirty="0"/>
            </a:br>
            <a:endParaRPr lang="en-US" dirty="0"/>
          </a:p>
          <a:p>
            <a:r>
              <a:rPr lang="en-US" dirty="0"/>
              <a:t>So, if a method fails to select a true predictor, we treat its estimate as zero — which increases bias and counts as a failure for coverage.</a:t>
            </a:r>
            <a:br>
              <a:rPr lang="en-US" dirty="0"/>
            </a:br>
            <a:endParaRPr lang="en-US" dirty="0"/>
          </a:p>
          <a:p>
            <a:r>
              <a:rPr lang="en-US" dirty="0"/>
              <a:t>And finally to summarize these findings we will provide tables and plots similar to what </a:t>
            </a:r>
            <a:r>
              <a:rPr lang="en-US" dirty="0" err="1"/>
              <a:t>ive</a:t>
            </a:r>
            <a:r>
              <a:rPr lang="en-US" dirty="0"/>
              <a:t> shown here.</a:t>
            </a:r>
          </a:p>
          <a:p>
            <a:endParaRPr lang="en-US" dirty="0"/>
          </a:p>
        </p:txBody>
      </p:sp>
      <p:sp>
        <p:nvSpPr>
          <p:cNvPr id="4" name="Slide Number Placeholder 3"/>
          <p:cNvSpPr>
            <a:spLocks noGrp="1"/>
          </p:cNvSpPr>
          <p:nvPr>
            <p:ph type="sldNum" sz="quarter" idx="5"/>
          </p:nvPr>
        </p:nvSpPr>
        <p:spPr/>
        <p:txBody>
          <a:bodyPr/>
          <a:lstStyle/>
          <a:p>
            <a:fld id="{8FFD2A8B-BCD5-3141-A454-1E72234D25CF}" type="slidenum">
              <a:rPr lang="en-US" smtClean="0"/>
              <a:t>4</a:t>
            </a:fld>
            <a:endParaRPr lang="en-US"/>
          </a:p>
        </p:txBody>
      </p:sp>
    </p:spTree>
    <p:extLst>
      <p:ext uri="{BB962C8B-B14F-4D97-AF65-F5344CB8AC3E}">
        <p14:creationId xmlns:p14="http://schemas.microsoft.com/office/powerpoint/2010/main" val="12586384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Header 1"/>
          <p:cNvSpPr>
            <a:spLocks noGrp="1"/>
          </p:cNvSpPr>
          <p:nvPr>
            <p:ph type="title"/>
          </p:nvPr>
        </p:nvSpPr>
        <p:spPr/>
        <p:txBody>
          <a:bodyPr/>
          <a:lstStyle/>
          <a:p>
            <a:r>
              <a:rPr lang="en-US"/>
              <a:t>Title</a:t>
            </a:r>
          </a:p>
        </p:txBody>
      </p:sp>
      <p:sp>
        <p:nvSpPr>
          <p:cNvPr id="3" name="Text 2"/>
          <p:cNvSpPr>
            <a:spLocks noGrp="1"/>
          </p:cNvSpPr>
          <p:nvPr>
            <p:ph type="body" idx="1"/>
          </p:nvPr>
        </p:nvSpPr>
        <p:spPr/>
        <p:txBody>
          <a:bodyPr/>
          <a:lstStyle/>
          <a:p>
            <a:pPr lvl="0"/>
            <a:r>
              <a:rPr lang="en-US"/>
              <a:t>Text</a:t>
            </a:r>
          </a:p>
          <a:p>
            <a:pPr lvl="1"/>
            <a:r>
              <a:rPr lang="en-US"/>
              <a:t>Second level</a:t>
            </a:r>
          </a:p>
          <a:p>
            <a:pPr lvl="2"/>
            <a:r>
              <a:rPr lang="en-US"/>
              <a:t>Third level</a:t>
            </a:r>
          </a:p>
          <a:p>
            <a:pPr lvl="3"/>
            <a:r>
              <a:rPr lang="en-US"/>
              <a:t>Fourth level</a:t>
            </a:r>
          </a:p>
          <a:p>
            <a:pPr lvl="4"/>
            <a:r>
              <a:rPr lang="en-US"/>
              <a:t>Fifth level</a:t>
            </a:r>
          </a:p>
        </p:txBody>
      </p:sp>
      <p:sp>
        <p:nvSpPr>
          <p:cNvPr id="4" name="Date 3"/>
          <p:cNvSpPr>
            <a:spLocks noGrp="1"/>
          </p:cNvSpPr>
          <p:nvPr>
            <p:ph type="dt" sz="half" idx="10"/>
          </p:nvPr>
        </p:nvSpPr>
        <p:spPr/>
        <p:txBody>
          <a:bodyPr/>
          <a:lstStyle/>
          <a:p>
            <a:fld id="{C16525B2-4347-4F72-BAF7-76B19438D329}" type="datetimeFigureOut">
              <a:rPr lang="en-US" smtClean="0"/>
              <a:t>5/1/26</a:t>
            </a:fld>
            <a:endParaRPr lang="en-US"/>
          </a:p>
        </p:txBody>
      </p:sp>
      <p:sp>
        <p:nvSpPr>
          <p:cNvPr id="5" name="Footer 4"/>
          <p:cNvSpPr>
            <a:spLocks noGrp="1"/>
          </p:cNvSpPr>
          <p:nvPr>
            <p:ph type="ftr" sz="quarter" idx="11"/>
          </p:nvPr>
        </p:nvSpPr>
        <p:spPr/>
        <p:txBody>
          <a:bodyPr/>
          <a:lstStyle/>
          <a:p>
            <a:endParaRPr lang="en-US"/>
          </a:p>
        </p:txBody>
      </p:sp>
      <p:sp>
        <p:nvSpPr>
          <p:cNvPr id="6" name="Slide number 5"/>
          <p:cNvSpPr>
            <a:spLocks noGrp="1"/>
          </p:cNvSpPr>
          <p:nvPr>
            <p:ph type="sldNum" sz="quarter" idx="12"/>
          </p:nvPr>
        </p:nvSpPr>
        <p:spPr/>
        <p:txBody>
          <a:bodyPr/>
          <a:lstStyle/>
          <a:p>
            <a:fld id="{80F073CC-40D5-4B23-8DF0-9BD0A0C12F2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7666" y="427735"/>
            <a:ext cx="6797992" cy="1710943"/>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7666" y="2459482"/>
            <a:ext cx="679799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68130" y="9944862"/>
            <a:ext cx="2417063"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7666" y="9944862"/>
            <a:ext cx="1737264"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5/1/26</a:t>
            </a:fld>
            <a:endParaRPr lang="en-US"/>
          </a:p>
        </p:txBody>
      </p:sp>
      <p:sp>
        <p:nvSpPr>
          <p:cNvPr id="6" name="Holder 6"/>
          <p:cNvSpPr>
            <a:spLocks noGrp="1"/>
          </p:cNvSpPr>
          <p:nvPr>
            <p:ph type="sldNum" sz="quarter" idx="7"/>
          </p:nvPr>
        </p:nvSpPr>
        <p:spPr>
          <a:xfrm>
            <a:off x="5438394" y="9944862"/>
            <a:ext cx="1737264"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1271464" y="1628800"/>
            <a:ext cx="8640960" cy="2023054"/>
          </a:xfrm>
          <a:prstGeom prst="rect">
            <a:avLst/>
          </a:prstGeom>
        </p:spPr>
        <p:txBody>
          <a:bodyPr vert="horz" wrap="square" lIns="0" tIns="0" rIns="0" bIns="0" rtlCol="0">
            <a:spAutoFit/>
          </a:bodyPr>
          <a:lstStyle/>
          <a:p>
            <a:pPr marL="1279779" marR="0" algn="ctr">
              <a:lnSpc>
                <a:spcPts val="8163"/>
              </a:lnSpc>
              <a:spcBef>
                <a:spcPts val="0"/>
              </a:spcBef>
              <a:spcAft>
                <a:spcPts val="0"/>
              </a:spcAft>
            </a:pPr>
            <a:r>
              <a:rPr lang="en-US" sz="5400" dirty="0">
                <a:solidFill>
                  <a:srgbClr val="191B0E"/>
                </a:solidFill>
                <a:latin typeface="+mj-lt"/>
                <a:cs typeface="PWMWTI+FranklinGothic-Book"/>
              </a:rPr>
              <a:t>Project 4 :</a:t>
            </a:r>
          </a:p>
          <a:p>
            <a:pPr marL="1279779" marR="0" algn="ctr">
              <a:lnSpc>
                <a:spcPts val="8163"/>
              </a:lnSpc>
              <a:spcBef>
                <a:spcPts val="0"/>
              </a:spcBef>
              <a:spcAft>
                <a:spcPts val="0"/>
              </a:spcAft>
            </a:pPr>
            <a:r>
              <a:rPr lang="en-US" sz="5400" dirty="0">
                <a:solidFill>
                  <a:srgbClr val="191B0E"/>
                </a:solidFill>
                <a:latin typeface="+mj-lt"/>
                <a:cs typeface="PWMWTI+FranklinGothic-Book"/>
              </a:rPr>
              <a:t>Interim </a:t>
            </a:r>
            <a:r>
              <a:rPr lang="en-US" sz="5400" spc="-75" dirty="0">
                <a:solidFill>
                  <a:srgbClr val="191B0E"/>
                </a:solidFill>
                <a:latin typeface="+mj-lt"/>
                <a:cs typeface="PWMWTI+FranklinGothic-Book"/>
              </a:rPr>
              <a:t>Data Analysis Plan</a:t>
            </a:r>
            <a:endParaRPr sz="5400" spc="-75" dirty="0">
              <a:solidFill>
                <a:srgbClr val="191B0E"/>
              </a:solidFill>
              <a:latin typeface="+mj-lt"/>
              <a:cs typeface="PWMWTI+FranklinGothic-Book"/>
            </a:endParaRPr>
          </a:p>
        </p:txBody>
      </p:sp>
      <p:sp>
        <p:nvSpPr>
          <p:cNvPr id="4" name="object 4"/>
          <p:cNvSpPr txBox="1"/>
          <p:nvPr/>
        </p:nvSpPr>
        <p:spPr>
          <a:xfrm>
            <a:off x="5083629" y="4095852"/>
            <a:ext cx="2024742" cy="730969"/>
          </a:xfrm>
          <a:prstGeom prst="rect">
            <a:avLst/>
          </a:prstGeom>
        </p:spPr>
        <p:txBody>
          <a:bodyPr vert="horz" wrap="square" lIns="0" tIns="0" rIns="0" bIns="0" rtlCol="0">
            <a:spAutoFit/>
          </a:bodyPr>
          <a:lstStyle/>
          <a:p>
            <a:pPr marL="0" marR="0">
              <a:lnSpc>
                <a:spcPts val="2612"/>
              </a:lnSpc>
              <a:spcBef>
                <a:spcPts val="0"/>
              </a:spcBef>
              <a:spcAft>
                <a:spcPts val="0"/>
              </a:spcAft>
            </a:pPr>
            <a:r>
              <a:rPr lang="en-US" sz="2300" dirty="0">
                <a:solidFill>
                  <a:srgbClr val="191B0E"/>
                </a:solidFill>
                <a:latin typeface="PWMWTI+FranklinGothic-Book"/>
                <a:cs typeface="PWMWTI+FranklinGothic-Book"/>
              </a:rPr>
              <a:t>Ryan Summers</a:t>
            </a:r>
            <a:endParaRPr sz="2300" dirty="0">
              <a:solidFill>
                <a:srgbClr val="191B0E"/>
              </a:solidFill>
              <a:latin typeface="PWMWTI+FranklinGothic-Book"/>
              <a:cs typeface="PWMWTI+FranklinGothic-Book"/>
            </a:endParaRPr>
          </a:p>
          <a:p>
            <a:pPr marL="77914" marR="0" algn="ctr">
              <a:lnSpc>
                <a:spcPts val="2612"/>
              </a:lnSpc>
              <a:spcBef>
                <a:spcPts val="459"/>
              </a:spcBef>
              <a:spcAft>
                <a:spcPts val="0"/>
              </a:spcAft>
            </a:pPr>
            <a:r>
              <a:rPr lang="en-US" sz="2300" spc="-13" dirty="0">
                <a:solidFill>
                  <a:srgbClr val="191B0E"/>
                </a:solidFill>
                <a:latin typeface="PWMWTI+FranklinGothic-Book"/>
                <a:cs typeface="PWMWTI+FranklinGothic-Book"/>
              </a:rPr>
              <a:t>5/4/26</a:t>
            </a:r>
            <a:endParaRPr sz="2300" spc="-13" dirty="0">
              <a:solidFill>
                <a:srgbClr val="191B0E"/>
              </a:solidFill>
              <a:latin typeface="PWMWTI+FranklinGothic-Book"/>
              <a:cs typeface="PWMWTI+FranklinGothic-Boo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1127448" y="260648"/>
            <a:ext cx="10321592"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21" dirty="0">
                <a:solidFill>
                  <a:srgbClr val="181A0D"/>
                </a:solidFill>
                <a:latin typeface="+mj-lt"/>
                <a:cs typeface="WPQCJM+FranklinGothic-Book"/>
              </a:rPr>
              <a:t>Research</a:t>
            </a:r>
            <a:r>
              <a:rPr sz="4400" spc="21" dirty="0">
                <a:solidFill>
                  <a:srgbClr val="181A0D"/>
                </a:solidFill>
                <a:latin typeface="+mj-lt"/>
                <a:cs typeface="WPQCJM+FranklinGothic-Book"/>
              </a:rPr>
              <a:t> </a:t>
            </a:r>
            <a:r>
              <a:rPr sz="4400" dirty="0">
                <a:solidFill>
                  <a:srgbClr val="181A0D"/>
                </a:solidFill>
                <a:latin typeface="+mj-lt"/>
                <a:cs typeface="WPQCJM+FranklinGothic-Book"/>
              </a:rPr>
              <a:t>Question</a:t>
            </a:r>
            <a:r>
              <a:rPr lang="en-US" sz="4400" dirty="0">
                <a:solidFill>
                  <a:srgbClr val="181A0D"/>
                </a:solidFill>
                <a:latin typeface="+mj-lt"/>
                <a:cs typeface="WPQCJM+FranklinGothic-Book"/>
              </a:rPr>
              <a:t> &amp; Simulation Design</a:t>
            </a:r>
            <a:endParaRPr sz="4400" dirty="0">
              <a:solidFill>
                <a:srgbClr val="181A0D"/>
              </a:solidFill>
              <a:latin typeface="+mj-lt"/>
              <a:cs typeface="WPQCJM+FranklinGothic-Book"/>
            </a:endParaRPr>
          </a:p>
        </p:txBody>
      </p:sp>
      <mc:AlternateContent xmlns:mc="http://schemas.openxmlformats.org/markup-compatibility/2006">
        <mc:Choice xmlns:a14="http://schemas.microsoft.com/office/drawing/2010/main" Requires="a14">
          <p:sp>
            <p:nvSpPr>
              <p:cNvPr id="4" name="object 4"/>
              <p:cNvSpPr txBox="1"/>
              <p:nvPr/>
            </p:nvSpPr>
            <p:spPr>
              <a:xfrm>
                <a:off x="1127448" y="1162497"/>
                <a:ext cx="9265920" cy="5052665"/>
              </a:xfrm>
              <a:prstGeom prst="rect">
                <a:avLst/>
              </a:prstGeom>
            </p:spPr>
            <p:txBody>
              <a:bodyPr vert="horz" wrap="square" lIns="0" tIns="0" rIns="0" bIns="0" rtlCol="0">
                <a:spAutoFit/>
              </a:bodyPr>
              <a:lstStyle/>
              <a:p>
                <a:pPr marL="285750" indent="-285750">
                  <a:lnSpc>
                    <a:spcPts val="2258"/>
                  </a:lnSpc>
                  <a:buFont typeface="Wingdings" pitchFamily="2" charset="2"/>
                  <a:buChar char="q"/>
                </a:pPr>
                <a:r>
                  <a:rPr lang="en-US" sz="2000" dirty="0"/>
                  <a:t>How do different variable selection methods perform in including true predictors and excluding irrelevant predictors in linear regression models under varying sample sizes and levels of variable correlation</a:t>
                </a:r>
              </a:p>
              <a:p>
                <a:pPr>
                  <a:lnSpc>
                    <a:spcPts val="2258"/>
                  </a:lnSpc>
                </a:pPr>
                <a:endParaRPr lang="en-US" sz="2000" dirty="0">
                  <a:solidFill>
                    <a:srgbClr val="181A0D"/>
                  </a:solidFill>
                  <a:latin typeface="WPQCJM+FranklinGothic-Book"/>
                  <a:cs typeface="WPQCJM+FranklinGothic-Book"/>
                </a:endParaRPr>
              </a:p>
              <a:p>
                <a:pPr>
                  <a:lnSpc>
                    <a:spcPts val="2258"/>
                  </a:lnSpc>
                </a:pPr>
                <a:r>
                  <a:rPr lang="en-US" sz="2400" b="1" dirty="0">
                    <a:solidFill>
                      <a:srgbClr val="181A0D"/>
                    </a:solidFill>
                    <a:cs typeface="WPQCJM+FranklinGothic-Book"/>
                  </a:rPr>
                  <a:t>Aims:</a:t>
                </a:r>
              </a:p>
              <a:p>
                <a:pPr marL="800100" lvl="1" indent="-342900">
                  <a:lnSpc>
                    <a:spcPts val="2258"/>
                  </a:lnSpc>
                  <a:buFont typeface="Wingdings" pitchFamily="2" charset="2"/>
                  <a:buChar char="Ø"/>
                </a:pPr>
                <a:r>
                  <a:rPr lang="en-US" sz="2000" dirty="0">
                    <a:solidFill>
                      <a:srgbClr val="181A0D"/>
                    </a:solidFill>
                    <a:cs typeface="WPQCJM+FranklinGothic-Book"/>
                  </a:rPr>
                  <a:t>Compare variable selection accuracy across selection methods</a:t>
                </a:r>
              </a:p>
              <a:p>
                <a:pPr marL="800100" lvl="1" indent="-342900">
                  <a:lnSpc>
                    <a:spcPts val="2258"/>
                  </a:lnSpc>
                  <a:buFont typeface="Wingdings" pitchFamily="2" charset="2"/>
                  <a:buChar char="Ø"/>
                </a:pPr>
                <a:r>
                  <a:rPr lang="en-US" sz="2000" dirty="0">
                    <a:solidFill>
                      <a:srgbClr val="181A0D"/>
                    </a:solidFill>
                    <a:cs typeface="WPQCJM+FranklinGothic-Book"/>
                  </a:rPr>
                  <a:t>Evaluate coefficient estimation performance (bias, CI coverage)</a:t>
                </a:r>
              </a:p>
              <a:p>
                <a:pPr marL="800100" lvl="1" indent="-342900">
                  <a:lnSpc>
                    <a:spcPts val="2258"/>
                  </a:lnSpc>
                  <a:buFont typeface="Wingdings" pitchFamily="2" charset="2"/>
                  <a:buChar char="Ø"/>
                </a:pPr>
                <a:r>
                  <a:rPr lang="en-US" sz="2000" dirty="0">
                    <a:solidFill>
                      <a:srgbClr val="181A0D"/>
                    </a:solidFill>
                    <a:cs typeface="WPQCJM+FranklinGothic-Book"/>
                  </a:rPr>
                  <a:t>Assess Type I &amp; II error post-model selection</a:t>
                </a:r>
              </a:p>
              <a:p>
                <a:pPr>
                  <a:lnSpc>
                    <a:spcPts val="2258"/>
                  </a:lnSpc>
                </a:pPr>
                <a:endParaRPr lang="en-US" sz="2000" dirty="0">
                  <a:solidFill>
                    <a:srgbClr val="181A0D"/>
                  </a:solidFill>
                  <a:cs typeface="WPQCJM+FranklinGothic-Book"/>
                </a:endParaRPr>
              </a:p>
              <a:p>
                <a:pPr>
                  <a:lnSpc>
                    <a:spcPts val="2258"/>
                  </a:lnSpc>
                </a:pPr>
                <a:r>
                  <a:rPr lang="en-US" sz="2400" b="1" dirty="0">
                    <a:solidFill>
                      <a:srgbClr val="181A0D"/>
                    </a:solidFill>
                    <a:cs typeface="WPQCJM+FranklinGothic-Book"/>
                  </a:rPr>
                  <a:t>Simulation Design:</a:t>
                </a:r>
              </a:p>
              <a:p>
                <a:pPr marL="800100" lvl="1" indent="-342900">
                  <a:lnSpc>
                    <a:spcPts val="2258"/>
                  </a:lnSpc>
                  <a:buFont typeface="Wingdings" pitchFamily="2" charset="2"/>
                  <a:buChar char="Ø"/>
                </a:pPr>
                <a:r>
                  <a:rPr lang="en-US" sz="2000" dirty="0">
                    <a:solidFill>
                      <a:srgbClr val="181A0D"/>
                    </a:solidFill>
                  </a:rPr>
                  <a:t>Data generated using hdrm::gen_data() under Linear Regression</a:t>
                </a:r>
              </a:p>
              <a:p>
                <a:pPr marL="1257300" lvl="2" indent="-342900">
                  <a:lnSpc>
                    <a:spcPts val="2258"/>
                  </a:lnSpc>
                  <a:buFont typeface="Wingdings" pitchFamily="2" charset="2"/>
                  <a:buChar char="§"/>
                </a:pPr>
                <a14:m>
                  <m:oMath xmlns:m="http://schemas.openxmlformats.org/officeDocument/2006/math">
                    <m:r>
                      <a:rPr lang="en-US" sz="2000" i="1">
                        <a:latin typeface="Cambria Math" panose="02040503050406030204" pitchFamily="18" charset="0"/>
                      </a:rPr>
                      <m:t>𝑌</m:t>
                    </m:r>
                    <m:r>
                      <a:rPr lang="en-US" sz="2000">
                        <a:latin typeface="Cambria Math" panose="02040503050406030204" pitchFamily="18" charset="0"/>
                      </a:rPr>
                      <m:t>=</m:t>
                    </m:r>
                    <m:r>
                      <a:rPr lang="en-US" sz="2000" i="1">
                        <a:latin typeface="Cambria Math" panose="02040503050406030204" pitchFamily="18" charset="0"/>
                      </a:rPr>
                      <m:t>𝑋</m:t>
                    </m:r>
                    <m:r>
                      <a:rPr lang="en-US" sz="2000" i="1">
                        <a:latin typeface="Cambria Math" panose="02040503050406030204" pitchFamily="18" charset="0"/>
                      </a:rPr>
                      <m:t>𝛽</m:t>
                    </m:r>
                    <m:r>
                      <a:rPr lang="en-US" sz="2000">
                        <a:latin typeface="Cambria Math" panose="02040503050406030204" pitchFamily="18" charset="0"/>
                      </a:rPr>
                      <m:t>+</m:t>
                    </m:r>
                    <m:r>
                      <a:rPr lang="en-US" sz="2000" i="1">
                        <a:latin typeface="Cambria Math" panose="02040503050406030204" pitchFamily="18" charset="0"/>
                      </a:rPr>
                      <m:t>𝜖</m:t>
                    </m:r>
                  </m:oMath>
                </a14:m>
                <a:r>
                  <a:rPr lang="en-US" sz="2000" dirty="0"/>
                  <a:t> ;  </a:t>
                </a:r>
                <a14:m>
                  <m:oMath xmlns:m="http://schemas.openxmlformats.org/officeDocument/2006/math">
                    <m:r>
                      <a:rPr lang="en-US" sz="2000" i="1">
                        <a:latin typeface="Cambria Math" panose="02040503050406030204" pitchFamily="18" charset="0"/>
                      </a:rPr>
                      <m:t>𝑋</m:t>
                    </m:r>
                  </m:oMath>
                </a14:m>
                <a:r>
                  <a:rPr lang="en-US" sz="2000" dirty="0"/>
                  <a:t> is </a:t>
                </a:r>
                <a14:m>
                  <m:oMath xmlns:m="http://schemas.openxmlformats.org/officeDocument/2006/math">
                    <m:sSub>
                      <m:sSubPr>
                        <m:ctrlPr>
                          <a:rPr lang="en-US" sz="2000" i="1">
                            <a:solidFill>
                              <a:srgbClr val="181A0D"/>
                            </a:solidFill>
                            <a:latin typeface="Cambria Math" panose="02040503050406030204" pitchFamily="18" charset="0"/>
                          </a:rPr>
                        </m:ctrlPr>
                      </m:sSubPr>
                      <m:e>
                        <m:r>
                          <m:rPr>
                            <m:sty m:val="p"/>
                          </m:rPr>
                          <a:rPr lang="en-US" sz="2000" i="1">
                            <a:solidFill>
                              <a:srgbClr val="181A0D"/>
                            </a:solidFill>
                            <a:latin typeface="Cambria Math" panose="02040503050406030204" pitchFamily="18" charset="0"/>
                          </a:rPr>
                          <m:t>n</m:t>
                        </m:r>
                      </m:e>
                      <m:sub>
                        <m:r>
                          <m:rPr>
                            <m:sty m:val="p"/>
                          </m:rPr>
                          <a:rPr lang="en-US" sz="2000" i="1">
                            <a:solidFill>
                              <a:srgbClr val="181A0D"/>
                            </a:solidFill>
                            <a:latin typeface="Cambria Math" panose="02040503050406030204" pitchFamily="18" charset="0"/>
                          </a:rPr>
                          <m:t>obs</m:t>
                        </m:r>
                      </m:sub>
                    </m:sSub>
                    <m:r>
                      <a:rPr lang="en-US" sz="2000">
                        <a:latin typeface="Cambria Math" panose="02040503050406030204" pitchFamily="18" charset="0"/>
                      </a:rPr>
                      <m:t>×</m:t>
                    </m:r>
                    <m:r>
                      <a:rPr lang="en-US" sz="2000" i="1">
                        <a:latin typeface="Cambria Math" panose="02040503050406030204" pitchFamily="18" charset="0"/>
                      </a:rPr>
                      <m:t>20</m:t>
                    </m:r>
                    <m:r>
                      <a:rPr lang="en-US" sz="2000" b="0" i="1" smtClean="0">
                        <a:latin typeface="Cambria Math" panose="02040503050406030204" pitchFamily="18" charset="0"/>
                      </a:rPr>
                      <m:t> </m:t>
                    </m:r>
                    <m:r>
                      <a:rPr lang="en-US" sz="2000" b="0" i="0" smtClean="0">
                        <a:latin typeface="Cambria Math" panose="02040503050406030204" pitchFamily="18" charset="0"/>
                      </a:rPr>
                      <m:t>;</m:t>
                    </m:r>
                    <m:r>
                      <a:rPr lang="en-US" sz="2000" b="0" i="1" smtClean="0">
                        <a:latin typeface="Cambria Math" panose="02040503050406030204" pitchFamily="18" charset="0"/>
                      </a:rPr>
                      <m:t> </m:t>
                    </m:r>
                    <m:r>
                      <a:rPr lang="en-US" sz="2000" i="1">
                        <a:latin typeface="Cambria Math" panose="02040503050406030204" pitchFamily="18" charset="0"/>
                      </a:rPr>
                      <m:t>𝜖</m:t>
                    </m:r>
                    <m:r>
                      <a:rPr lang="en-US" sz="2000">
                        <a:latin typeface="Cambria Math" panose="02040503050406030204" pitchFamily="18" charset="0"/>
                      </a:rPr>
                      <m:t>∼</m:t>
                    </m:r>
                    <m:r>
                      <a:rPr lang="en-US" sz="2000" i="1">
                        <a:latin typeface="Cambria Math" panose="02040503050406030204" pitchFamily="18" charset="0"/>
                      </a:rPr>
                      <m:t>𝑁</m:t>
                    </m:r>
                    <m:r>
                      <a:rPr lang="en-US" sz="2000">
                        <a:latin typeface="Cambria Math" panose="02040503050406030204" pitchFamily="18" charset="0"/>
                      </a:rPr>
                      <m:t>(</m:t>
                    </m:r>
                    <m:r>
                      <a:rPr lang="en-US" sz="2000" i="1">
                        <a:latin typeface="Cambria Math" panose="02040503050406030204" pitchFamily="18" charset="0"/>
                      </a:rPr>
                      <m:t>0</m:t>
                    </m:r>
                    <m:r>
                      <a:rPr lang="en-US" sz="2000">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𝜎</m:t>
                        </m:r>
                      </m:e>
                      <m:sup>
                        <m:r>
                          <a:rPr lang="en-US" sz="2000" i="1">
                            <a:latin typeface="Cambria Math" panose="02040503050406030204" pitchFamily="18" charset="0"/>
                          </a:rPr>
                          <m:t>2</m:t>
                        </m:r>
                      </m:sup>
                    </m:sSup>
                    <m:r>
                      <a:rPr lang="en-US" sz="2000">
                        <a:latin typeface="Cambria Math" panose="02040503050406030204" pitchFamily="18" charset="0"/>
                      </a:rPr>
                      <m:t>)</m:t>
                    </m:r>
                  </m:oMath>
                </a14:m>
                <a:endParaRPr lang="en-US" sz="2000" dirty="0"/>
              </a:p>
              <a:p>
                <a:pPr marL="1257300" lvl="2" indent="-342900">
                  <a:lnSpc>
                    <a:spcPts val="2258"/>
                  </a:lnSpc>
                  <a:buFont typeface="Wingdings" pitchFamily="2" charset="2"/>
                  <a:buChar char="§"/>
                </a:pPr>
                <a:r>
                  <a:rPr lang="en-US" sz="2000" dirty="0">
                    <a:solidFill>
                      <a:srgbClr val="181A0D"/>
                    </a:solidFill>
                    <a:cs typeface="WPQCJM+FranklinGothic-Book"/>
                  </a:rPr>
                  <a:t>5 true predictors: </a:t>
                </a:r>
                <a14:m>
                  <m:oMath xmlns:m="http://schemas.openxmlformats.org/officeDocument/2006/math">
                    <m:r>
                      <a:rPr lang="en-US" sz="2000" i="1">
                        <a:latin typeface="Cambria Math" panose="02040503050406030204" pitchFamily="18" charset="0"/>
                      </a:rPr>
                      <m:t>𝛽</m:t>
                    </m:r>
                    <m:r>
                      <a:rPr lang="en-US" sz="2000">
                        <a:latin typeface="Cambria Math" panose="02040503050406030204" pitchFamily="18" charset="0"/>
                      </a:rPr>
                      <m:t> =</m:t>
                    </m:r>
                    <m:r>
                      <m:rPr>
                        <m:nor/>
                      </m:rPr>
                      <a:rPr lang="en-US" sz="2000" b="0" i="0" smtClean="0">
                        <a:latin typeface="Cambria Math" panose="02040503050406030204" pitchFamily="18" charset="0"/>
                      </a:rPr>
                      <m:t>(</m:t>
                    </m:r>
                    <m:r>
                      <m:rPr>
                        <m:nor/>
                      </m:rPr>
                      <a:rPr lang="en-US" sz="2000"/>
                      <m:t>0.5/3</m:t>
                    </m:r>
                    <m:r>
                      <m:rPr>
                        <m:nor/>
                      </m:rPr>
                      <a:rPr lang="en-US" sz="2000" b="0" i="0" smtClean="0"/>
                      <m:t>, 1/3, 1.5/3, 2/3,</m:t>
                    </m:r>
                    <m:r>
                      <m:rPr>
                        <m:nor/>
                      </m:rPr>
                      <a:rPr lang="en-US" sz="2000"/>
                      <m:t> 2.5/3</m:t>
                    </m:r>
                  </m:oMath>
                </a14:m>
                <a:r>
                  <a:rPr lang="en-US" sz="2000" dirty="0">
                    <a:solidFill>
                      <a:srgbClr val="181A0D"/>
                    </a:solidFill>
                    <a:cs typeface="WPQCJM+FranklinGothic-Book"/>
                  </a:rPr>
                  <a:t>)</a:t>
                </a:r>
              </a:p>
              <a:p>
                <a:pPr marL="1257300" lvl="2" indent="-342900">
                  <a:lnSpc>
                    <a:spcPts val="2258"/>
                  </a:lnSpc>
                  <a:buFont typeface="Wingdings" pitchFamily="2" charset="2"/>
                  <a:buChar char="§"/>
                </a:pPr>
                <a:r>
                  <a:rPr lang="en-US" sz="2000" dirty="0">
                    <a:solidFill>
                      <a:srgbClr val="181A0D"/>
                    </a:solidFill>
                    <a:cs typeface="WPQCJM+FranklinGothic-Book"/>
                  </a:rPr>
                  <a:t>15 unrelated:</a:t>
                </a:r>
                <a:r>
                  <a:rPr lang="en-US" sz="2000" dirty="0"/>
                  <a:t> </a:t>
                </a:r>
                <a14:m>
                  <m:oMath xmlns:m="http://schemas.openxmlformats.org/officeDocument/2006/math">
                    <m:r>
                      <a:rPr lang="en-US" sz="2000" i="1">
                        <a:latin typeface="Cambria Math" panose="02040503050406030204" pitchFamily="18" charset="0"/>
                      </a:rPr>
                      <m:t>𝛽</m:t>
                    </m:r>
                    <m:r>
                      <a:rPr lang="en-US" sz="2000">
                        <a:latin typeface="Cambria Math" panose="02040503050406030204" pitchFamily="18" charset="0"/>
                      </a:rPr>
                      <m:t> =</m:t>
                    </m:r>
                    <m:r>
                      <m:rPr>
                        <m:nor/>
                      </m:rPr>
                      <a:rPr lang="en-US" sz="2000" b="0" i="0" smtClean="0">
                        <a:latin typeface="Cambria Math" panose="02040503050406030204" pitchFamily="18" charset="0"/>
                      </a:rPr>
                      <m:t>0</m:t>
                    </m:r>
                  </m:oMath>
                </a14:m>
                <a:endParaRPr lang="en-US" sz="2000" dirty="0">
                  <a:solidFill>
                    <a:srgbClr val="181A0D"/>
                  </a:solidFill>
                  <a:cs typeface="WPQCJM+FranklinGothic-Book"/>
                </a:endParaRPr>
              </a:p>
              <a:p>
                <a:pPr marL="800100" lvl="1" indent="-342900">
                  <a:buFont typeface="Wingdings" pitchFamily="2" charset="2"/>
                  <a:buChar char="Ø"/>
                </a:pPr>
                <a:r>
                  <a:rPr lang="en-US" sz="2000" dirty="0">
                    <a:solidFill>
                      <a:srgbClr val="181A0D"/>
                    </a:solidFill>
                    <a:cs typeface="WPQCJM+FranklinGothic-Book"/>
                  </a:rPr>
                  <a:t>Sample sizes: </a:t>
                </a:r>
                <a14:m>
                  <m:oMath xmlns:m="http://schemas.openxmlformats.org/officeDocument/2006/math">
                    <m:sSub>
                      <m:sSubPr>
                        <m:ctrlPr>
                          <a:rPr lang="en-US" sz="2000" i="1" smtClean="0">
                            <a:solidFill>
                              <a:srgbClr val="181A0D"/>
                            </a:solidFill>
                            <a:latin typeface="Cambria Math" panose="02040503050406030204" pitchFamily="18" charset="0"/>
                          </a:rPr>
                        </m:ctrlPr>
                      </m:sSubPr>
                      <m:e>
                        <m:r>
                          <m:rPr>
                            <m:sty m:val="p"/>
                          </m:rPr>
                          <a:rPr lang="en-US" sz="2000" b="0" i="1" smtClean="0">
                            <a:solidFill>
                              <a:srgbClr val="181A0D"/>
                            </a:solidFill>
                            <a:latin typeface="Cambria Math" panose="02040503050406030204" pitchFamily="18" charset="0"/>
                          </a:rPr>
                          <m:t>n</m:t>
                        </m:r>
                      </m:e>
                      <m:sub>
                        <m:r>
                          <m:rPr>
                            <m:sty m:val="p"/>
                          </m:rPr>
                          <a:rPr lang="en-US" sz="2000" b="0" i="1" smtClean="0">
                            <a:solidFill>
                              <a:srgbClr val="181A0D"/>
                            </a:solidFill>
                            <a:latin typeface="Cambria Math" panose="02040503050406030204" pitchFamily="18" charset="0"/>
                          </a:rPr>
                          <m:t>obs</m:t>
                        </m:r>
                      </m:sub>
                    </m:sSub>
                  </m:oMath>
                </a14:m>
                <a:r>
                  <a:rPr lang="en-US" sz="2000" dirty="0">
                    <a:solidFill>
                      <a:srgbClr val="181A0D"/>
                    </a:solidFill>
                    <a:cs typeface="WPQCJM+FranklinGothic-Book"/>
                  </a:rPr>
                  <a:t>=250 &amp; 500</a:t>
                </a:r>
              </a:p>
              <a:p>
                <a:pPr marL="800100" lvl="1" indent="-342900">
                  <a:buFont typeface="Wingdings" pitchFamily="2" charset="2"/>
                  <a:buChar char="Ø"/>
                </a:pPr>
                <a:r>
                  <a:rPr lang="en-US" sz="2000" dirty="0">
                    <a:solidFill>
                      <a:srgbClr val="181A0D"/>
                    </a:solidFill>
                    <a:cs typeface="WPQCJM+FranklinGothic-Book"/>
                  </a:rPr>
                  <a:t>Correlation: </a:t>
                </a:r>
                <a14:m>
                  <m:oMath xmlns:m="http://schemas.openxmlformats.org/officeDocument/2006/math">
                    <m:r>
                      <a:rPr lang="en-US" sz="2000" i="1" smtClean="0">
                        <a:solidFill>
                          <a:srgbClr val="181A0D"/>
                        </a:solidFill>
                        <a:latin typeface="Cambria Math" panose="02040503050406030204" pitchFamily="18" charset="0"/>
                        <a:ea typeface="Cambria Math" panose="02040503050406030204" pitchFamily="18" charset="0"/>
                        <a:cs typeface="WPQCJM+FranklinGothic-Book"/>
                      </a:rPr>
                      <m:t>𝜌</m:t>
                    </m:r>
                  </m:oMath>
                </a14:m>
                <a:r>
                  <a:rPr lang="en-US" sz="2000" dirty="0">
                    <a:solidFill>
                      <a:srgbClr val="181A0D"/>
                    </a:solidFill>
                    <a:cs typeface="WPQCJM+FranklinGothic-Book"/>
                  </a:rPr>
                  <a:t> = 0, 0.35, 0.7 (exchangeable/CS)</a:t>
                </a:r>
              </a:p>
              <a:p>
                <a:pPr marL="800100" lvl="1" indent="-342900">
                  <a:buFont typeface="Wingdings" pitchFamily="2" charset="2"/>
                  <a:buChar char="Ø"/>
                </a:pPr>
                <a:r>
                  <a:rPr lang="en-US" sz="2000" dirty="0">
                    <a:solidFill>
                      <a:srgbClr val="181A0D"/>
                    </a:solidFill>
                    <a:cs typeface="WPQCJM+FranklinGothic-Book"/>
                  </a:rPr>
                  <a:t>6 data-generating scenarios</a:t>
                </a:r>
              </a:p>
            </p:txBody>
          </p:sp>
        </mc:Choice>
        <mc:Fallback>
          <p:sp>
            <p:nvSpPr>
              <p:cNvPr id="4" name="object 4"/>
              <p:cNvSpPr txBox="1">
                <a:spLocks noRot="1" noChangeAspect="1" noMove="1" noResize="1" noEditPoints="1" noAdjustHandles="1" noChangeArrowheads="1" noChangeShapeType="1" noTextEdit="1"/>
              </p:cNvSpPr>
              <p:nvPr/>
            </p:nvSpPr>
            <p:spPr>
              <a:xfrm>
                <a:off x="1127448" y="1162497"/>
                <a:ext cx="9265920" cy="5052665"/>
              </a:xfrm>
              <a:prstGeom prst="rect">
                <a:avLst/>
              </a:prstGeom>
              <a:blipFill>
                <a:blip r:embed="rId4"/>
                <a:stretch>
                  <a:fillRect l="-2052" t="-1754" r="-137" b="-2005"/>
                </a:stretch>
              </a:blipFill>
            </p:spPr>
            <p:txBody>
              <a:bodyPr/>
              <a:lstStyle/>
              <a:p>
                <a:r>
                  <a:rPr lang="en-US">
                    <a:noFill/>
                  </a:rPr>
                  <a:t> </a:t>
                </a:r>
              </a:p>
            </p:txBody>
          </p:sp>
        </mc:Fallback>
      </mc:AlternateContent>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055440" y="244403"/>
            <a:ext cx="7327570"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dirty="0">
                <a:solidFill>
                  <a:srgbClr val="181A0D"/>
                </a:solidFill>
                <a:latin typeface="+mj-lt"/>
                <a:cs typeface="VTCKGD+FranklinGothic-Book"/>
              </a:rPr>
              <a:t>Selection Methods</a:t>
            </a:r>
            <a:endParaRPr sz="4400" dirty="0">
              <a:solidFill>
                <a:srgbClr val="181A0D"/>
              </a:solidFill>
              <a:latin typeface="+mj-lt"/>
              <a:cs typeface="VTCKGD+FranklinGothic-Book"/>
            </a:endParaRPr>
          </a:p>
        </p:txBody>
      </p:sp>
      <mc:AlternateContent xmlns:mc="http://schemas.openxmlformats.org/markup-compatibility/2006">
        <mc:Choice xmlns:a14="http://schemas.microsoft.com/office/drawing/2010/main" Requires="a14">
          <p:sp>
            <p:nvSpPr>
              <p:cNvPr id="16" name="object 4">
                <a:extLst>
                  <a:ext uri="{FF2B5EF4-FFF2-40B4-BE49-F238E27FC236}">
                    <a16:creationId xmlns:a16="http://schemas.microsoft.com/office/drawing/2014/main" id="{374F020B-F79C-7A71-C268-57FB6096B43E}"/>
                  </a:ext>
                </a:extLst>
              </p:cNvPr>
              <p:cNvSpPr txBox="1"/>
              <p:nvPr/>
            </p:nvSpPr>
            <p:spPr>
              <a:xfrm>
                <a:off x="1127448" y="1162497"/>
                <a:ext cx="9265920" cy="6194003"/>
              </a:xfrm>
              <a:prstGeom prst="rect">
                <a:avLst/>
              </a:prstGeom>
            </p:spPr>
            <p:txBody>
              <a:bodyPr vert="horz" wrap="square" lIns="0" tIns="0" rIns="0" bIns="0" rtlCol="0">
                <a:spAutoFit/>
              </a:bodyPr>
              <a:lstStyle/>
              <a:p>
                <a:pPr>
                  <a:lnSpc>
                    <a:spcPts val="2258"/>
                  </a:lnSpc>
                </a:pPr>
                <a:r>
                  <a:rPr lang="en-US" sz="2400" b="1" dirty="0">
                    <a:solidFill>
                      <a:srgbClr val="181A0D"/>
                    </a:solidFill>
                    <a:cs typeface="WPQCJM+FranklinGothic-Book"/>
                  </a:rPr>
                  <a:t>Full Model</a:t>
                </a:r>
                <a:r>
                  <a:rPr lang="en-US" sz="2000" b="1" dirty="0">
                    <a:solidFill>
                      <a:srgbClr val="181A0D"/>
                    </a:solidFill>
                    <a:cs typeface="WPQCJM+FranklinGothic-Book"/>
                  </a:rPr>
                  <a:t>:</a:t>
                </a:r>
              </a:p>
              <a:p>
                <a:pPr marL="800100" lvl="1" indent="-342900">
                  <a:lnSpc>
                    <a:spcPts val="2258"/>
                  </a:lnSpc>
                  <a:buFont typeface="Wingdings" pitchFamily="2" charset="2"/>
                  <a:buChar char="Ø"/>
                </a:pPr>
                <a:r>
                  <a:rPr lang="en-US" sz="2000" dirty="0">
                    <a:solidFill>
                      <a:srgbClr val="181A0D"/>
                    </a:solidFill>
                    <a:cs typeface="WPQCJM+FranklinGothic-Book"/>
                  </a:rPr>
                  <a:t>All 20 predictors included</a:t>
                </a:r>
              </a:p>
              <a:p>
                <a:pPr marL="1257300" lvl="2" indent="-342900">
                  <a:lnSpc>
                    <a:spcPts val="2258"/>
                  </a:lnSpc>
                  <a:buFont typeface="Wingdings" pitchFamily="2" charset="2"/>
                  <a:buChar char="§"/>
                </a:pPr>
                <a:r>
                  <a:rPr lang="en-US" sz="2000" dirty="0">
                    <a:solidFill>
                      <a:srgbClr val="181A0D"/>
                    </a:solidFill>
                    <a:cs typeface="WPQCJM+FranklinGothic-Book"/>
                  </a:rPr>
                  <a:t>5 associated with outcome – 15 not</a:t>
                </a:r>
              </a:p>
              <a:p>
                <a:pPr>
                  <a:lnSpc>
                    <a:spcPts val="2258"/>
                  </a:lnSpc>
                </a:pPr>
                <a:endParaRPr lang="en-US" sz="2000" dirty="0">
                  <a:solidFill>
                    <a:srgbClr val="181A0D"/>
                  </a:solidFill>
                  <a:latin typeface="WPQCJM+FranklinGothic-Book"/>
                  <a:cs typeface="WPQCJM+FranklinGothic-Book"/>
                </a:endParaRPr>
              </a:p>
              <a:p>
                <a:pPr marL="285750" indent="-285750">
                  <a:lnSpc>
                    <a:spcPts val="2258"/>
                  </a:lnSpc>
                  <a:buFont typeface="Wingdings" pitchFamily="2" charset="2"/>
                  <a:buChar char="q"/>
                </a:pPr>
                <a:endParaRPr lang="en-US" sz="2000" dirty="0">
                  <a:solidFill>
                    <a:srgbClr val="181A0D"/>
                  </a:solidFill>
                  <a:latin typeface="WPQCJM+FranklinGothic-Book"/>
                  <a:cs typeface="WPQCJM+FranklinGothic-Book"/>
                </a:endParaRPr>
              </a:p>
              <a:p>
                <a:pPr>
                  <a:lnSpc>
                    <a:spcPts val="2258"/>
                  </a:lnSpc>
                </a:pPr>
                <a:r>
                  <a:rPr lang="en-US" sz="2400" b="1" dirty="0">
                    <a:solidFill>
                      <a:srgbClr val="181A0D"/>
                    </a:solidFill>
                    <a:cs typeface="WPQCJM+FranklinGothic-Book"/>
                  </a:rPr>
                  <a:t>Backward Selection:</a:t>
                </a:r>
              </a:p>
              <a:p>
                <a:pPr marL="800100" lvl="1" indent="-342900">
                  <a:lnSpc>
                    <a:spcPts val="2258"/>
                  </a:lnSpc>
                  <a:buFont typeface="Wingdings" pitchFamily="2" charset="2"/>
                  <a:buChar char="Ø"/>
                </a:pPr>
                <a:r>
                  <a:rPr lang="en-US" sz="2000" dirty="0">
                    <a:solidFill>
                      <a:srgbClr val="181A0D"/>
                    </a:solidFill>
                    <a:cs typeface="WPQCJM+FranklinGothic-Book"/>
                  </a:rPr>
                  <a:t>P-value/F-test (α=0.15)</a:t>
                </a:r>
              </a:p>
              <a:p>
                <a:pPr marL="800100" lvl="1" indent="-342900">
                  <a:lnSpc>
                    <a:spcPts val="2258"/>
                  </a:lnSpc>
                  <a:buFont typeface="Wingdings" pitchFamily="2" charset="2"/>
                  <a:buChar char="Ø"/>
                </a:pPr>
                <a:r>
                  <a:rPr lang="en-US" sz="2000" dirty="0">
                    <a:solidFill>
                      <a:srgbClr val="181A0D"/>
                    </a:solidFill>
                    <a:cs typeface="WPQCJM+FranklinGothic-Book"/>
                  </a:rPr>
                  <a:t>AIC-based selections</a:t>
                </a:r>
              </a:p>
              <a:p>
                <a:pPr marL="800100" lvl="1" indent="-342900">
                  <a:lnSpc>
                    <a:spcPts val="2258"/>
                  </a:lnSpc>
                  <a:buFont typeface="Wingdings" pitchFamily="2" charset="2"/>
                  <a:buChar char="Ø"/>
                </a:pPr>
                <a:r>
                  <a:rPr lang="en-US" sz="2000" dirty="0">
                    <a:solidFill>
                      <a:srgbClr val="181A0D"/>
                    </a:solidFill>
                    <a:cs typeface="WPQCJM+FranklinGothic-Book"/>
                  </a:rPr>
                  <a:t>BIC-based selections</a:t>
                </a:r>
              </a:p>
              <a:p>
                <a:pPr marL="800100" lvl="1" indent="-342900">
                  <a:lnSpc>
                    <a:spcPts val="2258"/>
                  </a:lnSpc>
                  <a:buFont typeface="Wingdings" pitchFamily="2" charset="2"/>
                  <a:buChar char="Ø"/>
                </a:pPr>
                <a:endParaRPr lang="en-US" sz="2000" dirty="0">
                  <a:solidFill>
                    <a:srgbClr val="181A0D"/>
                  </a:solidFill>
                  <a:cs typeface="WPQCJM+FranklinGothic-Book"/>
                </a:endParaRPr>
              </a:p>
              <a:p>
                <a:pPr lvl="1">
                  <a:lnSpc>
                    <a:spcPts val="2258"/>
                  </a:lnSpc>
                </a:pPr>
                <a:endParaRPr lang="en-US" sz="2000" dirty="0">
                  <a:solidFill>
                    <a:srgbClr val="181A0D"/>
                  </a:solidFill>
                  <a:cs typeface="WPQCJM+FranklinGothic-Book"/>
                </a:endParaRPr>
              </a:p>
              <a:p>
                <a:pPr>
                  <a:lnSpc>
                    <a:spcPts val="2258"/>
                  </a:lnSpc>
                </a:pPr>
                <a:r>
                  <a:rPr lang="en-US" sz="2400" b="1" dirty="0">
                    <a:solidFill>
                      <a:srgbClr val="181A0D"/>
                    </a:solidFill>
                    <a:cs typeface="WPQCJM+FranklinGothic-Book"/>
                  </a:rPr>
                  <a:t>Penalized Regression:</a:t>
                </a:r>
              </a:p>
              <a:p>
                <a:pPr marL="800100" lvl="1" indent="-342900">
                  <a:lnSpc>
                    <a:spcPts val="2258"/>
                  </a:lnSpc>
                  <a:buFont typeface="Wingdings" pitchFamily="2" charset="2"/>
                  <a:buChar char="Ø"/>
                </a:pPr>
                <a:r>
                  <a:rPr lang="en-US" sz="2000" dirty="0">
                    <a:solidFill>
                      <a:srgbClr val="181A0D"/>
                    </a:solidFill>
                    <a:cs typeface="WPQCJM+FranklinGothic-Book"/>
                  </a:rPr>
                  <a:t>LASSO (</a:t>
                </a:r>
                <a14:m>
                  <m:oMath xmlns:m="http://schemas.openxmlformats.org/officeDocument/2006/math">
                    <m:sSub>
                      <m:sSubPr>
                        <m:ctrlPr>
                          <a:rPr lang="ar-AE" i="1" smtClean="0">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1</m:t>
                        </m:r>
                      </m:sub>
                    </m:sSub>
                    <m:r>
                      <a:rPr lang="en-US" b="0" i="0" smtClean="0">
                        <a:latin typeface="Cambria Math" panose="02040503050406030204" pitchFamily="18" charset="0"/>
                      </a:rPr>
                      <m:t>)</m:t>
                    </m:r>
                  </m:oMath>
                </a14:m>
                <a:endParaRPr lang="ar-AE" sz="2000" dirty="0">
                  <a:solidFill>
                    <a:srgbClr val="181A0D"/>
                  </a:solidFill>
                  <a:cs typeface="WPQCJM+FranklinGothic-Book"/>
                </a:endParaRPr>
              </a:p>
              <a:p>
                <a:pPr marL="800100" lvl="1" indent="-342900">
                  <a:lnSpc>
                    <a:spcPts val="2258"/>
                  </a:lnSpc>
                  <a:buFont typeface="Wingdings" pitchFamily="2" charset="2"/>
                  <a:buChar char="Ø"/>
                </a:pPr>
                <a:r>
                  <a:rPr lang="en-US" sz="2000" dirty="0">
                    <a:solidFill>
                      <a:srgbClr val="181A0D"/>
                    </a:solidFill>
                    <a:cs typeface="WPQCJM+FranklinGothic-Book"/>
                  </a:rPr>
                  <a:t>Elastic Net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1</m:t>
                        </m:r>
                      </m:sub>
                    </m:sSub>
                  </m:oMath>
                </a14:m>
                <a:r>
                  <a:rPr lang="ar-AE" sz="2000" dirty="0"/>
                  <a:t> + </a:t>
                </a:r>
                <a:r>
                  <a:rPr lang="ar-AE" dirty="0"/>
                  <a:t>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2</m:t>
                        </m:r>
                      </m:sub>
                    </m:sSub>
                  </m:oMath>
                </a14:m>
                <a:r>
                  <a:rPr lang="ar-AE" sz="2000" dirty="0"/>
                  <a:t> , </a:t>
                </a:r>
                <a:r>
                  <a:rPr lang="el-GR" sz="2000" dirty="0"/>
                  <a:t>α)</a:t>
                </a:r>
              </a:p>
              <a:p>
                <a:pPr marL="1257300" lvl="2" indent="-342900">
                  <a:lnSpc>
                    <a:spcPts val="2258"/>
                  </a:lnSpc>
                  <a:buFont typeface="Wingdings" pitchFamily="2" charset="2"/>
                  <a:buChar char="§"/>
                </a:pPr>
                <a:r>
                  <a:rPr lang="el-GR" sz="2000" dirty="0">
                    <a:solidFill>
                      <a:srgbClr val="181A0D"/>
                    </a:solidFill>
                    <a:cs typeface="WPQCJM+FranklinGothic-Book"/>
                  </a:rPr>
                  <a:t>α = 0.25, 0.5, 0.75</a:t>
                </a:r>
              </a:p>
              <a:p>
                <a:pPr marL="800100" lvl="1" indent="-342900">
                  <a:lnSpc>
                    <a:spcPts val="2258"/>
                  </a:lnSpc>
                  <a:buFont typeface="Wingdings" pitchFamily="2" charset="2"/>
                  <a:buChar char="Ø"/>
                </a:pPr>
                <a:r>
                  <a:rPr lang="el-GR" sz="2000" dirty="0">
                    <a:solidFill>
                      <a:srgbClr val="181A0D"/>
                    </a:solidFill>
                    <a:cs typeface="WPQCJM+FranklinGothic-Book"/>
                  </a:rPr>
                  <a:t>λ </a:t>
                </a:r>
                <a:r>
                  <a:rPr lang="en-US" sz="2000" dirty="0">
                    <a:solidFill>
                      <a:srgbClr val="181A0D"/>
                    </a:solidFill>
                    <a:cs typeface="WPQCJM+FranklinGothic-Book"/>
                  </a:rPr>
                  <a:t>selected via 10-fold CV</a:t>
                </a:r>
              </a:p>
              <a:p>
                <a:pPr marL="1257300" lvl="2" indent="-342900">
                  <a:lnSpc>
                    <a:spcPts val="2258"/>
                  </a:lnSpc>
                  <a:buFont typeface="Wingdings" pitchFamily="2" charset="2"/>
                  <a:buChar char="§"/>
                </a:pPr>
                <a14:m>
                  <m:oMath xmlns:m="http://schemas.openxmlformats.org/officeDocument/2006/math">
                    <m:sSub>
                      <m:sSubPr>
                        <m:ctrlPr>
                          <a:rPr lang="ar-AE" i="1">
                            <a:latin typeface="Cambria Math" panose="02040503050406030204" pitchFamily="18" charset="0"/>
                          </a:rPr>
                        </m:ctrlPr>
                      </m:sSubPr>
                      <m:e>
                        <m:r>
                          <a:rPr lang="ar-AE" b="0" i="1">
                            <a:latin typeface="Cambria Math" panose="02040503050406030204" pitchFamily="18" charset="0"/>
                          </a:rPr>
                          <m:t>𝜆</m:t>
                        </m:r>
                      </m:e>
                      <m:sub>
                        <m:r>
                          <a:rPr lang="ar-AE" b="0" i="1">
                            <a:latin typeface="Cambria Math" panose="02040503050406030204" pitchFamily="18" charset="0"/>
                          </a:rPr>
                          <m:t>𝑚𝑖𝑛</m:t>
                        </m:r>
                      </m:sub>
                    </m:sSub>
                  </m:oMath>
                </a14:m>
                <a:r>
                  <a:rPr lang="ar-AE" sz="2000" dirty="0"/>
                  <a:t>  </a:t>
                </a:r>
                <a:endParaRPr lang="en-US" sz="2000" dirty="0"/>
              </a:p>
              <a:p>
                <a:pPr marL="1257300" lvl="2" indent="-342900">
                  <a:lnSpc>
                    <a:spcPts val="2258"/>
                  </a:lnSpc>
                  <a:buFont typeface="Wingdings" pitchFamily="2" charset="2"/>
                  <a:buChar char="§"/>
                </a:pP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𝜆</m:t>
                        </m:r>
                      </m:e>
                      <m:sub>
                        <m:r>
                          <a:rPr lang="ar-AE" i="1">
                            <a:latin typeface="Cambria Math" panose="02040503050406030204" pitchFamily="18" charset="0"/>
                          </a:rPr>
                          <m:t>1</m:t>
                        </m:r>
                        <m:r>
                          <a:rPr lang="ar-AE" i="1">
                            <a:latin typeface="Cambria Math" panose="02040503050406030204" pitchFamily="18" charset="0"/>
                          </a:rPr>
                          <m:t>𝑠𝑒</m:t>
                        </m:r>
                      </m:sub>
                    </m:sSub>
                  </m:oMath>
                </a14:m>
                <a:endParaRPr lang="ar-AE" sz="2000" dirty="0">
                  <a:solidFill>
                    <a:srgbClr val="181A0D"/>
                  </a:solidFill>
                  <a:cs typeface="WPQCJM+FranklinGothic-Book"/>
                </a:endParaRPr>
              </a:p>
              <a:p>
                <a:pPr lvl="1">
                  <a:lnSpc>
                    <a:spcPts val="2258"/>
                  </a:lnSpc>
                </a:pPr>
                <a:endParaRPr lang="en-US" sz="2000" dirty="0">
                  <a:solidFill>
                    <a:srgbClr val="181A0D"/>
                  </a:solidFill>
                  <a:cs typeface="WPQCJM+FranklinGothic-Book"/>
                </a:endParaRPr>
              </a:p>
              <a:p>
                <a:pPr lvl="1">
                  <a:lnSpc>
                    <a:spcPts val="2258"/>
                  </a:lnSpc>
                </a:pPr>
                <a:endParaRPr lang="en-US" sz="2000" dirty="0">
                  <a:solidFill>
                    <a:srgbClr val="181A0D"/>
                  </a:solidFill>
                  <a:cs typeface="WPQCJM+FranklinGothic-Book"/>
                </a:endParaRPr>
              </a:p>
              <a:p>
                <a:pPr>
                  <a:lnSpc>
                    <a:spcPts val="2258"/>
                  </a:lnSpc>
                </a:pPr>
                <a:endParaRPr lang="en-US" sz="2000" dirty="0">
                  <a:solidFill>
                    <a:srgbClr val="181A0D"/>
                  </a:solidFill>
                  <a:cs typeface="WPQCJM+FranklinGothic-Book"/>
                </a:endParaRPr>
              </a:p>
            </p:txBody>
          </p:sp>
        </mc:Choice>
        <mc:Fallback>
          <p:sp>
            <p:nvSpPr>
              <p:cNvPr id="16" name="object 4">
                <a:extLst>
                  <a:ext uri="{FF2B5EF4-FFF2-40B4-BE49-F238E27FC236}">
                    <a16:creationId xmlns:a16="http://schemas.microsoft.com/office/drawing/2014/main" id="{374F020B-F79C-7A71-C268-57FB6096B43E}"/>
                  </a:ext>
                </a:extLst>
              </p:cNvPr>
              <p:cNvSpPr txBox="1">
                <a:spLocks noRot="1" noChangeAspect="1" noMove="1" noResize="1" noEditPoints="1" noAdjustHandles="1" noChangeArrowheads="1" noChangeShapeType="1" noTextEdit="1"/>
              </p:cNvSpPr>
              <p:nvPr/>
            </p:nvSpPr>
            <p:spPr>
              <a:xfrm>
                <a:off x="1127448" y="1162497"/>
                <a:ext cx="9265920" cy="6194003"/>
              </a:xfrm>
              <a:prstGeom prst="rect">
                <a:avLst/>
              </a:prstGeom>
              <a:blipFill>
                <a:blip r:embed="rId4"/>
                <a:stretch>
                  <a:fillRect l="-2052" t="-2454"/>
                </a:stretch>
              </a:blipFill>
            </p:spPr>
            <p:txBody>
              <a:bodyPr/>
              <a:lstStyle/>
              <a:p>
                <a:r>
                  <a:rPr lang="en-US">
                    <a:noFill/>
                  </a:rPr>
                  <a:t> </a:t>
                </a:r>
              </a:p>
            </p:txBody>
          </p:sp>
        </mc:Fallback>
      </mc:AlternateContent>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1127448" y="167056"/>
            <a:ext cx="3236829"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dirty="0">
                <a:solidFill>
                  <a:srgbClr val="181A0D"/>
                </a:solidFill>
                <a:latin typeface="+mj-lt"/>
                <a:cs typeface="AJGUUA+FranklinGothic-Book"/>
              </a:rPr>
              <a:t>Analysis Plan</a:t>
            </a:r>
          </a:p>
        </p:txBody>
      </p:sp>
      <p:sp>
        <p:nvSpPr>
          <p:cNvPr id="15" name="object 4">
            <a:extLst>
              <a:ext uri="{FF2B5EF4-FFF2-40B4-BE49-F238E27FC236}">
                <a16:creationId xmlns:a16="http://schemas.microsoft.com/office/drawing/2014/main" id="{F0DA2DE1-A3F4-C83F-5B55-E0F9335279E1}"/>
              </a:ext>
            </a:extLst>
          </p:cNvPr>
          <p:cNvSpPr txBox="1"/>
          <p:nvPr/>
        </p:nvSpPr>
        <p:spPr>
          <a:xfrm>
            <a:off x="911424" y="1017600"/>
            <a:ext cx="9265920" cy="5604098"/>
          </a:xfrm>
          <a:prstGeom prst="rect">
            <a:avLst/>
          </a:prstGeom>
        </p:spPr>
        <p:txBody>
          <a:bodyPr vert="horz" wrap="square" lIns="0" tIns="0" rIns="0" bIns="0" rtlCol="0">
            <a:spAutoFit/>
          </a:bodyPr>
          <a:lstStyle/>
          <a:p>
            <a:pPr>
              <a:lnSpc>
                <a:spcPts val="2258"/>
              </a:lnSpc>
            </a:pPr>
            <a:r>
              <a:rPr lang="en-US" sz="2400" b="1" dirty="0">
                <a:solidFill>
                  <a:srgbClr val="181A0D"/>
                </a:solidFill>
                <a:cs typeface="WPQCJM+FranklinGothic-Book"/>
              </a:rPr>
              <a:t>Simulation</a:t>
            </a:r>
            <a:r>
              <a:rPr lang="en-US" sz="2000" b="1" dirty="0">
                <a:solidFill>
                  <a:srgbClr val="181A0D"/>
                </a:solidFill>
                <a:cs typeface="WPQCJM+FranklinGothic-Book"/>
              </a:rPr>
              <a:t>:</a:t>
            </a:r>
          </a:p>
          <a:p>
            <a:pPr marL="800100" lvl="1" indent="-342900">
              <a:lnSpc>
                <a:spcPts val="2258"/>
              </a:lnSpc>
              <a:buFont typeface="Wingdings" pitchFamily="2" charset="2"/>
              <a:buChar char="Ø"/>
            </a:pPr>
            <a:r>
              <a:rPr lang="en-US" sz="2000" dirty="0">
                <a:solidFill>
                  <a:srgbClr val="181A0D"/>
                </a:solidFill>
                <a:cs typeface="WPQCJM+FranklinGothic-Book"/>
              </a:rPr>
              <a:t>Generate dataset under specified scenario</a:t>
            </a:r>
          </a:p>
          <a:p>
            <a:pPr marL="800100" lvl="1" indent="-342900">
              <a:lnSpc>
                <a:spcPts val="2258"/>
              </a:lnSpc>
              <a:buFont typeface="Wingdings" pitchFamily="2" charset="2"/>
              <a:buChar char="Ø"/>
            </a:pPr>
            <a:r>
              <a:rPr lang="en-US" sz="2000" dirty="0">
                <a:solidFill>
                  <a:srgbClr val="181A0D"/>
                </a:solidFill>
                <a:cs typeface="WPQCJM+FranklinGothic-Book"/>
              </a:rPr>
              <a:t>Apply all selection methods</a:t>
            </a:r>
          </a:p>
          <a:p>
            <a:pPr marL="800100" lvl="1" indent="-342900">
              <a:lnSpc>
                <a:spcPts val="2258"/>
              </a:lnSpc>
              <a:buFont typeface="Wingdings" pitchFamily="2" charset="2"/>
              <a:buChar char="Ø"/>
            </a:pPr>
            <a:r>
              <a:rPr lang="en-US" sz="2000" dirty="0">
                <a:solidFill>
                  <a:srgbClr val="181A0D"/>
                </a:solidFill>
                <a:cs typeface="WPQCJM+FranklinGothic-Book"/>
              </a:rPr>
              <a:t>Refit final model </a:t>
            </a:r>
          </a:p>
          <a:p>
            <a:pPr marL="800100" lvl="1" indent="-342900">
              <a:lnSpc>
                <a:spcPts val="2258"/>
              </a:lnSpc>
              <a:buFont typeface="Wingdings" pitchFamily="2" charset="2"/>
              <a:buChar char="Ø"/>
            </a:pPr>
            <a:r>
              <a:rPr lang="en-US" sz="2000" dirty="0">
                <a:solidFill>
                  <a:srgbClr val="181A0D"/>
                </a:solidFill>
                <a:cs typeface="WPQCJM+FranklinGothic-Book"/>
              </a:rPr>
              <a:t>Repeat 1-10k simulations per scenario </a:t>
            </a:r>
          </a:p>
          <a:p>
            <a:pPr marL="1257300" lvl="2" indent="-342900">
              <a:lnSpc>
                <a:spcPts val="2258"/>
              </a:lnSpc>
              <a:buFont typeface="Wingdings" pitchFamily="2" charset="2"/>
              <a:buChar char="§"/>
            </a:pPr>
            <a:r>
              <a:rPr lang="en-US" sz="2000" dirty="0">
                <a:solidFill>
                  <a:srgbClr val="181A0D"/>
                </a:solidFill>
                <a:cs typeface="WPQCJM+FranklinGothic-Book"/>
              </a:rPr>
              <a:t>Summarize results as averages</a:t>
            </a:r>
          </a:p>
          <a:p>
            <a:pPr lvl="1">
              <a:lnSpc>
                <a:spcPts val="2258"/>
              </a:lnSpc>
            </a:pPr>
            <a:endParaRPr lang="en-US" sz="2000" dirty="0">
              <a:solidFill>
                <a:srgbClr val="181A0D"/>
              </a:solidFill>
              <a:latin typeface="WPQCJM+FranklinGothic-Book"/>
              <a:cs typeface="WPQCJM+FranklinGothic-Book"/>
            </a:endParaRPr>
          </a:p>
          <a:p>
            <a:pPr>
              <a:lnSpc>
                <a:spcPts val="2258"/>
              </a:lnSpc>
            </a:pPr>
            <a:r>
              <a:rPr lang="en-US" sz="2400" b="1" dirty="0">
                <a:solidFill>
                  <a:srgbClr val="181A0D"/>
                </a:solidFill>
                <a:cs typeface="WPQCJM+FranklinGothic-Book"/>
              </a:rPr>
              <a:t>Selection Performance measures:</a:t>
            </a:r>
          </a:p>
          <a:p>
            <a:pPr marL="800100" lvl="1" indent="-342900">
              <a:lnSpc>
                <a:spcPts val="2258"/>
              </a:lnSpc>
              <a:buFont typeface="Wingdings" pitchFamily="2" charset="2"/>
              <a:buChar char="Ø"/>
            </a:pPr>
            <a:r>
              <a:rPr lang="en-US" sz="2000" dirty="0">
                <a:solidFill>
                  <a:srgbClr val="181A0D"/>
                </a:solidFill>
                <a:cs typeface="WPQCJM+FranklinGothic-Book"/>
              </a:rPr>
              <a:t>True Positive Rate (TPR)</a:t>
            </a:r>
          </a:p>
          <a:p>
            <a:pPr marL="1257300" lvl="2" indent="-342900">
              <a:lnSpc>
                <a:spcPts val="2258"/>
              </a:lnSpc>
              <a:buFont typeface="Wingdings" pitchFamily="2" charset="2"/>
              <a:buChar char="§"/>
            </a:pPr>
            <a:r>
              <a:rPr lang="en-US" sz="2000" dirty="0">
                <a:solidFill>
                  <a:srgbClr val="181A0D"/>
                </a:solidFill>
                <a:cs typeface="WPQCJM+FranklinGothic-Book"/>
              </a:rPr>
              <a:t>Sensitivity</a:t>
            </a:r>
          </a:p>
          <a:p>
            <a:pPr marL="800100" lvl="1" indent="-342900">
              <a:lnSpc>
                <a:spcPts val="2258"/>
              </a:lnSpc>
              <a:buFont typeface="Wingdings" pitchFamily="2" charset="2"/>
              <a:buChar char="Ø"/>
            </a:pPr>
            <a:r>
              <a:rPr lang="en-US" sz="2000" dirty="0">
                <a:solidFill>
                  <a:srgbClr val="181A0D"/>
                </a:solidFill>
                <a:cs typeface="WPQCJM+FranklinGothic-Book"/>
              </a:rPr>
              <a:t>False Positive Rate (FPR)</a:t>
            </a:r>
          </a:p>
          <a:p>
            <a:pPr marL="1257300" lvl="2" indent="-342900">
              <a:lnSpc>
                <a:spcPts val="2258"/>
              </a:lnSpc>
              <a:buFont typeface="Wingdings" pitchFamily="2" charset="2"/>
              <a:buChar char="§"/>
            </a:pPr>
            <a:r>
              <a:rPr lang="en-US" sz="2000" dirty="0">
                <a:solidFill>
                  <a:srgbClr val="181A0D"/>
                </a:solidFill>
                <a:cs typeface="WPQCJM+FranklinGothic-Book"/>
              </a:rPr>
              <a:t>1-Specificity</a:t>
            </a:r>
          </a:p>
          <a:p>
            <a:pPr marL="800100" lvl="1" indent="-342900">
              <a:lnSpc>
                <a:spcPts val="2258"/>
              </a:lnSpc>
              <a:buFont typeface="Wingdings" pitchFamily="2" charset="2"/>
              <a:buChar char="Ø"/>
            </a:pPr>
            <a:r>
              <a:rPr lang="en-US" sz="2000" dirty="0">
                <a:solidFill>
                  <a:srgbClr val="181A0D"/>
                </a:solidFill>
                <a:cs typeface="WPQCJM+FranklinGothic-Book"/>
              </a:rPr>
              <a:t>Mean model size (complexity)</a:t>
            </a:r>
          </a:p>
          <a:p>
            <a:pPr lvl="1">
              <a:lnSpc>
                <a:spcPts val="2258"/>
              </a:lnSpc>
            </a:pPr>
            <a:endParaRPr lang="en-US" sz="2000" dirty="0">
              <a:solidFill>
                <a:srgbClr val="181A0D"/>
              </a:solidFill>
              <a:cs typeface="WPQCJM+FranklinGothic-Book"/>
            </a:endParaRPr>
          </a:p>
          <a:p>
            <a:pPr>
              <a:lnSpc>
                <a:spcPts val="2258"/>
              </a:lnSpc>
            </a:pPr>
            <a:r>
              <a:rPr lang="en-US" sz="2400" b="1" dirty="0">
                <a:solidFill>
                  <a:srgbClr val="181A0D"/>
                </a:solidFill>
                <a:cs typeface="WPQCJM+FranklinGothic-Book"/>
              </a:rPr>
              <a:t>Estimation Evaluation:</a:t>
            </a:r>
          </a:p>
          <a:p>
            <a:pPr marL="800100" lvl="1" indent="-342900">
              <a:lnSpc>
                <a:spcPts val="2258"/>
              </a:lnSpc>
              <a:buFont typeface="Wingdings" pitchFamily="2" charset="2"/>
              <a:buChar char="Ø"/>
            </a:pPr>
            <a:r>
              <a:rPr lang="en-US" sz="2000" dirty="0">
                <a:solidFill>
                  <a:srgbClr val="181A0D"/>
                </a:solidFill>
                <a:cs typeface="WPQCJM+FranklinGothic-Book"/>
              </a:rPr>
              <a:t>Bias of coefficients</a:t>
            </a:r>
          </a:p>
          <a:p>
            <a:pPr marL="800100" lvl="1" indent="-342900">
              <a:lnSpc>
                <a:spcPts val="2258"/>
              </a:lnSpc>
              <a:buFont typeface="Wingdings" pitchFamily="2" charset="2"/>
              <a:buChar char="Ø"/>
            </a:pPr>
            <a:r>
              <a:rPr lang="en-US" sz="2000" dirty="0">
                <a:solidFill>
                  <a:srgbClr val="181A0D"/>
                </a:solidFill>
                <a:cs typeface="WPQCJM+FranklinGothic-Book"/>
              </a:rPr>
              <a:t>95% CI coverage</a:t>
            </a:r>
          </a:p>
          <a:p>
            <a:pPr marL="800100" lvl="1" indent="-342900">
              <a:lnSpc>
                <a:spcPts val="2258"/>
              </a:lnSpc>
              <a:buFont typeface="Wingdings" pitchFamily="2" charset="2"/>
              <a:buChar char="Ø"/>
            </a:pPr>
            <a:r>
              <a:rPr lang="en-US" sz="2000" dirty="0">
                <a:solidFill>
                  <a:srgbClr val="181A0D"/>
                </a:solidFill>
              </a:rPr>
              <a:t>Type I &amp; II error</a:t>
            </a:r>
          </a:p>
          <a:p>
            <a:pPr lvl="1">
              <a:lnSpc>
                <a:spcPts val="2258"/>
              </a:lnSpc>
            </a:pPr>
            <a:endParaRPr lang="en-US" sz="2000" dirty="0">
              <a:solidFill>
                <a:srgbClr val="181A0D"/>
              </a:solidFill>
              <a:cs typeface="WPQCJM+FranklinGothic-Book"/>
            </a:endParaRPr>
          </a:p>
        </p:txBody>
      </p:sp>
      <p:pic>
        <p:nvPicPr>
          <p:cNvPr id="7" name="Picture 6">
            <a:extLst>
              <a:ext uri="{FF2B5EF4-FFF2-40B4-BE49-F238E27FC236}">
                <a16:creationId xmlns:a16="http://schemas.microsoft.com/office/drawing/2014/main" id="{690F9C39-A685-E7A1-9ED3-6832242F61E4}"/>
              </a:ext>
            </a:extLst>
          </p:cNvPr>
          <p:cNvPicPr>
            <a:picLocks noChangeAspect="1"/>
          </p:cNvPicPr>
          <p:nvPr/>
        </p:nvPicPr>
        <p:blipFill>
          <a:blip r:embed="rId4"/>
          <a:stretch>
            <a:fillRect/>
          </a:stretch>
        </p:blipFill>
        <p:spPr>
          <a:xfrm>
            <a:off x="6696374" y="136106"/>
            <a:ext cx="4608418" cy="3300071"/>
          </a:xfrm>
          <a:prstGeom prst="rect">
            <a:avLst/>
          </a:prstGeom>
          <a:ln>
            <a:solidFill>
              <a:schemeClr val="tx1"/>
            </a:solidFill>
          </a:ln>
        </p:spPr>
      </p:pic>
      <p:pic>
        <p:nvPicPr>
          <p:cNvPr id="9" name="Picture 8">
            <a:extLst>
              <a:ext uri="{FF2B5EF4-FFF2-40B4-BE49-F238E27FC236}">
                <a16:creationId xmlns:a16="http://schemas.microsoft.com/office/drawing/2014/main" id="{77BCF447-67B6-C28C-40E9-5990274A5254}"/>
              </a:ext>
            </a:extLst>
          </p:cNvPr>
          <p:cNvPicPr>
            <a:picLocks noChangeAspect="1"/>
          </p:cNvPicPr>
          <p:nvPr/>
        </p:nvPicPr>
        <p:blipFill>
          <a:blip r:embed="rId5"/>
          <a:stretch>
            <a:fillRect/>
          </a:stretch>
        </p:blipFill>
        <p:spPr>
          <a:xfrm>
            <a:off x="6675854" y="3525339"/>
            <a:ext cx="4604721" cy="3200231"/>
          </a:xfrm>
          <a:prstGeom prst="rect">
            <a:avLst/>
          </a:prstGeom>
          <a:ln>
            <a:solidFill>
              <a:schemeClr val="tx1"/>
            </a:solidFill>
          </a:ln>
        </p:spPr>
      </p:pic>
    </p:spTree>
  </p:cSld>
  <p:clrMapOvr>
    <a:masterClrMapping/>
  </p:clrMapOvr>
</p:sld>
</file>

<file path=ppt/theme/theme1.xml><?xml version="1.0" encoding="utf-8"?>
<a:theme xmlns:a="http://schemas.openxmlformats.org/drawingml/2006/main" name="Theme Office">
  <a:themeElements>
    <a:clrScheme name="Standard">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tandar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Wood Type</Template>
  <TotalTime>3329</TotalTime>
  <Words>909</Words>
  <Application>Microsoft Macintosh PowerPoint</Application>
  <PresentationFormat>Widescreen</PresentationFormat>
  <Paragraphs>105</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WPQCJM+FranklinGothic-Book</vt:lpstr>
      <vt:lpstr>Aptos</vt:lpstr>
      <vt:lpstr>Calibri</vt:lpstr>
      <vt:lpstr>Cambria Math</vt:lpstr>
      <vt:lpstr>Wingdings</vt:lpstr>
      <vt:lpstr>PWMWTI+FranklinGothic-Book</vt:lpstr>
      <vt:lpstr>Arial</vt:lpstr>
      <vt:lpstr>Theme Office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PowerPoint</dc:title>
  <dc:creator>root</dc:creator>
  <cp:lastModifiedBy>Ryan Summers</cp:lastModifiedBy>
  <cp:revision>89</cp:revision>
  <dcterms:modified xsi:type="dcterms:W3CDTF">2026-05-02T22:11:34Z</dcterms:modified>
</cp:coreProperties>
</file>