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9"/>
  </p:notesMasterIdLst>
  <p:sldIdLst>
    <p:sldId id="260" r:id="rId2"/>
    <p:sldId id="268" r:id="rId3"/>
    <p:sldId id="262" r:id="rId4"/>
    <p:sldId id="263" r:id="rId5"/>
    <p:sldId id="264" r:id="rId6"/>
    <p:sldId id="265" r:id="rId7"/>
    <p:sldId id="266" r:id="rId8"/>
  </p:sldIdLst>
  <p:sldSz cx="12192000" cy="6858000"/>
  <p:notesSz cx="12192000" cy="6858000"/>
  <p:embeddedFontLst>
    <p:embeddedFont>
      <p:font typeface="GEHAIV+FranklinGothic-Book" panose="02000500000000000000"/>
      <p:regular r:id="rId10"/>
    </p:embeddedFont>
    <p:embeddedFont>
      <p:font typeface="KDMFEK+FranklinGothic-Book" panose="02000500000000000000"/>
      <p:regular r:id="rId11"/>
    </p:embeddedFont>
    <p:embeddedFont>
      <p:font typeface="LVLFDH+FranklinGothic-Book" panose="02000500000000000000" pitchFamily="2" charset="0"/>
      <p:regular r:id="rId12"/>
    </p:embeddedFont>
    <p:embeddedFont>
      <p:font typeface="MPIRPG+FranklinGothic-Book" panose="02000500000000000000" pitchFamily="2" charset="0"/>
      <p:regular r:id="rId13"/>
    </p:embeddedFont>
    <p:embeddedFont>
      <p:font typeface="NOOILK+FranklinGothic-Book" panose="02000500000000000000"/>
      <p:regular r:id="rId14"/>
    </p:embeddedFont>
    <p:embeddedFont>
      <p:font typeface="OAGDQN+FranklinGothic-BookItalic" panose="02000500000000000000"/>
      <p:regular r:id="rId15"/>
    </p:embeddedFont>
    <p:embeddedFont>
      <p:font typeface="VTCKGD+FranklinGothic-Book" panose="02000500000000000000" pitchFamily="2" charset="0"/>
      <p:regular r:id="rId16"/>
    </p:embeddedFont>
    <p:embeddedFont>
      <p:font typeface="WPQCJM+FranklinGothic-Book" panose="02000500000000000000" pitchFamily="2"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68">
          <p15:clr>
            <a:srgbClr val="A4A3A4"/>
          </p15:clr>
        </p15:guide>
        <p15:guide id="2" pos="244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096"/>
    <p:restoredTop sz="75140"/>
  </p:normalViewPr>
  <p:slideViewPr>
    <p:cSldViewPr>
      <p:cViewPr varScale="1">
        <p:scale>
          <a:sx n="91" d="100"/>
          <a:sy n="91" d="100"/>
        </p:scale>
        <p:origin x="392" y="184"/>
      </p:cViewPr>
      <p:guideLst>
        <p:guide orient="horz" pos="3168"/>
        <p:guide pos="2448"/>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font" Target="fonts/font7.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font" Target="fonts/font6.fntdata"/><Relationship Id="rId10" Type="http://schemas.openxmlformats.org/officeDocument/2006/relationships/font" Target="fonts/font1.fntdata"/><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C8F60B00-F7D7-A048-9DE8-3D2F737BCA40}" type="datetimeFigureOut">
              <a:rPr lang="en-US" smtClean="0"/>
              <a:t>4/21/26</a:t>
            </a:fld>
            <a:endParaRPr lang="en-US"/>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8055A014-AA40-5B4A-A5FD-4F58A1D7AE4A}" type="slidenum">
              <a:rPr lang="en-US" smtClean="0"/>
              <a:t>‹#›</a:t>
            </a:fld>
            <a:endParaRPr lang="en-US"/>
          </a:p>
        </p:txBody>
      </p:sp>
    </p:spTree>
    <p:extLst>
      <p:ext uri="{BB962C8B-B14F-4D97-AF65-F5344CB8AC3E}">
        <p14:creationId xmlns:p14="http://schemas.microsoft.com/office/powerpoint/2010/main" val="15281698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8055A014-AA40-5B4A-A5FD-4F58A1D7AE4A}" type="slidenum">
              <a:rPr lang="en-US" smtClean="0"/>
              <a:t>1</a:t>
            </a:fld>
            <a:endParaRPr lang="en-US"/>
          </a:p>
        </p:txBody>
      </p:sp>
    </p:spTree>
    <p:extLst>
      <p:ext uri="{BB962C8B-B14F-4D97-AF65-F5344CB8AC3E}">
        <p14:creationId xmlns:p14="http://schemas.microsoft.com/office/powerpoint/2010/main" val="7200084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571355-85F6-CF92-4C8F-3100CC56C2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5B7C8D-BDAB-8FCD-FB0D-EDFDCED0C7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BF0FD8-6C3E-4632-2908-448E25301190}"/>
              </a:ext>
            </a:extLst>
          </p:cNvPr>
          <p:cNvSpPr>
            <a:spLocks noGrp="1"/>
          </p:cNvSpPr>
          <p:nvPr>
            <p:ph type="body" idx="1"/>
          </p:nvPr>
        </p:nvSpPr>
        <p:spPr/>
        <p:txBody>
          <a:bodyPr/>
          <a:lstStyle/>
          <a:p>
            <a:r>
              <a:rPr lang="en-US" sz="1200" b="1" kern="1200" dirty="0">
                <a:solidFill>
                  <a:schemeClr val="tx1"/>
                </a:solidFill>
                <a:effectLst/>
                <a:latin typeface="+mn-lt"/>
                <a:ea typeface="+mn-ea"/>
                <a:cs typeface="+mn-cs"/>
              </a:rPr>
              <a:t>The primary objective</a:t>
            </a:r>
            <a:r>
              <a:rPr lang="en-US" sz="1200" kern="1200" dirty="0">
                <a:solidFill>
                  <a:schemeClr val="tx1"/>
                </a:solidFill>
                <a:effectLst/>
                <a:latin typeface="+mn-lt"/>
                <a:ea typeface="+mn-ea"/>
                <a:cs typeface="+mn-cs"/>
              </a:rPr>
              <a:t> was to identify baseline risk factors associated with time to stroke over 10 years of follow up</a:t>
            </a:r>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With the formal hypothesis stating</a:t>
            </a:r>
            <a:r>
              <a:rPr lang="en-US" sz="1200" kern="1200" dirty="0">
                <a:solidFill>
                  <a:schemeClr val="tx1"/>
                </a:solidFill>
                <a:effectLst/>
                <a:latin typeface="+mn-lt"/>
                <a:ea typeface="+mn-ea"/>
                <a:cs typeface="+mn-cs"/>
              </a:rPr>
              <a:t> that baseline risk factors are associated with stroke risk</a:t>
            </a:r>
          </a:p>
          <a:p>
            <a:br>
              <a:rPr lang="en-US" sz="1200"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building on that,</a:t>
            </a:r>
            <a:r>
              <a:rPr lang="en-US" sz="1200" kern="1200" dirty="0">
                <a:solidFill>
                  <a:schemeClr val="tx1"/>
                </a:solidFill>
                <a:effectLst/>
                <a:latin typeface="+mn-lt"/>
                <a:ea typeface="+mn-ea"/>
                <a:cs typeface="+mn-cs"/>
              </a:rPr>
              <a:t> 10-year stroke probabilities across different risk profiles were estimated</a:t>
            </a:r>
          </a:p>
          <a:p>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and then as a Secondary objective</a:t>
            </a:r>
            <a:r>
              <a:rPr lang="en-US" sz="1200" kern="1200" dirty="0">
                <a:solidFill>
                  <a:schemeClr val="tx1"/>
                </a:solidFill>
                <a:effectLst/>
                <a:latin typeface="+mn-lt"/>
                <a:ea typeface="+mn-ea"/>
                <a:cs typeface="+mn-cs"/>
              </a:rPr>
              <a:t> we are interested in how key risk factors changed across the three examination periods to determine if a time-varying covariate analysis would be better equipped to answer these questions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759B22E7-FE82-EFCF-D187-6F41357AC3B4}"/>
              </a:ext>
            </a:extLst>
          </p:cNvPr>
          <p:cNvSpPr>
            <a:spLocks noGrp="1"/>
          </p:cNvSpPr>
          <p:nvPr>
            <p:ph type="sldNum" sz="quarter" idx="5"/>
          </p:nvPr>
        </p:nvSpPr>
        <p:spPr/>
        <p:txBody>
          <a:bodyPr/>
          <a:lstStyle/>
          <a:p>
            <a:fld id="{8055A014-AA40-5B4A-A5FD-4F58A1D7AE4A}" type="slidenum">
              <a:rPr lang="en-US" smtClean="0"/>
              <a:t>2</a:t>
            </a:fld>
            <a:endParaRPr lang="en-US"/>
          </a:p>
        </p:txBody>
      </p:sp>
    </p:spTree>
    <p:extLst>
      <p:ext uri="{BB962C8B-B14F-4D97-AF65-F5344CB8AC3E}">
        <p14:creationId xmlns:p14="http://schemas.microsoft.com/office/powerpoint/2010/main" val="14158256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So</a:t>
            </a:r>
            <a:r>
              <a:rPr lang="en-US" sz="1200" kern="1200" dirty="0">
                <a:solidFill>
                  <a:schemeClr val="tx1"/>
                </a:solidFill>
                <a:effectLst/>
                <a:latin typeface="+mn-lt"/>
                <a:ea typeface="+mn-ea"/>
                <a:cs typeface="+mn-cs"/>
              </a:rPr>
              <a:t>, starting with the dataset, we included approximately 4400 participants after excluding those with prior stroke and restricting to the first 10yrs of follow-up</a:t>
            </a:r>
          </a:p>
          <a:p>
            <a:endParaRPr lang="en-US" sz="1200" b="1"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After applying complete-case analysis</a:t>
            </a:r>
            <a:r>
              <a:rPr lang="en-US" sz="1200" kern="1200" dirty="0">
                <a:solidFill>
                  <a:schemeClr val="tx1"/>
                </a:solidFill>
                <a:effectLst/>
                <a:latin typeface="+mn-lt"/>
                <a:ea typeface="+mn-ea"/>
                <a:cs typeface="+mn-cs"/>
              </a:rPr>
              <a:t>, this resulted in a final sample included 2,378 women and 1,897 men. Missingness was low (2.9%), so any biases from the complete-case analysis should be minimal – MAR can not be formally verified</a:t>
            </a: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In terms of baseline characteristics</a:t>
            </a:r>
            <a:r>
              <a:rPr lang="en-US" sz="1200" kern="1200" dirty="0">
                <a:solidFill>
                  <a:schemeClr val="tx1"/>
                </a:solidFill>
                <a:effectLst/>
                <a:latin typeface="+mn-lt"/>
                <a:ea typeface="+mn-ea"/>
                <a:cs typeface="+mn-cs"/>
              </a:rPr>
              <a:t>, smoking and prior cardiovascular disease were more common in men, while other risk factors were generally similar between sexes.</a:t>
            </a: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Over the 10-year follow-up</a:t>
            </a:r>
            <a:r>
              <a:rPr lang="en-US" sz="1200" kern="1200" dirty="0">
                <a:solidFill>
                  <a:schemeClr val="tx1"/>
                </a:solidFill>
                <a:effectLst/>
                <a:latin typeface="+mn-lt"/>
                <a:ea typeface="+mn-ea"/>
                <a:cs typeface="+mn-cs"/>
              </a:rPr>
              <a:t>, there were 105 stroke events, corresponding to a crude cumulative incidence of approximately 2.5%, so stroke was a relatively uncommon outcome in this cohort.</a:t>
            </a:r>
          </a:p>
          <a:p>
            <a:endParaRPr lang="en-US" dirty="0"/>
          </a:p>
        </p:txBody>
      </p:sp>
      <p:sp>
        <p:nvSpPr>
          <p:cNvPr id="4" name="Slide Number Placeholder 3"/>
          <p:cNvSpPr>
            <a:spLocks noGrp="1"/>
          </p:cNvSpPr>
          <p:nvPr>
            <p:ph type="sldNum" sz="quarter" idx="5"/>
          </p:nvPr>
        </p:nvSpPr>
        <p:spPr/>
        <p:txBody>
          <a:bodyPr/>
          <a:lstStyle/>
          <a:p>
            <a:fld id="{8055A014-AA40-5B4A-A5FD-4F58A1D7AE4A}" type="slidenum">
              <a:rPr lang="en-US" smtClean="0"/>
              <a:t>3</a:t>
            </a:fld>
            <a:endParaRPr lang="en-US"/>
          </a:p>
        </p:txBody>
      </p:sp>
    </p:spTree>
    <p:extLst>
      <p:ext uri="{BB962C8B-B14F-4D97-AF65-F5344CB8AC3E}">
        <p14:creationId xmlns:p14="http://schemas.microsoft.com/office/powerpoint/2010/main" val="7740451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moving on to analysis</a:t>
            </a:r>
            <a:r>
              <a:rPr lang="en-US" sz="1200" kern="1200" dirty="0">
                <a:solidFill>
                  <a:schemeClr val="tx1"/>
                </a:solidFill>
                <a:effectLst/>
                <a:latin typeface="+mn-lt"/>
                <a:ea typeface="+mn-ea"/>
                <a:cs typeface="+mn-cs"/>
              </a:rPr>
              <a:t>, we used Cox proportional hazards models to assess risk factors for time to stroke.</a:t>
            </a:r>
          </a:p>
          <a:p>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Age, systolic blood pressure, and diabetes were included a priori, while smoking, CVD, cholesterol and BP med use x BP interaction variables were retained based on known importance while stepwise was used more as exploratory tool more than anything.</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 for the interaction we expected medication use to modify the effect of blood pressure.</a:t>
            </a:r>
          </a:p>
          <a:p>
            <a:pPr marL="171450" indent="-171450">
              <a:buFont typeface="Arial" panose="020B0604020202020204" pitchFamily="34" charset="0"/>
              <a:buChar char="•"/>
            </a:pP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Using these models,</a:t>
            </a:r>
            <a:r>
              <a:rPr lang="en-US" sz="1200" kern="1200" dirty="0">
                <a:solidFill>
                  <a:schemeClr val="tx1"/>
                </a:solidFill>
                <a:effectLst/>
                <a:latin typeface="+mn-lt"/>
                <a:ea typeface="+mn-ea"/>
                <a:cs typeface="+mn-cs"/>
              </a:rPr>
              <a:t> we then estimated predicted 10-year stroke probabilities by risk profiles across ages of 40, 50 &amp; 60.</a:t>
            </a: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Finally, to address the secondary aim</a:t>
            </a:r>
            <a:r>
              <a:rPr lang="en-US" sz="1200" kern="1200" dirty="0">
                <a:solidFill>
                  <a:schemeClr val="tx1"/>
                </a:solidFill>
                <a:effectLst/>
                <a:latin typeface="+mn-lt"/>
                <a:ea typeface="+mn-ea"/>
                <a:cs typeface="+mn-cs"/>
              </a:rPr>
              <a:t>, we summarized changes in risk factors across three exams using marginal means and proportions.</a:t>
            </a:r>
          </a:p>
          <a:p>
            <a:endParaRPr lang="en-US" dirty="0"/>
          </a:p>
        </p:txBody>
      </p:sp>
      <p:sp>
        <p:nvSpPr>
          <p:cNvPr id="4" name="Slide Number Placeholder 3"/>
          <p:cNvSpPr>
            <a:spLocks noGrp="1"/>
          </p:cNvSpPr>
          <p:nvPr>
            <p:ph type="sldNum" sz="quarter" idx="5"/>
          </p:nvPr>
        </p:nvSpPr>
        <p:spPr/>
        <p:txBody>
          <a:bodyPr/>
          <a:lstStyle/>
          <a:p>
            <a:fld id="{8055A014-AA40-5B4A-A5FD-4F58A1D7AE4A}" type="slidenum">
              <a:rPr lang="en-US" smtClean="0"/>
              <a:t>4</a:t>
            </a:fld>
            <a:endParaRPr lang="en-US"/>
          </a:p>
        </p:txBody>
      </p:sp>
    </p:spTree>
    <p:extLst>
      <p:ext uri="{BB962C8B-B14F-4D97-AF65-F5344CB8AC3E}">
        <p14:creationId xmlns:p14="http://schemas.microsoft.com/office/powerpoint/2010/main" val="11449155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On to result, In both sexes, older age and higher systolic blood pressure were the primary predictors of stroke.</a:t>
            </a:r>
          </a:p>
          <a:p>
            <a:pPr marL="0" marR="0" lvl="0" indent="0" algn="l" defTabSz="914400" rtl="0" eaLnBrk="1" fontAlgn="auto" latinLnBrk="0" hangingPunct="1">
              <a:lnSpc>
                <a:spcPct val="100000"/>
              </a:lnSpc>
              <a:spcBef>
                <a:spcPts val="0"/>
              </a:spcBef>
              <a:spcAft>
                <a:spcPts val="0"/>
              </a:spcAft>
              <a:buClrTx/>
              <a:buSzTx/>
              <a:buFontTx/>
              <a:buNone/>
              <a:tabLst/>
              <a:defRPr/>
            </a:pP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For each additional year of age there was an 8% increase in risk in women and 7% for men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While each 10 units of mmHg was associated with a 28% increase in risk for women and 41% for men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Among men,</a:t>
            </a:r>
            <a:r>
              <a:rPr lang="en-US" sz="1200" kern="1200" dirty="0">
                <a:solidFill>
                  <a:schemeClr val="tx1"/>
                </a:solidFill>
                <a:effectLst/>
                <a:latin typeface="+mn-lt"/>
                <a:ea typeface="+mn-ea"/>
                <a:cs typeface="+mn-cs"/>
              </a:rPr>
              <a:t> we had additional predictors of stroke. Diabetes was associated with roughly a fivefold higher risk, and smoking with about a twofold higher </a:t>
            </a:r>
            <a:r>
              <a:rPr lang="en-US" sz="1200" kern="1200" dirty="0" err="1">
                <a:solidFill>
                  <a:schemeClr val="tx1"/>
                </a:solidFill>
                <a:effectLst/>
                <a:latin typeface="+mn-lt"/>
                <a:ea typeface="+mn-ea"/>
                <a:cs typeface="+mn-cs"/>
              </a:rPr>
              <a:t>risk,the</a:t>
            </a:r>
            <a:r>
              <a:rPr lang="en-US" sz="1200" kern="1200" dirty="0">
                <a:solidFill>
                  <a:schemeClr val="tx1"/>
                </a:solidFill>
                <a:effectLst/>
                <a:latin typeface="+mn-lt"/>
                <a:ea typeface="+mn-ea"/>
                <a:cs typeface="+mn-cs"/>
              </a:rPr>
              <a:t> interaction suggests that the effect of SBP on risk was modified by medication use,  </a:t>
            </a: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however, </a:t>
            </a:r>
            <a:r>
              <a:rPr lang="en-US" sz="1200" kern="1200" dirty="0">
                <a:solidFill>
                  <a:schemeClr val="tx1"/>
                </a:solidFill>
                <a:effectLst/>
                <a:latin typeface="+mn-lt"/>
                <a:ea typeface="+mn-ea"/>
                <a:cs typeface="+mn-cs"/>
              </a:rPr>
              <a:t>these estimates are somewhat uncertain due to small numbers of events which can be seen with these wide CI</a:t>
            </a:r>
          </a:p>
          <a:p>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Which I think has really </a:t>
            </a:r>
            <a:r>
              <a:rPr lang="en-US" sz="1200" kern="1200" dirty="0">
                <a:solidFill>
                  <a:schemeClr val="tx1"/>
                </a:solidFill>
                <a:effectLst/>
                <a:latin typeface="+mn-lt"/>
                <a:ea typeface="+mn-ea"/>
                <a:cs typeface="+mn-cs"/>
              </a:rPr>
              <a:t>limited the power to detect some of these relatively large effects</a:t>
            </a:r>
          </a:p>
        </p:txBody>
      </p:sp>
      <p:sp>
        <p:nvSpPr>
          <p:cNvPr id="4" name="Slide Number Placeholder 3"/>
          <p:cNvSpPr>
            <a:spLocks noGrp="1"/>
          </p:cNvSpPr>
          <p:nvPr>
            <p:ph type="sldNum" sz="quarter" idx="5"/>
          </p:nvPr>
        </p:nvSpPr>
        <p:spPr/>
        <p:txBody>
          <a:bodyPr/>
          <a:lstStyle/>
          <a:p>
            <a:fld id="{8055A014-AA40-5B4A-A5FD-4F58A1D7AE4A}" type="slidenum">
              <a:rPr lang="en-US" smtClean="0"/>
              <a:t>5</a:t>
            </a:fld>
            <a:endParaRPr lang="en-US"/>
          </a:p>
        </p:txBody>
      </p:sp>
    </p:spTree>
    <p:extLst>
      <p:ext uri="{BB962C8B-B14F-4D97-AF65-F5344CB8AC3E}">
        <p14:creationId xmlns:p14="http://schemas.microsoft.com/office/powerpoint/2010/main" val="8264350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Next looking at predicted risk</a:t>
            </a:r>
            <a:r>
              <a:rPr lang="en-US" sz="1200" kern="1200" dirty="0">
                <a:solidFill>
                  <a:schemeClr val="tx1"/>
                </a:solidFill>
                <a:effectLst/>
                <a:latin typeface="+mn-lt"/>
                <a:ea typeface="+mn-ea"/>
                <a:cs typeface="+mn-cs"/>
              </a:rPr>
              <a:t> - 10-year stroke risk increased with age and the number of risk factors, with men having higher risk across all profiles</a:t>
            </a:r>
          </a:p>
          <a:p>
            <a:r>
              <a:rPr lang="en-US" sz="1200" kern="1200" dirty="0">
                <a:solidFill>
                  <a:schemeClr val="tx1"/>
                </a:solidFill>
                <a:effectLst/>
                <a:latin typeface="+mn-lt"/>
                <a:ea typeface="+mn-ea"/>
                <a:cs typeface="+mn-cs"/>
              </a:rPr>
              <a:t>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highest risk was observed among individuals with diabetes, high BP and smoking, particularly among men.</a:t>
            </a:r>
          </a:p>
          <a:p>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Results from secondary aim</a:t>
            </a:r>
            <a:r>
              <a:rPr lang="en-US" sz="1200" kern="1200" dirty="0">
                <a:solidFill>
                  <a:schemeClr val="tx1"/>
                </a:solidFill>
                <a:effectLst/>
                <a:latin typeface="+mn-lt"/>
                <a:ea typeface="+mn-ea"/>
                <a:cs typeface="+mn-cs"/>
              </a:rPr>
              <a:t>, showed that risk factors did change over time. SBP and diabetes prevalence increased across exams, while smoking prevalence decreased.</a:t>
            </a:r>
          </a:p>
          <a:p>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So Together</a:t>
            </a:r>
            <a:r>
              <a:rPr lang="en-US" sz="1200" kern="1200" dirty="0">
                <a:solidFill>
                  <a:schemeClr val="tx1"/>
                </a:solidFill>
                <a:effectLst/>
                <a:latin typeface="+mn-lt"/>
                <a:ea typeface="+mn-ea"/>
                <a:cs typeface="+mn-cs"/>
              </a:rPr>
              <a:t>, these findings suggest that risk factors change over time, so a time-varying covariate analysis could improve estimation of stroke risk</a:t>
            </a:r>
          </a:p>
        </p:txBody>
      </p:sp>
      <p:sp>
        <p:nvSpPr>
          <p:cNvPr id="4" name="Slide Number Placeholder 3"/>
          <p:cNvSpPr>
            <a:spLocks noGrp="1"/>
          </p:cNvSpPr>
          <p:nvPr>
            <p:ph type="sldNum" sz="quarter" idx="5"/>
          </p:nvPr>
        </p:nvSpPr>
        <p:spPr/>
        <p:txBody>
          <a:bodyPr/>
          <a:lstStyle/>
          <a:p>
            <a:fld id="{8055A014-AA40-5B4A-A5FD-4F58A1D7AE4A}" type="slidenum">
              <a:rPr lang="en-US" smtClean="0"/>
              <a:t>6</a:t>
            </a:fld>
            <a:endParaRPr lang="en-US"/>
          </a:p>
        </p:txBody>
      </p:sp>
    </p:spTree>
    <p:extLst>
      <p:ext uri="{BB962C8B-B14F-4D97-AF65-F5344CB8AC3E}">
        <p14:creationId xmlns:p14="http://schemas.microsoft.com/office/powerpoint/2010/main" val="31521274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 conclusion</a:t>
            </a:r>
            <a:r>
              <a:rPr lang="en-US" sz="1200" kern="1200" dirty="0">
                <a:solidFill>
                  <a:schemeClr val="tx1"/>
                </a:solidFill>
                <a:effectLst/>
                <a:latin typeface="+mn-lt"/>
                <a:ea typeface="+mn-ea"/>
                <a:cs typeface="+mn-cs"/>
              </a:rPr>
              <a:t>, older age and high BP were the primary drivers of stroke risk in both sexes.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Additional risk factors, including diabetes and smoking, were more prominent among men.</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Stroke risk increased with the accumulation of risk factors, and the highest predicted risks were observed in individuals with multiple concurrent conditions.</a:t>
            </a:r>
          </a:p>
          <a:p>
            <a:endParaRPr lang="en-US" sz="1200" b="1"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Summary measures of</a:t>
            </a:r>
            <a:r>
              <a:rPr lang="en-US" sz="1200" kern="1200" dirty="0">
                <a:solidFill>
                  <a:schemeClr val="tx1"/>
                </a:solidFill>
                <a:effectLst/>
                <a:latin typeface="+mn-lt"/>
                <a:ea typeface="+mn-ea"/>
                <a:cs typeface="+mn-cs"/>
              </a:rPr>
              <a:t> risk factors changed over time which suggest that incorporating time-varying covariates may improve future risk prediction.</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Finally, </a:t>
            </a:r>
            <a:r>
              <a:rPr lang="en-US" sz="1200" b="1" kern="1200" dirty="0">
                <a:solidFill>
                  <a:schemeClr val="tx1"/>
                </a:solidFill>
                <a:effectLst/>
                <a:latin typeface="+mn-lt"/>
                <a:ea typeface="+mn-ea"/>
                <a:cs typeface="+mn-cs"/>
              </a:rPr>
              <a:t>Key limitations</a:t>
            </a:r>
            <a:r>
              <a:rPr lang="en-US" sz="1200" kern="1200" dirty="0">
                <a:solidFill>
                  <a:schemeClr val="tx1"/>
                </a:solidFill>
                <a:effectLst/>
                <a:latin typeface="+mn-lt"/>
                <a:ea typeface="+mn-ea"/>
                <a:cs typeface="+mn-cs"/>
              </a:rPr>
              <a:t> include the low number of stroke events, reliance on baseline covariates for estimating risk, stepwise selection is known to be biased and ignores clinical relevance and lastly the possibility of bias from complete-case analysis if missingness is not at random</a:t>
            </a:r>
            <a:r>
              <a:rPr lang="en-US" dirty="0">
                <a:effectLst/>
              </a:rPr>
              <a:t> - </a:t>
            </a:r>
            <a:r>
              <a:rPr lang="en-US" sz="1200" kern="1200" dirty="0">
                <a:solidFill>
                  <a:schemeClr val="tx1"/>
                </a:solidFill>
                <a:effectLst/>
                <a:latin typeface="+mn-lt"/>
                <a:ea typeface="+mn-ea"/>
                <a:cs typeface="+mn-cs"/>
              </a:rPr>
              <a:t>MAR can not be formally verified so we are assuming MCAR</a:t>
            </a:r>
            <a:endParaRPr lang="en-US" dirty="0"/>
          </a:p>
        </p:txBody>
      </p:sp>
      <p:sp>
        <p:nvSpPr>
          <p:cNvPr id="4" name="Slide Number Placeholder 3"/>
          <p:cNvSpPr>
            <a:spLocks noGrp="1"/>
          </p:cNvSpPr>
          <p:nvPr>
            <p:ph type="sldNum" sz="quarter" idx="5"/>
          </p:nvPr>
        </p:nvSpPr>
        <p:spPr/>
        <p:txBody>
          <a:bodyPr/>
          <a:lstStyle/>
          <a:p>
            <a:fld id="{8055A014-AA40-5B4A-A5FD-4F58A1D7AE4A}" type="slidenum">
              <a:rPr lang="en-US" smtClean="0"/>
              <a:t>7</a:t>
            </a:fld>
            <a:endParaRPr lang="en-US"/>
          </a:p>
        </p:txBody>
      </p:sp>
    </p:spTree>
    <p:extLst>
      <p:ext uri="{BB962C8B-B14F-4D97-AF65-F5344CB8AC3E}">
        <p14:creationId xmlns:p14="http://schemas.microsoft.com/office/powerpoint/2010/main" val="4002978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Header 1"/>
          <p:cNvSpPr>
            <a:spLocks noGrp="1"/>
          </p:cNvSpPr>
          <p:nvPr>
            <p:ph type="title"/>
          </p:nvPr>
        </p:nvSpPr>
        <p:spPr/>
        <p:txBody>
          <a:bodyPr/>
          <a:lstStyle/>
          <a:p>
            <a:r>
              <a:rPr lang="en-US"/>
              <a:t>Title</a:t>
            </a:r>
          </a:p>
        </p:txBody>
      </p:sp>
      <p:sp>
        <p:nvSpPr>
          <p:cNvPr id="3" name="Text 2"/>
          <p:cNvSpPr>
            <a:spLocks noGrp="1"/>
          </p:cNvSpPr>
          <p:nvPr>
            <p:ph type="body" idx="1"/>
          </p:nvPr>
        </p:nvSpPr>
        <p:spPr/>
        <p:txBody>
          <a:bodyPr/>
          <a:lstStyle/>
          <a:p>
            <a:pPr lvl="0"/>
            <a:r>
              <a:rPr lang="en-US"/>
              <a:t>Text</a:t>
            </a:r>
          </a:p>
          <a:p>
            <a:pPr lvl="1"/>
            <a:r>
              <a:rPr lang="en-US"/>
              <a:t>Second level</a:t>
            </a:r>
          </a:p>
          <a:p>
            <a:pPr lvl="2"/>
            <a:r>
              <a:rPr lang="en-US"/>
              <a:t>Third level</a:t>
            </a:r>
          </a:p>
          <a:p>
            <a:pPr lvl="3"/>
            <a:r>
              <a:rPr lang="en-US"/>
              <a:t>Fourth level</a:t>
            </a:r>
          </a:p>
          <a:p>
            <a:pPr lvl="4"/>
            <a:r>
              <a:rPr lang="en-US"/>
              <a:t>Fifth level</a:t>
            </a:r>
          </a:p>
        </p:txBody>
      </p:sp>
      <p:sp>
        <p:nvSpPr>
          <p:cNvPr id="4" name="Date 3"/>
          <p:cNvSpPr>
            <a:spLocks noGrp="1"/>
          </p:cNvSpPr>
          <p:nvPr>
            <p:ph type="dt" sz="half" idx="10"/>
          </p:nvPr>
        </p:nvSpPr>
        <p:spPr/>
        <p:txBody>
          <a:bodyPr/>
          <a:lstStyle/>
          <a:p>
            <a:fld id="{C16525B2-4347-4F72-BAF7-76B19438D329}" type="datetimeFigureOut">
              <a:rPr lang="en-US" smtClean="0"/>
              <a:t>4/21/26</a:t>
            </a:fld>
            <a:endParaRPr lang="en-US"/>
          </a:p>
        </p:txBody>
      </p:sp>
      <p:sp>
        <p:nvSpPr>
          <p:cNvPr id="5" name="Footer 4"/>
          <p:cNvSpPr>
            <a:spLocks noGrp="1"/>
          </p:cNvSpPr>
          <p:nvPr>
            <p:ph type="ftr" sz="quarter" idx="11"/>
          </p:nvPr>
        </p:nvSpPr>
        <p:spPr/>
        <p:txBody>
          <a:bodyPr/>
          <a:lstStyle/>
          <a:p>
            <a:endParaRPr lang="en-US"/>
          </a:p>
        </p:txBody>
      </p:sp>
      <p:sp>
        <p:nvSpPr>
          <p:cNvPr id="6" name="Slide number 5"/>
          <p:cNvSpPr>
            <a:spLocks noGrp="1"/>
          </p:cNvSpPr>
          <p:nvPr>
            <p:ph type="sldNum" sz="quarter" idx="12"/>
          </p:nvPr>
        </p:nvSpPr>
        <p:spPr/>
        <p:txBody>
          <a:bodyPr/>
          <a:lstStyle/>
          <a:p>
            <a:fld id="{80F073CC-40D5-4B23-8DF0-9BD0A0C12F2C}"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77666" y="427735"/>
            <a:ext cx="6797992" cy="1710943"/>
          </a:xfrm>
          <a:prstGeom prst="rect">
            <a:avLst/>
          </a:prstGeom>
        </p:spPr>
        <p:txBody>
          <a:bodyPr wrap="square" lIns="0" tIns="0" rIns="0" bIns="0">
            <a:spAutoFit/>
          </a:bodyPr>
          <a:lstStyle>
            <a:lvl1pPr>
              <a:defRPr/>
            </a:lvl1pPr>
          </a:lstStyle>
          <a:p>
            <a:endParaRPr/>
          </a:p>
        </p:txBody>
      </p:sp>
      <p:sp>
        <p:nvSpPr>
          <p:cNvPr id="3" name="Holder 3"/>
          <p:cNvSpPr>
            <a:spLocks noGrp="1"/>
          </p:cNvSpPr>
          <p:nvPr>
            <p:ph type="body" idx="1"/>
          </p:nvPr>
        </p:nvSpPr>
        <p:spPr>
          <a:xfrm>
            <a:off x="377666" y="2459482"/>
            <a:ext cx="6797992" cy="7057644"/>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2568130" y="9944862"/>
            <a:ext cx="2417063" cy="53467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77666" y="9944862"/>
            <a:ext cx="1737264" cy="53467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4/21/26</a:t>
            </a:fld>
            <a:endParaRPr lang="en-US"/>
          </a:p>
        </p:txBody>
      </p:sp>
      <p:sp>
        <p:nvSpPr>
          <p:cNvPr id="6" name="Holder 6"/>
          <p:cNvSpPr>
            <a:spLocks noGrp="1"/>
          </p:cNvSpPr>
          <p:nvPr>
            <p:ph type="sldNum" sz="quarter" idx="7"/>
          </p:nvPr>
        </p:nvSpPr>
        <p:spPr>
          <a:xfrm>
            <a:off x="5438394" y="9944862"/>
            <a:ext cx="1737264" cy="53467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3" cstate="print"/>
            <a:stretch>
              <a:fillRect/>
            </a:stretch>
          </a:blipFill>
        </p:spPr>
        <p:txBody>
          <a:bodyPr wrap="square" lIns="0" tIns="0" rIns="0" bIns="0" rtlCol="0">
            <a:spAutoFit/>
          </a:bodyPr>
          <a:lstStyle/>
          <a:p>
            <a:endParaRPr/>
          </a:p>
        </p:txBody>
      </p:sp>
      <p:sp>
        <p:nvSpPr>
          <p:cNvPr id="3" name="object 3"/>
          <p:cNvSpPr txBox="1"/>
          <p:nvPr/>
        </p:nvSpPr>
        <p:spPr>
          <a:xfrm>
            <a:off x="-240704" y="2348880"/>
            <a:ext cx="10729192" cy="897040"/>
          </a:xfrm>
          <a:prstGeom prst="rect">
            <a:avLst/>
          </a:prstGeom>
        </p:spPr>
        <p:txBody>
          <a:bodyPr vert="horz" wrap="square" lIns="0" tIns="0" rIns="0" bIns="0" rtlCol="0">
            <a:spAutoFit/>
          </a:bodyPr>
          <a:lstStyle/>
          <a:p>
            <a:pPr marL="1816354" marR="0" algn="ctr">
              <a:lnSpc>
                <a:spcPts val="8163"/>
              </a:lnSpc>
              <a:spcBef>
                <a:spcPts val="0"/>
              </a:spcBef>
              <a:spcAft>
                <a:spcPts val="0"/>
              </a:spcAft>
            </a:pPr>
            <a:r>
              <a:rPr lang="en-US" sz="3200" dirty="0">
                <a:solidFill>
                  <a:srgbClr val="181A0D"/>
                </a:solidFill>
                <a:cs typeface="GEHAIV+FranklinGothic-Book"/>
              </a:rPr>
              <a:t>10-year Stroke Risk in the Framingham Heart Study</a:t>
            </a:r>
            <a:endParaRPr sz="3200" spc="-75" dirty="0">
              <a:solidFill>
                <a:srgbClr val="181A0D"/>
              </a:solidFill>
              <a:cs typeface="GEHAIV+FranklinGothic-Book"/>
            </a:endParaRPr>
          </a:p>
        </p:txBody>
      </p:sp>
      <p:sp>
        <p:nvSpPr>
          <p:cNvPr id="4" name="object 4"/>
          <p:cNvSpPr txBox="1"/>
          <p:nvPr/>
        </p:nvSpPr>
        <p:spPr>
          <a:xfrm>
            <a:off x="4507565" y="3861048"/>
            <a:ext cx="3176870" cy="730969"/>
          </a:xfrm>
          <a:prstGeom prst="rect">
            <a:avLst/>
          </a:prstGeom>
        </p:spPr>
        <p:txBody>
          <a:bodyPr vert="horz" wrap="square" lIns="0" tIns="0" rIns="0" bIns="0" rtlCol="0">
            <a:spAutoFit/>
          </a:bodyPr>
          <a:lstStyle/>
          <a:p>
            <a:pPr marL="0" marR="0" algn="ctr">
              <a:lnSpc>
                <a:spcPts val="2612"/>
              </a:lnSpc>
              <a:spcBef>
                <a:spcPts val="0"/>
              </a:spcBef>
              <a:spcAft>
                <a:spcPts val="0"/>
              </a:spcAft>
            </a:pPr>
            <a:r>
              <a:rPr lang="en-US" sz="2300" dirty="0">
                <a:solidFill>
                  <a:srgbClr val="181A0D"/>
                </a:solidFill>
                <a:cs typeface="GEHAIV+FranklinGothic-Book"/>
              </a:rPr>
              <a:t>Ryan Summers</a:t>
            </a:r>
            <a:endParaRPr sz="2300" dirty="0">
              <a:solidFill>
                <a:srgbClr val="181A0D"/>
              </a:solidFill>
              <a:cs typeface="GEHAIV+FranklinGothic-Book"/>
            </a:endParaRPr>
          </a:p>
          <a:p>
            <a:pPr marL="77914" marR="0" algn="ctr">
              <a:lnSpc>
                <a:spcPts val="2612"/>
              </a:lnSpc>
              <a:spcBef>
                <a:spcPts val="459"/>
              </a:spcBef>
              <a:spcAft>
                <a:spcPts val="0"/>
              </a:spcAft>
            </a:pPr>
            <a:r>
              <a:rPr lang="en-US" sz="2300" spc="-13" dirty="0">
                <a:solidFill>
                  <a:srgbClr val="181A0D"/>
                </a:solidFill>
                <a:cs typeface="GEHAIV+FranklinGothic-Book"/>
              </a:rPr>
              <a:t>4/22/26</a:t>
            </a:r>
            <a:endParaRPr sz="2300" spc="-13" dirty="0">
              <a:solidFill>
                <a:srgbClr val="181A0D"/>
              </a:solidFill>
              <a:cs typeface="GEHAIV+FranklinGothic-Book"/>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E9220A-E907-696F-E178-950E13497494}"/>
            </a:ext>
          </a:extLst>
        </p:cNvPr>
        <p:cNvGrpSpPr/>
        <p:nvPr/>
      </p:nvGrpSpPr>
      <p:grpSpPr>
        <a:xfrm>
          <a:off x="0" y="0"/>
          <a:ext cx="0" cy="0"/>
          <a:chOff x="0" y="0"/>
          <a:chExt cx="0" cy="0"/>
        </a:xfrm>
      </p:grpSpPr>
      <p:sp>
        <p:nvSpPr>
          <p:cNvPr id="2" name="object 1">
            <a:extLst>
              <a:ext uri="{FF2B5EF4-FFF2-40B4-BE49-F238E27FC236}">
                <a16:creationId xmlns:a16="http://schemas.microsoft.com/office/drawing/2014/main" id="{1DE5CAE3-8C9D-5530-AE7E-1A8DEBA08D3C}"/>
              </a:ext>
            </a:extLst>
          </p:cNvPr>
          <p:cNvSpPr/>
          <p:nvPr/>
        </p:nvSpPr>
        <p:spPr>
          <a:xfrm>
            <a:off x="-4864" y="0"/>
            <a:ext cx="12192000" cy="6858000"/>
          </a:xfrm>
          <a:prstGeom prst="rect">
            <a:avLst/>
          </a:prstGeom>
          <a:blipFill>
            <a:blip r:embed="rId3" cstate="print"/>
            <a:stretch>
              <a:fillRect/>
            </a:stretch>
          </a:blipFill>
        </p:spPr>
        <p:txBody>
          <a:bodyPr wrap="square" lIns="0" tIns="0" rIns="0" bIns="0" rtlCol="0">
            <a:spAutoFit/>
          </a:bodyPr>
          <a:lstStyle/>
          <a:p>
            <a:endParaRPr dirty="0"/>
          </a:p>
        </p:txBody>
      </p:sp>
      <p:sp>
        <p:nvSpPr>
          <p:cNvPr id="3" name="object 3">
            <a:extLst>
              <a:ext uri="{FF2B5EF4-FFF2-40B4-BE49-F238E27FC236}">
                <a16:creationId xmlns:a16="http://schemas.microsoft.com/office/drawing/2014/main" id="{DD84BD69-C59D-462F-793D-BE03654A65BC}"/>
              </a:ext>
            </a:extLst>
          </p:cNvPr>
          <p:cNvSpPr txBox="1"/>
          <p:nvPr/>
        </p:nvSpPr>
        <p:spPr>
          <a:xfrm>
            <a:off x="1199456" y="181814"/>
            <a:ext cx="5065008" cy="641201"/>
          </a:xfrm>
          <a:prstGeom prst="rect">
            <a:avLst/>
          </a:prstGeom>
        </p:spPr>
        <p:txBody>
          <a:bodyPr vert="horz" wrap="square" lIns="0" tIns="0" rIns="0" bIns="0" rtlCol="0">
            <a:spAutoFit/>
          </a:bodyPr>
          <a:lstStyle/>
          <a:p>
            <a:pPr marL="0" marR="0">
              <a:lnSpc>
                <a:spcPts val="4979"/>
              </a:lnSpc>
              <a:spcBef>
                <a:spcPts val="0"/>
              </a:spcBef>
              <a:spcAft>
                <a:spcPts val="0"/>
              </a:spcAft>
            </a:pPr>
            <a:r>
              <a:rPr sz="4400" spc="-21" dirty="0">
                <a:solidFill>
                  <a:srgbClr val="181A0D"/>
                </a:solidFill>
                <a:cs typeface="KDMFEK+FranklinGothic-Book"/>
              </a:rPr>
              <a:t>Research</a:t>
            </a:r>
            <a:r>
              <a:rPr sz="4400" spc="21" dirty="0">
                <a:solidFill>
                  <a:srgbClr val="181A0D"/>
                </a:solidFill>
                <a:cs typeface="KDMFEK+FranklinGothic-Book"/>
              </a:rPr>
              <a:t> </a:t>
            </a:r>
            <a:r>
              <a:rPr sz="4400" dirty="0">
                <a:solidFill>
                  <a:srgbClr val="181A0D"/>
                </a:solidFill>
                <a:cs typeface="KDMFEK+FranklinGothic-Book"/>
              </a:rPr>
              <a:t>Question</a:t>
            </a:r>
            <a:r>
              <a:rPr lang="en-US" sz="4400" dirty="0">
                <a:solidFill>
                  <a:srgbClr val="181A0D"/>
                </a:solidFill>
                <a:cs typeface="KDMFEK+FranklinGothic-Book"/>
              </a:rPr>
              <a:t>s</a:t>
            </a:r>
            <a:endParaRPr sz="4400" dirty="0">
              <a:solidFill>
                <a:srgbClr val="181A0D"/>
              </a:solidFill>
              <a:cs typeface="KDMFEK+FranklinGothic-Book"/>
            </a:endParaRPr>
          </a:p>
        </p:txBody>
      </p:sp>
      <p:sp>
        <p:nvSpPr>
          <p:cNvPr id="6" name="TextBox 5">
            <a:extLst>
              <a:ext uri="{FF2B5EF4-FFF2-40B4-BE49-F238E27FC236}">
                <a16:creationId xmlns:a16="http://schemas.microsoft.com/office/drawing/2014/main" id="{47E80CB9-394E-7C5A-F83C-EFCE2F949673}"/>
              </a:ext>
            </a:extLst>
          </p:cNvPr>
          <p:cNvSpPr txBox="1"/>
          <p:nvPr/>
        </p:nvSpPr>
        <p:spPr>
          <a:xfrm>
            <a:off x="1055440" y="1122180"/>
            <a:ext cx="8784976" cy="5139869"/>
          </a:xfrm>
          <a:prstGeom prst="rect">
            <a:avLst/>
          </a:prstGeom>
          <a:noFill/>
        </p:spPr>
        <p:txBody>
          <a:bodyPr wrap="square">
            <a:spAutoFit/>
          </a:bodyPr>
          <a:lstStyle/>
          <a:p>
            <a:r>
              <a:rPr lang="en-US" sz="2400" b="1" u="sng" dirty="0"/>
              <a:t>Primary:</a:t>
            </a:r>
          </a:p>
          <a:p>
            <a:endParaRPr lang="en-US" sz="2400" b="1" dirty="0"/>
          </a:p>
          <a:p>
            <a:pPr marL="342900" indent="-342900">
              <a:buFont typeface="Wingdings" pitchFamily="2" charset="2"/>
              <a:buChar char="q"/>
            </a:pPr>
            <a:r>
              <a:rPr lang="en-US" sz="2000" b="1" dirty="0"/>
              <a:t>What baseline risk factors are associated with time to stroke?</a:t>
            </a:r>
            <a:endParaRPr lang="en-US" sz="2000" b="1" dirty="0">
              <a:solidFill>
                <a:srgbClr val="181A0D"/>
              </a:solidFill>
            </a:endParaRPr>
          </a:p>
          <a:p>
            <a:pPr marL="742950" lvl="1" indent="-285750">
              <a:buFont typeface="Wingdings" pitchFamily="2" charset="2"/>
              <a:buChar char="Ø"/>
            </a:pPr>
            <a:r>
              <a:rPr lang="en-US" sz="2000" i="1" dirty="0"/>
              <a:t>Hypothesis: </a:t>
            </a:r>
            <a:r>
              <a:rPr lang="en-US" dirty="0"/>
              <a:t>baseline risk factors are associated with time to stroke within 10 years of follow-up  </a:t>
            </a:r>
          </a:p>
          <a:p>
            <a:pPr marL="1200150" lvl="2" indent="-285750">
              <a:buFont typeface="Courier New" panose="02070309020205020404" pitchFamily="49" charset="0"/>
              <a:buChar char="o"/>
            </a:pPr>
            <a:r>
              <a:rPr lang="en-US" dirty="0"/>
              <a:t>H₀: HR=1 (no association) vs. Ha: HR ≠ 1 (association)</a:t>
            </a:r>
          </a:p>
          <a:p>
            <a:pPr lvl="1"/>
            <a:endParaRPr lang="en-US" dirty="0"/>
          </a:p>
          <a:p>
            <a:pPr marL="285750" indent="-285750">
              <a:buFont typeface="Wingdings" pitchFamily="2" charset="2"/>
              <a:buChar char="q"/>
            </a:pPr>
            <a:r>
              <a:rPr lang="en-US" sz="2000" b="1" dirty="0">
                <a:solidFill>
                  <a:srgbClr val="181A0D"/>
                </a:solidFill>
              </a:rPr>
              <a:t>What are the 10-year stroke probabilities across risk profiles </a:t>
            </a:r>
          </a:p>
          <a:p>
            <a:pPr marL="800100" lvl="1" indent="-342900">
              <a:buFont typeface="Wingdings" pitchFamily="2" charset="2"/>
              <a:buChar char="Ø"/>
            </a:pPr>
            <a:r>
              <a:rPr lang="en-US" sz="2000" i="1" dirty="0"/>
              <a:t>Computed probabilities from fitted models</a:t>
            </a:r>
          </a:p>
          <a:p>
            <a:pPr lvl="1"/>
            <a:endParaRPr lang="en-US" sz="2000" b="1" dirty="0">
              <a:solidFill>
                <a:srgbClr val="181A0D"/>
              </a:solidFill>
            </a:endParaRPr>
          </a:p>
          <a:p>
            <a:pPr lvl="0"/>
            <a:r>
              <a:rPr lang="en-US" sz="2400" b="1" u="sng" dirty="0">
                <a:solidFill>
                  <a:srgbClr val="181A0D"/>
                </a:solidFill>
              </a:rPr>
              <a:t>Secondary:</a:t>
            </a:r>
          </a:p>
          <a:p>
            <a:pPr lvl="0"/>
            <a:endParaRPr lang="en-US" sz="2400" b="1" dirty="0">
              <a:solidFill>
                <a:srgbClr val="181A0D"/>
              </a:solidFill>
            </a:endParaRPr>
          </a:p>
          <a:p>
            <a:pPr marL="285750" indent="-285750">
              <a:buFont typeface="Wingdings" pitchFamily="2" charset="2"/>
              <a:buChar char="q"/>
            </a:pPr>
            <a:r>
              <a:rPr lang="en-US" sz="2000" b="1" dirty="0"/>
              <a:t>What is the change in key risk factors across three examination periods?</a:t>
            </a:r>
          </a:p>
          <a:p>
            <a:pPr marL="742950" lvl="1" indent="-285750">
              <a:buFont typeface="Wingdings" pitchFamily="2" charset="2"/>
              <a:buChar char="Ø"/>
            </a:pPr>
            <a:r>
              <a:rPr lang="en-US" sz="2000" i="1" dirty="0"/>
              <a:t>Descriptive</a:t>
            </a:r>
            <a:endParaRPr lang="en-US" dirty="0">
              <a:solidFill>
                <a:srgbClr val="181A0D"/>
              </a:solidFill>
              <a:cs typeface="OAGDQN+FranklinGothic-BookItalic"/>
            </a:endParaRPr>
          </a:p>
          <a:p>
            <a:pPr marL="285750" lvl="0" indent="-285750">
              <a:buFont typeface="Wingdings" pitchFamily="2" charset="2"/>
              <a:buChar char="q"/>
            </a:pPr>
            <a:endParaRPr lang="en-US" sz="2000" b="1" dirty="0">
              <a:solidFill>
                <a:srgbClr val="181A0D"/>
              </a:solidFill>
            </a:endParaRPr>
          </a:p>
          <a:p>
            <a:pPr marL="285750" indent="-285750">
              <a:buFont typeface="Wingdings" pitchFamily="2" charset="2"/>
              <a:buChar char="q"/>
            </a:pPr>
            <a:endParaRPr lang="en-US" dirty="0"/>
          </a:p>
        </p:txBody>
      </p:sp>
    </p:spTree>
    <p:extLst>
      <p:ext uri="{BB962C8B-B14F-4D97-AF65-F5344CB8AC3E}">
        <p14:creationId xmlns:p14="http://schemas.microsoft.com/office/powerpoint/2010/main" val="15441300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3713"/>
            <a:ext cx="12192000" cy="6858000"/>
          </a:xfrm>
          <a:prstGeom prst="rect">
            <a:avLst/>
          </a:prstGeom>
          <a:blipFill>
            <a:blip r:embed="rId3" cstate="print"/>
            <a:stretch>
              <a:fillRect/>
            </a:stretch>
          </a:blipFill>
        </p:spPr>
        <p:txBody>
          <a:bodyPr wrap="square" lIns="0" tIns="0" rIns="0" bIns="0" rtlCol="0">
            <a:spAutoFit/>
          </a:bodyPr>
          <a:lstStyle/>
          <a:p>
            <a:endParaRPr dirty="0"/>
          </a:p>
        </p:txBody>
      </p:sp>
      <p:sp>
        <p:nvSpPr>
          <p:cNvPr id="3" name="object 3"/>
          <p:cNvSpPr txBox="1"/>
          <p:nvPr/>
        </p:nvSpPr>
        <p:spPr>
          <a:xfrm>
            <a:off x="1199456" y="133760"/>
            <a:ext cx="3530821" cy="641201"/>
          </a:xfrm>
          <a:prstGeom prst="rect">
            <a:avLst/>
          </a:prstGeom>
        </p:spPr>
        <p:txBody>
          <a:bodyPr vert="horz" wrap="square" lIns="0" tIns="0" rIns="0" bIns="0" rtlCol="0">
            <a:spAutoFit/>
          </a:bodyPr>
          <a:lstStyle/>
          <a:p>
            <a:pPr marL="0" marR="0">
              <a:lnSpc>
                <a:spcPts val="4979"/>
              </a:lnSpc>
              <a:spcBef>
                <a:spcPts val="0"/>
              </a:spcBef>
              <a:spcAft>
                <a:spcPts val="0"/>
              </a:spcAft>
            </a:pPr>
            <a:r>
              <a:rPr sz="4400" dirty="0">
                <a:solidFill>
                  <a:srgbClr val="181A0D"/>
                </a:solidFill>
                <a:cs typeface="NOOILK+FranklinGothic-Book"/>
              </a:rPr>
              <a:t>Data </a:t>
            </a:r>
            <a:r>
              <a:rPr lang="en-US" sz="4400" spc="-18" dirty="0">
                <a:solidFill>
                  <a:srgbClr val="181A0D"/>
                </a:solidFill>
                <a:cs typeface="NOOILK+FranklinGothic-Book"/>
              </a:rPr>
              <a:t>Overview</a:t>
            </a:r>
            <a:endParaRPr sz="4400" spc="-19" dirty="0">
              <a:solidFill>
                <a:srgbClr val="181A0D"/>
              </a:solidFill>
              <a:cs typeface="NOOILK+FranklinGothic-Book"/>
            </a:endParaRPr>
          </a:p>
        </p:txBody>
      </p:sp>
      <p:sp>
        <p:nvSpPr>
          <p:cNvPr id="13" name="TextBox 12">
            <a:extLst>
              <a:ext uri="{FF2B5EF4-FFF2-40B4-BE49-F238E27FC236}">
                <a16:creationId xmlns:a16="http://schemas.microsoft.com/office/drawing/2014/main" id="{2F490F4B-F9EE-36A8-DC87-2A09F4C4F2EF}"/>
              </a:ext>
            </a:extLst>
          </p:cNvPr>
          <p:cNvSpPr txBox="1"/>
          <p:nvPr/>
        </p:nvSpPr>
        <p:spPr>
          <a:xfrm>
            <a:off x="922668" y="1097930"/>
            <a:ext cx="4188235" cy="5534849"/>
          </a:xfrm>
          <a:prstGeom prst="rect">
            <a:avLst/>
          </a:prstGeom>
          <a:noFill/>
        </p:spPr>
        <p:txBody>
          <a:bodyPr wrap="square">
            <a:spAutoFit/>
          </a:bodyPr>
          <a:lstStyle/>
          <a:p>
            <a:pPr>
              <a:lnSpc>
                <a:spcPts val="2258"/>
              </a:lnSpc>
            </a:pPr>
            <a:endParaRPr lang="en-US" b="1" dirty="0">
              <a:solidFill>
                <a:srgbClr val="181A0D"/>
              </a:solidFill>
            </a:endParaRPr>
          </a:p>
          <a:p>
            <a:pPr marL="285750" indent="-285750">
              <a:lnSpc>
                <a:spcPts val="2258"/>
              </a:lnSpc>
              <a:buFont typeface="Wingdings" pitchFamily="2" charset="2"/>
              <a:buChar char="q"/>
            </a:pPr>
            <a:r>
              <a:rPr lang="en-US" b="1" dirty="0">
                <a:solidFill>
                  <a:srgbClr val="181A0D"/>
                </a:solidFill>
              </a:rPr>
              <a:t>Full Cohort N=4,402 </a:t>
            </a:r>
          </a:p>
          <a:p>
            <a:pPr marL="742950" lvl="1" indent="-285750">
              <a:lnSpc>
                <a:spcPts val="2258"/>
              </a:lnSpc>
              <a:buFont typeface="Wingdings" pitchFamily="2" charset="2"/>
              <a:buChar char="Ø"/>
            </a:pPr>
            <a:r>
              <a:rPr lang="en-US" dirty="0">
                <a:solidFill>
                  <a:srgbClr val="181A0D"/>
                </a:solidFill>
              </a:rPr>
              <a:t>Excluded prior stroke</a:t>
            </a:r>
            <a:endParaRPr lang="en-US" dirty="0"/>
          </a:p>
          <a:p>
            <a:pPr marL="742950" lvl="1" indent="-285750">
              <a:lnSpc>
                <a:spcPts val="2258"/>
              </a:lnSpc>
              <a:buFont typeface="Wingdings" pitchFamily="2" charset="2"/>
              <a:buChar char="Ø"/>
            </a:pPr>
            <a:r>
              <a:rPr lang="en-US" dirty="0"/>
              <a:t>Restricted to baseline (Exam1) &amp; first 10yrs of follow-up</a:t>
            </a:r>
            <a:endParaRPr lang="en-US" dirty="0">
              <a:solidFill>
                <a:srgbClr val="181A0D"/>
              </a:solidFill>
            </a:endParaRPr>
          </a:p>
          <a:p>
            <a:pPr lvl="1">
              <a:lnSpc>
                <a:spcPts val="2258"/>
              </a:lnSpc>
            </a:pPr>
            <a:endParaRPr lang="en-US" dirty="0">
              <a:solidFill>
                <a:srgbClr val="181A0D"/>
              </a:solidFill>
            </a:endParaRPr>
          </a:p>
          <a:p>
            <a:pPr marL="285750" indent="-285750">
              <a:lnSpc>
                <a:spcPts val="2258"/>
              </a:lnSpc>
              <a:buFont typeface="Wingdings" pitchFamily="2" charset="2"/>
              <a:buChar char="q"/>
            </a:pPr>
            <a:r>
              <a:rPr lang="en-US" b="1" dirty="0">
                <a:solidFill>
                  <a:srgbClr val="181A0D"/>
                </a:solidFill>
              </a:rPr>
              <a:t>Complete-case analysis </a:t>
            </a:r>
          </a:p>
          <a:p>
            <a:pPr marL="742950" lvl="1" indent="-285750">
              <a:lnSpc>
                <a:spcPts val="2258"/>
              </a:lnSpc>
              <a:buFont typeface="Wingdings" pitchFamily="2" charset="2"/>
              <a:buChar char="Ø"/>
            </a:pPr>
            <a:r>
              <a:rPr lang="en-US" dirty="0">
                <a:solidFill>
                  <a:srgbClr val="181A0D"/>
                </a:solidFill>
              </a:rPr>
              <a:t>Women: N=2,378</a:t>
            </a:r>
          </a:p>
          <a:p>
            <a:pPr marL="742950" lvl="1" indent="-285750">
              <a:lnSpc>
                <a:spcPts val="2258"/>
              </a:lnSpc>
              <a:buFont typeface="Wingdings" pitchFamily="2" charset="2"/>
              <a:buChar char="Ø"/>
            </a:pPr>
            <a:r>
              <a:rPr lang="en-US" dirty="0">
                <a:solidFill>
                  <a:srgbClr val="181A0D"/>
                </a:solidFill>
              </a:rPr>
              <a:t>Men: N=1,897</a:t>
            </a:r>
          </a:p>
          <a:p>
            <a:pPr marL="742950" lvl="1" indent="-285750">
              <a:lnSpc>
                <a:spcPts val="2258"/>
              </a:lnSpc>
              <a:buFont typeface="Wingdings" pitchFamily="2" charset="2"/>
              <a:buChar char="Ø"/>
            </a:pPr>
            <a:r>
              <a:rPr lang="en-US" dirty="0">
                <a:solidFill>
                  <a:srgbClr val="181A0D"/>
                </a:solidFill>
              </a:rPr>
              <a:t>Missingness low (≈2.9%)</a:t>
            </a:r>
          </a:p>
          <a:p>
            <a:pPr lvl="1"/>
            <a:endParaRPr lang="en-US" dirty="0"/>
          </a:p>
          <a:p>
            <a:pPr marL="285750" indent="-285750">
              <a:buFont typeface="Wingdings" pitchFamily="2" charset="2"/>
              <a:buChar char="q"/>
            </a:pPr>
            <a:r>
              <a:rPr lang="en-US" b="1" dirty="0"/>
              <a:t>Smoking &amp; CVD more common in men</a:t>
            </a:r>
          </a:p>
          <a:p>
            <a:pPr lvl="1"/>
            <a:endParaRPr lang="en-US" dirty="0"/>
          </a:p>
          <a:p>
            <a:pPr marL="285750" indent="-285750">
              <a:buFont typeface="Wingdings" pitchFamily="2" charset="2"/>
              <a:buChar char="q"/>
            </a:pPr>
            <a:r>
              <a:rPr lang="en-US" b="1" dirty="0"/>
              <a:t>105 stroke events </a:t>
            </a:r>
          </a:p>
          <a:p>
            <a:pPr marL="742950" lvl="1" indent="-285750">
              <a:buFont typeface="Wingdings" pitchFamily="2" charset="2"/>
              <a:buChar char="Ø"/>
            </a:pPr>
            <a:r>
              <a:rPr lang="en-US" dirty="0"/>
              <a:t>≈ 2.5% for both sexes</a:t>
            </a:r>
          </a:p>
          <a:p>
            <a:pPr marL="285750" indent="-285750">
              <a:buFont typeface="Wingdings" pitchFamily="2" charset="2"/>
              <a:buChar char="Ø"/>
            </a:pPr>
            <a:endParaRPr lang="en-US" dirty="0"/>
          </a:p>
          <a:p>
            <a:pPr marL="285750" indent="-285750">
              <a:buFont typeface="Wingdings" pitchFamily="2" charset="2"/>
              <a:buChar char="Ø"/>
            </a:pPr>
            <a:endParaRPr lang="en-US" dirty="0"/>
          </a:p>
          <a:p>
            <a:endParaRPr lang="en-US" dirty="0">
              <a:solidFill>
                <a:srgbClr val="181A0D"/>
              </a:solidFill>
              <a:cs typeface="OAGDQN+FranklinGothic-BookItalic"/>
            </a:endParaRPr>
          </a:p>
          <a:p>
            <a:pPr marL="285750" indent="-285750">
              <a:buFont typeface="Wingdings" pitchFamily="2" charset="2"/>
              <a:buChar char="§"/>
            </a:pPr>
            <a:endParaRPr lang="en-US" dirty="0"/>
          </a:p>
        </p:txBody>
      </p:sp>
      <p:pic>
        <p:nvPicPr>
          <p:cNvPr id="6" name="Picture 5">
            <a:extLst>
              <a:ext uri="{FF2B5EF4-FFF2-40B4-BE49-F238E27FC236}">
                <a16:creationId xmlns:a16="http://schemas.microsoft.com/office/drawing/2014/main" id="{CED7156A-47EB-4215-0233-DB3636FD61F0}"/>
              </a:ext>
            </a:extLst>
          </p:cNvPr>
          <p:cNvPicPr>
            <a:picLocks noChangeAspect="1"/>
          </p:cNvPicPr>
          <p:nvPr/>
        </p:nvPicPr>
        <p:blipFill>
          <a:blip r:embed="rId4"/>
          <a:stretch>
            <a:fillRect/>
          </a:stretch>
        </p:blipFill>
        <p:spPr>
          <a:xfrm>
            <a:off x="5110903" y="774961"/>
            <a:ext cx="6904959" cy="589327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3" cstate="print"/>
            <a:stretch>
              <a:fillRect/>
            </a:stretch>
          </a:blipFill>
        </p:spPr>
        <p:txBody>
          <a:bodyPr wrap="square" lIns="0" tIns="0" rIns="0" bIns="0" rtlCol="0">
            <a:spAutoFit/>
          </a:bodyPr>
          <a:lstStyle/>
          <a:p>
            <a:endParaRPr dirty="0"/>
          </a:p>
        </p:txBody>
      </p:sp>
      <p:sp>
        <p:nvSpPr>
          <p:cNvPr id="3" name="object 3"/>
          <p:cNvSpPr txBox="1"/>
          <p:nvPr/>
        </p:nvSpPr>
        <p:spPr>
          <a:xfrm>
            <a:off x="1463040" y="206635"/>
            <a:ext cx="2057883" cy="641201"/>
          </a:xfrm>
          <a:prstGeom prst="rect">
            <a:avLst/>
          </a:prstGeom>
        </p:spPr>
        <p:txBody>
          <a:bodyPr vert="horz" wrap="square" lIns="0" tIns="0" rIns="0" bIns="0" rtlCol="0">
            <a:spAutoFit/>
          </a:bodyPr>
          <a:lstStyle/>
          <a:p>
            <a:pPr marL="0" marR="0">
              <a:lnSpc>
                <a:spcPts val="4979"/>
              </a:lnSpc>
              <a:spcBef>
                <a:spcPts val="0"/>
              </a:spcBef>
              <a:spcAft>
                <a:spcPts val="0"/>
              </a:spcAft>
            </a:pPr>
            <a:r>
              <a:rPr sz="4400" dirty="0">
                <a:solidFill>
                  <a:srgbClr val="181A0D"/>
                </a:solidFill>
                <a:cs typeface="VTCKGD+FranklinGothic-Book"/>
              </a:rPr>
              <a:t>Analysis</a:t>
            </a:r>
          </a:p>
        </p:txBody>
      </p:sp>
      <p:sp>
        <p:nvSpPr>
          <p:cNvPr id="4" name="object 4"/>
          <p:cNvSpPr txBox="1"/>
          <p:nvPr/>
        </p:nvSpPr>
        <p:spPr>
          <a:xfrm>
            <a:off x="1092464" y="1054471"/>
            <a:ext cx="11089232" cy="5604098"/>
          </a:xfrm>
          <a:prstGeom prst="rect">
            <a:avLst/>
          </a:prstGeom>
        </p:spPr>
        <p:txBody>
          <a:bodyPr vert="horz" wrap="square" lIns="0" tIns="0" rIns="0" bIns="0" rtlCol="0">
            <a:spAutoFit/>
          </a:bodyPr>
          <a:lstStyle/>
          <a:p>
            <a:pPr marL="342900" marR="0" indent="-342900">
              <a:lnSpc>
                <a:spcPts val="2258"/>
              </a:lnSpc>
              <a:spcBef>
                <a:spcPts val="0"/>
              </a:spcBef>
              <a:spcAft>
                <a:spcPts val="0"/>
              </a:spcAft>
              <a:buFont typeface="Wingdings" pitchFamily="2" charset="2"/>
              <a:buChar char="q"/>
            </a:pPr>
            <a:r>
              <a:rPr lang="en-US" sz="2400" b="1" spc="-25" dirty="0">
                <a:solidFill>
                  <a:srgbClr val="181A0D"/>
                </a:solidFill>
                <a:cs typeface="OAGDQN+FranklinGothic-BookItalic"/>
              </a:rPr>
              <a:t>Primary: Risk factors of stroke</a:t>
            </a:r>
            <a:endParaRPr lang="en-US" sz="2000" spc="-25" dirty="0">
              <a:solidFill>
                <a:srgbClr val="181A0D"/>
              </a:solidFill>
              <a:cs typeface="OAGDQN+FranklinGothic-BookItalic"/>
            </a:endParaRPr>
          </a:p>
          <a:p>
            <a:pPr marL="800100" lvl="1" indent="-342900">
              <a:lnSpc>
                <a:spcPts val="2258"/>
              </a:lnSpc>
              <a:buFont typeface="Wingdings" pitchFamily="2" charset="2"/>
              <a:buChar char="Ø"/>
            </a:pPr>
            <a:r>
              <a:rPr lang="en-US" sz="2000" spc="-25" dirty="0">
                <a:solidFill>
                  <a:srgbClr val="181A0D"/>
                </a:solidFill>
                <a:cs typeface="OAGDQN+FranklinGothic-BookItalic"/>
              </a:rPr>
              <a:t>Sex-stratified Cox proportional hazards models</a:t>
            </a:r>
          </a:p>
          <a:p>
            <a:pPr marL="800100" lvl="1" indent="-342900">
              <a:lnSpc>
                <a:spcPts val="2258"/>
              </a:lnSpc>
              <a:buFont typeface="Wingdings" pitchFamily="2" charset="2"/>
              <a:buChar char="Ø"/>
            </a:pPr>
            <a:r>
              <a:rPr lang="en-US" sz="2000" spc="-25" dirty="0">
                <a:solidFill>
                  <a:srgbClr val="181A0D"/>
                </a:solidFill>
              </a:rPr>
              <a:t>Variables:</a:t>
            </a:r>
          </a:p>
          <a:p>
            <a:pPr marL="1257300" lvl="2" indent="-342900">
              <a:lnSpc>
                <a:spcPts val="2258"/>
              </a:lnSpc>
              <a:buFont typeface="Courier New" panose="02070309020205020404" pitchFamily="49" charset="0"/>
              <a:buChar char="o"/>
            </a:pPr>
            <a:r>
              <a:rPr lang="en-US" sz="2000" spc="-25" dirty="0">
                <a:solidFill>
                  <a:srgbClr val="181A0D"/>
                </a:solidFill>
                <a:cs typeface="OAGDQN+FranklinGothic-BookItalic"/>
              </a:rPr>
              <a:t>Age, systolic blood pressure (SBP), diabetes (per PI)</a:t>
            </a:r>
          </a:p>
          <a:p>
            <a:pPr marL="1257300" lvl="2" indent="-342900">
              <a:lnSpc>
                <a:spcPts val="2258"/>
              </a:lnSpc>
              <a:buFont typeface="Courier New" panose="02070309020205020404" pitchFamily="49" charset="0"/>
              <a:buChar char="o"/>
            </a:pPr>
            <a:r>
              <a:rPr lang="en-US" sz="2000" spc="-25" dirty="0">
                <a:solidFill>
                  <a:srgbClr val="181A0D"/>
                </a:solidFill>
                <a:cs typeface="OAGDQN+FranklinGothic-BookItalic"/>
              </a:rPr>
              <a:t>Smoking, CVD, Total Chol, BP meds x SBP interaction (stepwise + clinical relevance)</a:t>
            </a:r>
          </a:p>
          <a:p>
            <a:pPr marL="1714500" lvl="3" indent="-342900">
              <a:lnSpc>
                <a:spcPts val="2258"/>
              </a:lnSpc>
              <a:buFont typeface="Wingdings" pitchFamily="2" charset="2"/>
              <a:buChar char="§"/>
            </a:pPr>
            <a:r>
              <a:rPr lang="en-US" sz="2000" dirty="0"/>
              <a:t>Medication use expected to modify effect of SBP on risk</a:t>
            </a:r>
            <a:endParaRPr lang="en-US" i="1" dirty="0"/>
          </a:p>
          <a:p>
            <a:pPr lvl="1">
              <a:lnSpc>
                <a:spcPts val="2258"/>
              </a:lnSpc>
            </a:pPr>
            <a:endParaRPr lang="en-US" sz="2000" spc="-25" dirty="0">
              <a:solidFill>
                <a:srgbClr val="181A0D"/>
              </a:solidFill>
              <a:cs typeface="OAGDQN+FranklinGothic-BookItalic"/>
            </a:endParaRPr>
          </a:p>
          <a:p>
            <a:pPr lvl="1">
              <a:lnSpc>
                <a:spcPts val="2258"/>
              </a:lnSpc>
            </a:pPr>
            <a:endParaRPr lang="en-US" sz="2000" spc="-25" dirty="0">
              <a:solidFill>
                <a:srgbClr val="181A0D"/>
              </a:solidFill>
              <a:cs typeface="OAGDQN+FranklinGothic-BookItalic"/>
            </a:endParaRPr>
          </a:p>
          <a:p>
            <a:pPr marL="342900" indent="-342900">
              <a:lnSpc>
                <a:spcPts val="2258"/>
              </a:lnSpc>
              <a:buFont typeface="Wingdings" pitchFamily="2" charset="2"/>
              <a:buChar char="q"/>
            </a:pPr>
            <a:r>
              <a:rPr lang="en-US" sz="2400" b="1" spc="-25" dirty="0">
                <a:solidFill>
                  <a:srgbClr val="181A0D"/>
                </a:solidFill>
                <a:cs typeface="OAGDQN+FranklinGothic-BookItalic"/>
              </a:rPr>
              <a:t>Primary: 10-year probability of stroke by risk profile </a:t>
            </a:r>
            <a:r>
              <a:rPr lang="en-US" sz="2400" b="1" dirty="0">
                <a:solidFill>
                  <a:srgbClr val="181A0D"/>
                </a:solidFill>
              </a:rPr>
              <a:t>at </a:t>
            </a:r>
            <a:r>
              <a:rPr lang="en-US" sz="2400" b="1" spc="-25" dirty="0">
                <a:solidFill>
                  <a:srgbClr val="181A0D"/>
                </a:solidFill>
              </a:rPr>
              <a:t>ages 40, 50, &amp; 60</a:t>
            </a:r>
          </a:p>
          <a:p>
            <a:pPr marL="800100" lvl="1" indent="-342900">
              <a:lnSpc>
                <a:spcPts val="2258"/>
              </a:lnSpc>
              <a:buFont typeface="Wingdings" pitchFamily="2" charset="2"/>
              <a:buChar char="Ø"/>
            </a:pPr>
            <a:r>
              <a:rPr lang="en-US" sz="2000" spc="-25" dirty="0">
                <a:solidFill>
                  <a:srgbClr val="181A0D"/>
                </a:solidFill>
                <a:cs typeface="OAGDQN+FranklinGothic-BookItalic"/>
              </a:rPr>
              <a:t>Estimated from survival models</a:t>
            </a:r>
          </a:p>
          <a:p>
            <a:pPr marL="800100" lvl="1" indent="-342900">
              <a:lnSpc>
                <a:spcPts val="2258"/>
              </a:lnSpc>
              <a:buFont typeface="Wingdings" pitchFamily="2" charset="2"/>
              <a:buChar char="Ø"/>
            </a:pPr>
            <a:endParaRPr lang="en-US" sz="2000" spc="-25" dirty="0">
              <a:solidFill>
                <a:srgbClr val="181A0D"/>
              </a:solidFill>
              <a:cs typeface="OAGDQN+FranklinGothic-BookItalic"/>
            </a:endParaRPr>
          </a:p>
          <a:p>
            <a:pPr marL="342900" marR="0" indent="-342900">
              <a:lnSpc>
                <a:spcPts val="2258"/>
              </a:lnSpc>
              <a:spcBef>
                <a:spcPts val="0"/>
              </a:spcBef>
              <a:spcAft>
                <a:spcPts val="0"/>
              </a:spcAft>
              <a:buFont typeface="Wingdings" pitchFamily="2" charset="2"/>
              <a:buChar char="q"/>
            </a:pPr>
            <a:endParaRPr lang="en-US" sz="2000" spc="-25" dirty="0">
              <a:solidFill>
                <a:srgbClr val="181A0D"/>
              </a:solidFill>
              <a:cs typeface="OAGDQN+FranklinGothic-BookItalic"/>
            </a:endParaRPr>
          </a:p>
          <a:p>
            <a:pPr marL="342900" marR="0" indent="-342900">
              <a:lnSpc>
                <a:spcPts val="2258"/>
              </a:lnSpc>
              <a:spcBef>
                <a:spcPts val="0"/>
              </a:spcBef>
              <a:spcAft>
                <a:spcPts val="0"/>
              </a:spcAft>
              <a:buFont typeface="Wingdings" pitchFamily="2" charset="2"/>
              <a:buChar char="q"/>
            </a:pPr>
            <a:r>
              <a:rPr lang="en-US" sz="2400" b="1" spc="-25" dirty="0">
                <a:solidFill>
                  <a:srgbClr val="181A0D"/>
                </a:solidFill>
                <a:cs typeface="OAGDQN+FranklinGothic-BookItalic"/>
              </a:rPr>
              <a:t>Secondary: Time-varying covariates</a:t>
            </a:r>
            <a:endParaRPr lang="en-US" sz="2000" spc="-25" dirty="0">
              <a:solidFill>
                <a:srgbClr val="181A0D"/>
              </a:solidFill>
              <a:cs typeface="OAGDQN+FranklinGothic-BookItalic"/>
            </a:endParaRPr>
          </a:p>
          <a:p>
            <a:pPr marL="800100" lvl="1" indent="-342900">
              <a:lnSpc>
                <a:spcPts val="2258"/>
              </a:lnSpc>
              <a:buFont typeface="Wingdings" pitchFamily="2" charset="2"/>
              <a:buChar char="Ø"/>
            </a:pPr>
            <a:r>
              <a:rPr lang="en-US" sz="2000" spc="-25" dirty="0">
                <a:solidFill>
                  <a:srgbClr val="181A0D"/>
                </a:solidFill>
                <a:cs typeface="OAGDQN+FranklinGothic-BookItalic"/>
              </a:rPr>
              <a:t>Changes in risk factors across 3 exams</a:t>
            </a:r>
          </a:p>
          <a:p>
            <a:pPr marL="800100" lvl="1" indent="-342900">
              <a:lnSpc>
                <a:spcPts val="2258"/>
              </a:lnSpc>
              <a:buFont typeface="Wingdings" pitchFamily="2" charset="2"/>
              <a:buChar char="Ø"/>
            </a:pPr>
            <a:r>
              <a:rPr lang="en-US" sz="2000" spc="-25" dirty="0">
                <a:solidFill>
                  <a:srgbClr val="181A0D"/>
                </a:solidFill>
                <a:cs typeface="OAGDQN+FranklinGothic-BookItalic"/>
              </a:rPr>
              <a:t>Summarized using means (SD) and proportions</a:t>
            </a:r>
            <a:endParaRPr lang="en-US" sz="2000" dirty="0"/>
          </a:p>
          <a:p>
            <a:pPr lvl="1">
              <a:lnSpc>
                <a:spcPts val="2258"/>
              </a:lnSpc>
            </a:pPr>
            <a:endParaRPr lang="en-US" sz="2000" spc="-25" dirty="0">
              <a:solidFill>
                <a:srgbClr val="181A0D"/>
              </a:solidFill>
              <a:cs typeface="OAGDQN+FranklinGothic-BookItalic"/>
            </a:endParaRPr>
          </a:p>
          <a:p>
            <a:pPr marL="342900" marR="0" indent="-342900">
              <a:lnSpc>
                <a:spcPts val="2258"/>
              </a:lnSpc>
              <a:spcBef>
                <a:spcPts val="0"/>
              </a:spcBef>
              <a:spcAft>
                <a:spcPts val="0"/>
              </a:spcAft>
              <a:buFont typeface="Wingdings" pitchFamily="2" charset="2"/>
              <a:buChar char="q"/>
            </a:pPr>
            <a:endParaRPr lang="en-US" sz="2000" spc="-25" dirty="0">
              <a:solidFill>
                <a:srgbClr val="181A0D"/>
              </a:solidFill>
              <a:cs typeface="OAGDQN+FranklinGothic-BookItalic"/>
            </a:endParaRPr>
          </a:p>
          <a:p>
            <a:pPr marL="342900" marR="0" indent="-342900">
              <a:lnSpc>
                <a:spcPts val="2258"/>
              </a:lnSpc>
              <a:spcBef>
                <a:spcPts val="0"/>
              </a:spcBef>
              <a:spcAft>
                <a:spcPts val="0"/>
              </a:spcAft>
              <a:buFont typeface="Wingdings" pitchFamily="2" charset="2"/>
              <a:buChar char="q"/>
            </a:pPr>
            <a:endParaRPr lang="en-US" sz="2000" spc="-25" dirty="0">
              <a:solidFill>
                <a:srgbClr val="181A0D"/>
              </a:solidFill>
              <a:cs typeface="OAGDQN+FranklinGothic-BookItalic"/>
            </a:endParaRPr>
          </a:p>
          <a:p>
            <a:pPr marL="342900" marR="0" indent="-342900">
              <a:lnSpc>
                <a:spcPts val="2258"/>
              </a:lnSpc>
              <a:spcBef>
                <a:spcPts val="0"/>
              </a:spcBef>
              <a:spcAft>
                <a:spcPts val="0"/>
              </a:spcAft>
              <a:buFont typeface="Wingdings" pitchFamily="2" charset="2"/>
              <a:buChar char="q"/>
            </a:pPr>
            <a:endParaRPr sz="2000" spc="-25" dirty="0">
              <a:solidFill>
                <a:srgbClr val="181A0D"/>
              </a:solidFill>
              <a:cs typeface="OAGDQN+FranklinGothic-BookItalic"/>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20700" y="-45048"/>
            <a:ext cx="12212700" cy="6903048"/>
          </a:xfrm>
          <a:prstGeom prst="rect">
            <a:avLst/>
          </a:prstGeom>
          <a:blipFill>
            <a:blip r:embed="rId3" cstate="print"/>
            <a:stretch>
              <a:fillRect/>
            </a:stretch>
          </a:blipFill>
        </p:spPr>
        <p:txBody>
          <a:bodyPr wrap="square" lIns="0" tIns="0" rIns="0" bIns="0" rtlCol="0">
            <a:spAutoFit/>
          </a:bodyPr>
          <a:lstStyle/>
          <a:p>
            <a:endParaRPr dirty="0"/>
          </a:p>
        </p:txBody>
      </p:sp>
      <p:sp>
        <p:nvSpPr>
          <p:cNvPr id="3" name="object 3"/>
          <p:cNvSpPr txBox="1"/>
          <p:nvPr/>
        </p:nvSpPr>
        <p:spPr>
          <a:xfrm>
            <a:off x="1271464" y="150647"/>
            <a:ext cx="7657267" cy="641201"/>
          </a:xfrm>
          <a:prstGeom prst="rect">
            <a:avLst/>
          </a:prstGeom>
        </p:spPr>
        <p:txBody>
          <a:bodyPr vert="horz" wrap="square" lIns="0" tIns="0" rIns="0" bIns="0" rtlCol="0">
            <a:spAutoFit/>
          </a:bodyPr>
          <a:lstStyle/>
          <a:p>
            <a:pPr marL="0" marR="0">
              <a:lnSpc>
                <a:spcPts val="4979"/>
              </a:lnSpc>
              <a:spcBef>
                <a:spcPts val="0"/>
              </a:spcBef>
              <a:spcAft>
                <a:spcPts val="0"/>
              </a:spcAft>
            </a:pPr>
            <a:r>
              <a:rPr sz="4400" spc="-12" dirty="0">
                <a:solidFill>
                  <a:srgbClr val="181A0D"/>
                </a:solidFill>
                <a:cs typeface="MPIRPG+FranklinGothic-Book"/>
              </a:rPr>
              <a:t>Results</a:t>
            </a:r>
            <a:r>
              <a:rPr lang="en-US" sz="4400" spc="-12" dirty="0">
                <a:solidFill>
                  <a:srgbClr val="181A0D"/>
                </a:solidFill>
                <a:cs typeface="MPIRPG+FranklinGothic-Book"/>
              </a:rPr>
              <a:t> </a:t>
            </a:r>
            <a:endParaRPr sz="4400" spc="-12" dirty="0">
              <a:solidFill>
                <a:srgbClr val="181A0D"/>
              </a:solidFill>
              <a:cs typeface="MPIRPG+FranklinGothic-Book"/>
            </a:endParaRPr>
          </a:p>
        </p:txBody>
      </p:sp>
      <p:sp>
        <p:nvSpPr>
          <p:cNvPr id="12" name="object 4">
            <a:extLst>
              <a:ext uri="{FF2B5EF4-FFF2-40B4-BE49-F238E27FC236}">
                <a16:creationId xmlns:a16="http://schemas.microsoft.com/office/drawing/2014/main" id="{2FF3022D-87F7-BF6A-4366-54D58B6DC952}"/>
              </a:ext>
            </a:extLst>
          </p:cNvPr>
          <p:cNvSpPr txBox="1"/>
          <p:nvPr/>
        </p:nvSpPr>
        <p:spPr>
          <a:xfrm>
            <a:off x="767408" y="1282791"/>
            <a:ext cx="3486498" cy="5424562"/>
          </a:xfrm>
          <a:prstGeom prst="rect">
            <a:avLst/>
          </a:prstGeom>
        </p:spPr>
        <p:txBody>
          <a:bodyPr vert="horz" wrap="square" lIns="0" tIns="0" rIns="0" bIns="0" rtlCol="0">
            <a:spAutoFit/>
          </a:bodyPr>
          <a:lstStyle/>
          <a:p>
            <a:pPr marL="800100" lvl="1" indent="-342900">
              <a:lnSpc>
                <a:spcPts val="2258"/>
              </a:lnSpc>
              <a:buFont typeface="Wingdings" pitchFamily="2" charset="2"/>
              <a:buChar char="Ø"/>
            </a:pPr>
            <a:endParaRPr lang="en-US" sz="2000" spc="-25" dirty="0">
              <a:solidFill>
                <a:srgbClr val="181A0D"/>
              </a:solidFill>
              <a:cs typeface="OAGDQN+FranklinGothic-BookItalic"/>
            </a:endParaRPr>
          </a:p>
          <a:p>
            <a:pPr marL="285750" indent="-285750">
              <a:buFont typeface="Wingdings" pitchFamily="2" charset="2"/>
              <a:buChar char="q"/>
            </a:pPr>
            <a:r>
              <a:rPr lang="en-US" b="1" dirty="0"/>
              <a:t>Primary predictors </a:t>
            </a:r>
          </a:p>
          <a:p>
            <a:pPr marL="285750" indent="-285750">
              <a:buFont typeface="Wingdings" pitchFamily="2" charset="2"/>
              <a:buChar char="Ø"/>
            </a:pPr>
            <a:r>
              <a:rPr lang="en-US" dirty="0"/>
              <a:t>Age: +8% (women) ; +7% (men)</a:t>
            </a:r>
          </a:p>
          <a:p>
            <a:pPr marL="285750" indent="-285750">
              <a:buFont typeface="Wingdings" pitchFamily="2" charset="2"/>
              <a:buChar char="Ø"/>
            </a:pPr>
            <a:r>
              <a:rPr lang="en-US" dirty="0"/>
              <a:t>SBP: +28% (women) ; +41% (men)</a:t>
            </a:r>
          </a:p>
          <a:p>
            <a:pPr lvl="0"/>
            <a:endParaRPr lang="en-US" dirty="0"/>
          </a:p>
          <a:p>
            <a:pPr marL="800100" lvl="1" indent="-342900">
              <a:lnSpc>
                <a:spcPts val="2258"/>
              </a:lnSpc>
              <a:buFont typeface="Arial" panose="020B0604020202020204" pitchFamily="34" charset="0"/>
              <a:buChar char="•"/>
            </a:pPr>
            <a:endParaRPr lang="en-US" sz="2000" spc="-25" dirty="0">
              <a:solidFill>
                <a:srgbClr val="181A0D"/>
              </a:solidFill>
              <a:cs typeface="OAGDQN+FranklinGothic-BookItalic"/>
            </a:endParaRPr>
          </a:p>
          <a:p>
            <a:pPr marL="285750" indent="-285750">
              <a:buFont typeface="Wingdings" pitchFamily="2" charset="2"/>
              <a:buChar char="q"/>
            </a:pPr>
            <a:r>
              <a:rPr lang="en-US" b="1" dirty="0"/>
              <a:t>Men only</a:t>
            </a:r>
            <a:endParaRPr lang="en-US" dirty="0"/>
          </a:p>
          <a:p>
            <a:pPr marL="285750" lvl="0" indent="-285750">
              <a:buFont typeface="Wingdings" pitchFamily="2" charset="2"/>
              <a:buChar char="Ø"/>
            </a:pPr>
            <a:r>
              <a:rPr lang="en-US" dirty="0"/>
              <a:t>Diabetes: ~5x risk of stroke</a:t>
            </a:r>
          </a:p>
          <a:p>
            <a:pPr marL="285750" lvl="0" indent="-285750">
              <a:buFont typeface="Wingdings" pitchFamily="2" charset="2"/>
              <a:buChar char="Ø"/>
            </a:pPr>
            <a:r>
              <a:rPr lang="en-US" dirty="0"/>
              <a:t>Smoking: ~2x risk of stroke</a:t>
            </a:r>
          </a:p>
          <a:p>
            <a:pPr marL="285750" lvl="0" indent="-285750">
              <a:buFont typeface="Wingdings" pitchFamily="2" charset="2"/>
              <a:buChar char="Ø"/>
            </a:pPr>
            <a:r>
              <a:rPr lang="en-US" dirty="0" err="1"/>
              <a:t>SBPxBP</a:t>
            </a:r>
            <a:r>
              <a:rPr lang="en-US" dirty="0"/>
              <a:t> Meds: lower risk at higher SBP levels  </a:t>
            </a:r>
          </a:p>
          <a:p>
            <a:pPr marL="285750" lvl="0" indent="-285750">
              <a:buFont typeface="Wingdings" pitchFamily="2" charset="2"/>
              <a:buChar char="Ø"/>
            </a:pPr>
            <a:endParaRPr lang="en-US" dirty="0"/>
          </a:p>
          <a:p>
            <a:pPr marL="342900" indent="-342900">
              <a:lnSpc>
                <a:spcPts val="2258"/>
              </a:lnSpc>
              <a:buFont typeface="Wingdings" pitchFamily="2" charset="2"/>
              <a:buChar char="q"/>
            </a:pPr>
            <a:r>
              <a:rPr lang="en-US" b="1" spc="-25" dirty="0">
                <a:solidFill>
                  <a:srgbClr val="181A0D"/>
                </a:solidFill>
                <a:cs typeface="OAGDQN+FranklinGothic-BookItalic"/>
              </a:rPr>
              <a:t>Limited # of events across strata</a:t>
            </a:r>
          </a:p>
          <a:p>
            <a:pPr marL="342900" indent="-342900">
              <a:lnSpc>
                <a:spcPts val="2258"/>
              </a:lnSpc>
              <a:buFont typeface="Wingdings" pitchFamily="2" charset="2"/>
              <a:buChar char="Ø"/>
            </a:pPr>
            <a:endParaRPr lang="en-US" sz="2000" spc="-25" dirty="0">
              <a:solidFill>
                <a:srgbClr val="181A0D"/>
              </a:solidFill>
              <a:cs typeface="OAGDQN+FranklinGothic-BookItalic"/>
            </a:endParaRPr>
          </a:p>
          <a:p>
            <a:pPr marL="342900" indent="-342900">
              <a:lnSpc>
                <a:spcPts val="2258"/>
              </a:lnSpc>
              <a:buFont typeface="Wingdings" pitchFamily="2" charset="2"/>
              <a:buChar char="Ø"/>
            </a:pPr>
            <a:endParaRPr lang="en-US" sz="2000" spc="-25" dirty="0">
              <a:solidFill>
                <a:srgbClr val="181A0D"/>
              </a:solidFill>
              <a:cs typeface="OAGDQN+FranklinGothic-BookItalic"/>
            </a:endParaRPr>
          </a:p>
          <a:p>
            <a:pPr marL="342900" marR="0" indent="-342900">
              <a:lnSpc>
                <a:spcPts val="2258"/>
              </a:lnSpc>
              <a:spcBef>
                <a:spcPts val="0"/>
              </a:spcBef>
              <a:spcAft>
                <a:spcPts val="0"/>
              </a:spcAft>
              <a:buFont typeface="Wingdings" pitchFamily="2" charset="2"/>
              <a:buChar char="q"/>
            </a:pPr>
            <a:endParaRPr lang="en-US" sz="2000" spc="-25" dirty="0">
              <a:solidFill>
                <a:srgbClr val="181A0D"/>
              </a:solidFill>
              <a:cs typeface="OAGDQN+FranklinGothic-BookItalic"/>
            </a:endParaRPr>
          </a:p>
          <a:p>
            <a:pPr marL="342900" marR="0" indent="-342900">
              <a:lnSpc>
                <a:spcPts val="2258"/>
              </a:lnSpc>
              <a:spcBef>
                <a:spcPts val="0"/>
              </a:spcBef>
              <a:spcAft>
                <a:spcPts val="0"/>
              </a:spcAft>
              <a:buFont typeface="Wingdings" pitchFamily="2" charset="2"/>
              <a:buChar char="q"/>
            </a:pPr>
            <a:endParaRPr lang="en-US" sz="2000" spc="-25" dirty="0">
              <a:solidFill>
                <a:srgbClr val="181A0D"/>
              </a:solidFill>
              <a:cs typeface="OAGDQN+FranklinGothic-BookItalic"/>
            </a:endParaRPr>
          </a:p>
          <a:p>
            <a:pPr marL="342900" marR="0" indent="-342900">
              <a:lnSpc>
                <a:spcPts val="2258"/>
              </a:lnSpc>
              <a:spcBef>
                <a:spcPts val="0"/>
              </a:spcBef>
              <a:spcAft>
                <a:spcPts val="0"/>
              </a:spcAft>
              <a:buFont typeface="Wingdings" pitchFamily="2" charset="2"/>
              <a:buChar char="q"/>
            </a:pPr>
            <a:endParaRPr lang="en-US" sz="2000" spc="-25" dirty="0">
              <a:solidFill>
                <a:srgbClr val="181A0D"/>
              </a:solidFill>
              <a:cs typeface="OAGDQN+FranklinGothic-BookItalic"/>
            </a:endParaRPr>
          </a:p>
          <a:p>
            <a:pPr marL="342900" marR="0" indent="-342900">
              <a:lnSpc>
                <a:spcPts val="2258"/>
              </a:lnSpc>
              <a:spcBef>
                <a:spcPts val="0"/>
              </a:spcBef>
              <a:spcAft>
                <a:spcPts val="0"/>
              </a:spcAft>
              <a:buFont typeface="Wingdings" pitchFamily="2" charset="2"/>
              <a:buChar char="q"/>
            </a:pPr>
            <a:endParaRPr sz="2000" spc="-25" dirty="0">
              <a:solidFill>
                <a:srgbClr val="181A0D"/>
              </a:solidFill>
              <a:cs typeface="OAGDQN+FranklinGothic-BookItalic"/>
            </a:endParaRPr>
          </a:p>
        </p:txBody>
      </p:sp>
      <p:pic>
        <p:nvPicPr>
          <p:cNvPr id="10" name="Picture 9">
            <a:extLst>
              <a:ext uri="{FF2B5EF4-FFF2-40B4-BE49-F238E27FC236}">
                <a16:creationId xmlns:a16="http://schemas.microsoft.com/office/drawing/2014/main" id="{C66DA0A2-F355-928E-508F-22E548400F56}"/>
              </a:ext>
            </a:extLst>
          </p:cNvPr>
          <p:cNvPicPr>
            <a:picLocks noChangeAspect="1"/>
          </p:cNvPicPr>
          <p:nvPr/>
        </p:nvPicPr>
        <p:blipFill>
          <a:blip r:embed="rId4"/>
          <a:stretch>
            <a:fillRect/>
          </a:stretch>
        </p:blipFill>
        <p:spPr>
          <a:xfrm>
            <a:off x="4361007" y="1716348"/>
            <a:ext cx="7772400" cy="3734071"/>
          </a:xfrm>
          <a:prstGeom prst="rect">
            <a:avLst/>
          </a:prstGeom>
        </p:spPr>
      </p:pic>
      <p:sp>
        <p:nvSpPr>
          <p:cNvPr id="11" name="Rectangle 10">
            <a:extLst>
              <a:ext uri="{FF2B5EF4-FFF2-40B4-BE49-F238E27FC236}">
                <a16:creationId xmlns:a16="http://schemas.microsoft.com/office/drawing/2014/main" id="{56D998B6-D807-FBC1-E8F8-326DA137BCE7}"/>
              </a:ext>
            </a:extLst>
          </p:cNvPr>
          <p:cNvSpPr/>
          <p:nvPr/>
        </p:nvSpPr>
        <p:spPr>
          <a:xfrm>
            <a:off x="6468669" y="3140968"/>
            <a:ext cx="504057" cy="1366414"/>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6AE3503-8934-EFE7-3FD7-BE238C56380E}"/>
              </a:ext>
            </a:extLst>
          </p:cNvPr>
          <p:cNvSpPr/>
          <p:nvPr/>
        </p:nvSpPr>
        <p:spPr>
          <a:xfrm>
            <a:off x="9301038" y="3140968"/>
            <a:ext cx="504057" cy="1366414"/>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14166"/>
            <a:ext cx="12192000" cy="6858000"/>
          </a:xfrm>
          <a:prstGeom prst="rect">
            <a:avLst/>
          </a:prstGeom>
          <a:blipFill>
            <a:blip r:embed="rId3" cstate="print"/>
            <a:stretch>
              <a:fillRect/>
            </a:stretch>
          </a:blipFill>
        </p:spPr>
        <p:txBody>
          <a:bodyPr wrap="square" lIns="0" tIns="0" rIns="0" bIns="0" rtlCol="0">
            <a:spAutoFit/>
          </a:bodyPr>
          <a:lstStyle/>
          <a:p>
            <a:endParaRPr dirty="0"/>
          </a:p>
        </p:txBody>
      </p:sp>
      <p:sp>
        <p:nvSpPr>
          <p:cNvPr id="3" name="object 3"/>
          <p:cNvSpPr txBox="1"/>
          <p:nvPr/>
        </p:nvSpPr>
        <p:spPr>
          <a:xfrm>
            <a:off x="1166354" y="171177"/>
            <a:ext cx="4528479" cy="641201"/>
          </a:xfrm>
          <a:prstGeom prst="rect">
            <a:avLst/>
          </a:prstGeom>
        </p:spPr>
        <p:txBody>
          <a:bodyPr vert="horz" wrap="square" lIns="0" tIns="0" rIns="0" bIns="0" rtlCol="0">
            <a:spAutoFit/>
          </a:bodyPr>
          <a:lstStyle/>
          <a:p>
            <a:pPr marL="0" marR="0">
              <a:lnSpc>
                <a:spcPts val="4979"/>
              </a:lnSpc>
              <a:spcBef>
                <a:spcPts val="0"/>
              </a:spcBef>
              <a:spcAft>
                <a:spcPts val="0"/>
              </a:spcAft>
            </a:pPr>
            <a:r>
              <a:rPr sz="4400" spc="-11" dirty="0">
                <a:solidFill>
                  <a:srgbClr val="181A0D"/>
                </a:solidFill>
                <a:cs typeface="WPQCJM+FranklinGothic-Book"/>
              </a:rPr>
              <a:t>Results</a:t>
            </a:r>
            <a:r>
              <a:rPr lang="en-US" sz="4400" spc="-11" dirty="0">
                <a:solidFill>
                  <a:srgbClr val="181A0D"/>
                </a:solidFill>
                <a:cs typeface="WPQCJM+FranklinGothic-Book"/>
              </a:rPr>
              <a:t>, continued</a:t>
            </a:r>
            <a:endParaRPr sz="4400" dirty="0">
              <a:solidFill>
                <a:srgbClr val="181A0D"/>
              </a:solidFill>
              <a:cs typeface="WPQCJM+FranklinGothic-Book"/>
            </a:endParaRPr>
          </a:p>
        </p:txBody>
      </p:sp>
      <p:sp>
        <p:nvSpPr>
          <p:cNvPr id="8" name="object 4">
            <a:extLst>
              <a:ext uri="{FF2B5EF4-FFF2-40B4-BE49-F238E27FC236}">
                <a16:creationId xmlns:a16="http://schemas.microsoft.com/office/drawing/2014/main" id="{135D1CCA-C085-B968-1B22-01E31F3EE6DF}"/>
              </a:ext>
            </a:extLst>
          </p:cNvPr>
          <p:cNvSpPr txBox="1"/>
          <p:nvPr/>
        </p:nvSpPr>
        <p:spPr>
          <a:xfrm>
            <a:off x="875244" y="980779"/>
            <a:ext cx="4811155" cy="4424288"/>
          </a:xfrm>
          <a:prstGeom prst="rect">
            <a:avLst/>
          </a:prstGeom>
        </p:spPr>
        <p:txBody>
          <a:bodyPr vert="horz" wrap="square" lIns="0" tIns="0" rIns="0" bIns="0" rtlCol="0">
            <a:spAutoFit/>
          </a:bodyPr>
          <a:lstStyle/>
          <a:p>
            <a:pPr marL="342900" marR="0" indent="-342900">
              <a:lnSpc>
                <a:spcPts val="2258"/>
              </a:lnSpc>
              <a:spcBef>
                <a:spcPts val="0"/>
              </a:spcBef>
              <a:spcAft>
                <a:spcPts val="0"/>
              </a:spcAft>
              <a:buFont typeface="Wingdings" pitchFamily="2" charset="2"/>
              <a:buChar char="Ø"/>
            </a:pPr>
            <a:endParaRPr lang="en-US" sz="2000" spc="-25" dirty="0">
              <a:solidFill>
                <a:srgbClr val="181A0D"/>
              </a:solidFill>
              <a:cs typeface="OAGDQN+FranklinGothic-BookItalic"/>
            </a:endParaRPr>
          </a:p>
          <a:p>
            <a:pPr marL="342900" marR="0" indent="-342900">
              <a:lnSpc>
                <a:spcPts val="2258"/>
              </a:lnSpc>
              <a:spcBef>
                <a:spcPts val="0"/>
              </a:spcBef>
              <a:spcAft>
                <a:spcPts val="0"/>
              </a:spcAft>
              <a:buFont typeface="Wingdings" pitchFamily="2" charset="2"/>
              <a:buChar char="Ø"/>
            </a:pPr>
            <a:endParaRPr lang="en-US" sz="2000" spc="-25" dirty="0">
              <a:solidFill>
                <a:srgbClr val="181A0D"/>
              </a:solidFill>
              <a:cs typeface="OAGDQN+FranklinGothic-BookItalic"/>
            </a:endParaRPr>
          </a:p>
          <a:p>
            <a:pPr marL="342900" marR="0" indent="-342900">
              <a:lnSpc>
                <a:spcPts val="2258"/>
              </a:lnSpc>
              <a:spcBef>
                <a:spcPts val="0"/>
              </a:spcBef>
              <a:spcAft>
                <a:spcPts val="0"/>
              </a:spcAft>
              <a:buFont typeface="Wingdings" pitchFamily="2" charset="2"/>
              <a:buChar char="Ø"/>
            </a:pPr>
            <a:endParaRPr lang="en-US" sz="2000" spc="-25" dirty="0">
              <a:solidFill>
                <a:srgbClr val="181A0D"/>
              </a:solidFill>
              <a:cs typeface="OAGDQN+FranklinGothic-BookItalic"/>
            </a:endParaRPr>
          </a:p>
          <a:p>
            <a:pPr marL="342900" marR="0" indent="-342900">
              <a:lnSpc>
                <a:spcPts val="2258"/>
              </a:lnSpc>
              <a:spcBef>
                <a:spcPts val="0"/>
              </a:spcBef>
              <a:spcAft>
                <a:spcPts val="0"/>
              </a:spcAft>
              <a:buFont typeface="Wingdings" pitchFamily="2" charset="2"/>
              <a:buChar char="Ø"/>
            </a:pPr>
            <a:endParaRPr lang="en-US" sz="2000" spc="-25" dirty="0">
              <a:solidFill>
                <a:srgbClr val="181A0D"/>
              </a:solidFill>
              <a:cs typeface="OAGDQN+FranklinGothic-BookItalic"/>
            </a:endParaRPr>
          </a:p>
          <a:p>
            <a:pPr marL="342900" marR="0" indent="-342900">
              <a:lnSpc>
                <a:spcPts val="2258"/>
              </a:lnSpc>
              <a:spcBef>
                <a:spcPts val="0"/>
              </a:spcBef>
              <a:spcAft>
                <a:spcPts val="0"/>
              </a:spcAft>
              <a:buFont typeface="Wingdings" pitchFamily="2" charset="2"/>
              <a:buChar char="Ø"/>
            </a:pPr>
            <a:endParaRPr lang="en-US" sz="2000" b="1" spc="-25" dirty="0">
              <a:solidFill>
                <a:srgbClr val="181A0D"/>
              </a:solidFill>
              <a:cs typeface="OAGDQN+FranklinGothic-BookItalic"/>
            </a:endParaRPr>
          </a:p>
          <a:p>
            <a:pPr>
              <a:lnSpc>
                <a:spcPts val="2258"/>
              </a:lnSpc>
            </a:pPr>
            <a:endParaRPr lang="en-US" sz="2000" spc="-25" dirty="0">
              <a:solidFill>
                <a:srgbClr val="181A0D"/>
              </a:solidFill>
              <a:cs typeface="OAGDQN+FranklinGothic-BookItalic"/>
            </a:endParaRPr>
          </a:p>
          <a:p>
            <a:pPr marL="800100" lvl="1" indent="-342900">
              <a:lnSpc>
                <a:spcPts val="2258"/>
              </a:lnSpc>
              <a:buFont typeface="Wingdings" pitchFamily="2" charset="2"/>
              <a:buChar char="Ø"/>
            </a:pPr>
            <a:endParaRPr lang="en-US" sz="2000" spc="-25" dirty="0">
              <a:solidFill>
                <a:srgbClr val="181A0D"/>
              </a:solidFill>
              <a:cs typeface="OAGDQN+FranklinGothic-BookItalic"/>
            </a:endParaRPr>
          </a:p>
          <a:p>
            <a:pPr marL="342900" indent="-342900">
              <a:lnSpc>
                <a:spcPts val="2258"/>
              </a:lnSpc>
              <a:buFont typeface="Wingdings" pitchFamily="2" charset="2"/>
              <a:buChar char="Ø"/>
            </a:pPr>
            <a:endParaRPr lang="en-US" sz="2000" spc="-25" dirty="0">
              <a:solidFill>
                <a:srgbClr val="181A0D"/>
              </a:solidFill>
              <a:cs typeface="OAGDQN+FranklinGothic-BookItalic"/>
            </a:endParaRPr>
          </a:p>
          <a:p>
            <a:pPr marL="800100" lvl="1" indent="-342900">
              <a:lnSpc>
                <a:spcPts val="2258"/>
              </a:lnSpc>
              <a:buFont typeface="Arial" panose="020B0604020202020204" pitchFamily="34" charset="0"/>
              <a:buChar char="•"/>
            </a:pPr>
            <a:endParaRPr lang="en-US" sz="2000" spc="-25" dirty="0">
              <a:solidFill>
                <a:srgbClr val="181A0D"/>
              </a:solidFill>
              <a:cs typeface="OAGDQN+FranklinGothic-BookItalic"/>
            </a:endParaRPr>
          </a:p>
          <a:p>
            <a:pPr marL="342900" indent="-342900">
              <a:lnSpc>
                <a:spcPts val="2258"/>
              </a:lnSpc>
              <a:buFont typeface="Wingdings" pitchFamily="2" charset="2"/>
              <a:buChar char="q"/>
            </a:pPr>
            <a:endParaRPr lang="en-US" sz="2000" spc="-25" dirty="0">
              <a:solidFill>
                <a:srgbClr val="181A0D"/>
              </a:solidFill>
              <a:cs typeface="OAGDQN+FranklinGothic-BookItalic"/>
            </a:endParaRPr>
          </a:p>
          <a:p>
            <a:pPr marL="342900" indent="-342900">
              <a:lnSpc>
                <a:spcPts val="2258"/>
              </a:lnSpc>
              <a:buFont typeface="Wingdings" pitchFamily="2" charset="2"/>
              <a:buChar char="Ø"/>
            </a:pPr>
            <a:endParaRPr lang="en-US" sz="2000" spc="-25" dirty="0">
              <a:solidFill>
                <a:srgbClr val="181A0D"/>
              </a:solidFill>
              <a:cs typeface="OAGDQN+FranklinGothic-BookItalic"/>
            </a:endParaRPr>
          </a:p>
          <a:p>
            <a:pPr marL="342900" marR="0" indent="-342900">
              <a:lnSpc>
                <a:spcPts val="2258"/>
              </a:lnSpc>
              <a:spcBef>
                <a:spcPts val="0"/>
              </a:spcBef>
              <a:spcAft>
                <a:spcPts val="0"/>
              </a:spcAft>
              <a:buFont typeface="Wingdings" pitchFamily="2" charset="2"/>
              <a:buChar char="q"/>
            </a:pPr>
            <a:endParaRPr lang="en-US" sz="2000" spc="-25" dirty="0">
              <a:solidFill>
                <a:srgbClr val="181A0D"/>
              </a:solidFill>
              <a:cs typeface="OAGDQN+FranklinGothic-BookItalic"/>
            </a:endParaRPr>
          </a:p>
          <a:p>
            <a:pPr marL="342900" marR="0" indent="-342900">
              <a:lnSpc>
                <a:spcPts val="2258"/>
              </a:lnSpc>
              <a:spcBef>
                <a:spcPts val="0"/>
              </a:spcBef>
              <a:spcAft>
                <a:spcPts val="0"/>
              </a:spcAft>
              <a:buFont typeface="Wingdings" pitchFamily="2" charset="2"/>
              <a:buChar char="q"/>
            </a:pPr>
            <a:endParaRPr lang="en-US" sz="2000" spc="-25" dirty="0">
              <a:solidFill>
                <a:srgbClr val="181A0D"/>
              </a:solidFill>
              <a:cs typeface="OAGDQN+FranklinGothic-BookItalic"/>
            </a:endParaRPr>
          </a:p>
          <a:p>
            <a:pPr marL="342900" marR="0" indent="-342900">
              <a:lnSpc>
                <a:spcPts val="2258"/>
              </a:lnSpc>
              <a:spcBef>
                <a:spcPts val="0"/>
              </a:spcBef>
              <a:spcAft>
                <a:spcPts val="0"/>
              </a:spcAft>
              <a:buFont typeface="Wingdings" pitchFamily="2" charset="2"/>
              <a:buChar char="q"/>
            </a:pPr>
            <a:endParaRPr lang="en-US" sz="2000" spc="-25" dirty="0">
              <a:solidFill>
                <a:srgbClr val="181A0D"/>
              </a:solidFill>
              <a:cs typeface="OAGDQN+FranklinGothic-BookItalic"/>
            </a:endParaRPr>
          </a:p>
          <a:p>
            <a:pPr marL="342900" marR="0" indent="-342900">
              <a:lnSpc>
                <a:spcPts val="2258"/>
              </a:lnSpc>
              <a:spcBef>
                <a:spcPts val="0"/>
              </a:spcBef>
              <a:spcAft>
                <a:spcPts val="0"/>
              </a:spcAft>
              <a:buFont typeface="Wingdings" pitchFamily="2" charset="2"/>
              <a:buChar char="q"/>
            </a:pPr>
            <a:endParaRPr sz="2000" spc="-25" dirty="0">
              <a:solidFill>
                <a:srgbClr val="181A0D"/>
              </a:solidFill>
              <a:cs typeface="OAGDQN+FranklinGothic-BookItalic"/>
            </a:endParaRPr>
          </a:p>
        </p:txBody>
      </p:sp>
      <p:sp>
        <p:nvSpPr>
          <p:cNvPr id="6" name="object 4">
            <a:extLst>
              <a:ext uri="{FF2B5EF4-FFF2-40B4-BE49-F238E27FC236}">
                <a16:creationId xmlns:a16="http://schemas.microsoft.com/office/drawing/2014/main" id="{3AB54E8C-A2D6-6F7F-7472-2EF4711E11D4}"/>
              </a:ext>
            </a:extLst>
          </p:cNvPr>
          <p:cNvSpPr txBox="1"/>
          <p:nvPr/>
        </p:nvSpPr>
        <p:spPr>
          <a:xfrm>
            <a:off x="754778" y="1068691"/>
            <a:ext cx="4940055" cy="6694140"/>
          </a:xfrm>
          <a:prstGeom prst="rect">
            <a:avLst/>
          </a:prstGeom>
        </p:spPr>
        <p:txBody>
          <a:bodyPr vert="horz" wrap="square" lIns="0" tIns="0" rIns="0" bIns="0" rtlCol="0">
            <a:spAutoFit/>
          </a:bodyPr>
          <a:lstStyle/>
          <a:p>
            <a:pPr marL="800100" lvl="1" indent="-342900">
              <a:lnSpc>
                <a:spcPts val="2258"/>
              </a:lnSpc>
              <a:buFont typeface="Wingdings" pitchFamily="2" charset="2"/>
              <a:buChar char="Ø"/>
            </a:pPr>
            <a:endParaRPr lang="en-US" sz="2000" spc="-25" dirty="0">
              <a:solidFill>
                <a:srgbClr val="181A0D"/>
              </a:solidFill>
              <a:cs typeface="OAGDQN+FranklinGothic-BookItalic"/>
            </a:endParaRPr>
          </a:p>
          <a:p>
            <a:pPr marL="342900" indent="-342900">
              <a:buFont typeface="Wingdings" pitchFamily="2" charset="2"/>
              <a:buChar char="q"/>
            </a:pPr>
            <a:r>
              <a:rPr lang="en-US" sz="2000" b="1" dirty="0"/>
              <a:t>10-year stroke risk</a:t>
            </a:r>
          </a:p>
          <a:p>
            <a:pPr marL="800100" lvl="1" indent="-342900">
              <a:buFont typeface="Wingdings" pitchFamily="2" charset="2"/>
              <a:buChar char="Ø"/>
            </a:pPr>
            <a:r>
              <a:rPr lang="en-US" sz="2000" dirty="0"/>
              <a:t>Increases w/ age and concurrent risk factors</a:t>
            </a:r>
          </a:p>
          <a:p>
            <a:pPr marL="800100" lvl="1" indent="-342900">
              <a:buFont typeface="Wingdings" pitchFamily="2" charset="2"/>
              <a:buChar char="Ø"/>
            </a:pPr>
            <a:r>
              <a:rPr lang="en-US" sz="2000" dirty="0"/>
              <a:t>Overall higher risks for men</a:t>
            </a:r>
          </a:p>
          <a:p>
            <a:pPr marL="800100" lvl="1" indent="-342900">
              <a:buFont typeface="Wingdings" pitchFamily="2" charset="2"/>
              <a:buChar char="Ø"/>
            </a:pPr>
            <a:r>
              <a:rPr lang="en-US" sz="2000" dirty="0"/>
              <a:t>Highest risk profile:</a:t>
            </a:r>
          </a:p>
          <a:p>
            <a:pPr marL="1257300" lvl="2" indent="-342900">
              <a:buFont typeface="Courier New" panose="02070309020205020404" pitchFamily="49" charset="0"/>
              <a:buChar char="o"/>
            </a:pPr>
            <a:r>
              <a:rPr lang="en-US" sz="2000" dirty="0"/>
              <a:t>Diabetes</a:t>
            </a:r>
          </a:p>
          <a:p>
            <a:pPr marL="1257300" lvl="2" indent="-342900">
              <a:buFont typeface="Courier New" panose="02070309020205020404" pitchFamily="49" charset="0"/>
              <a:buChar char="o"/>
            </a:pPr>
            <a:r>
              <a:rPr lang="en-US" sz="2000" dirty="0"/>
              <a:t>High BP (≥160mmHg) </a:t>
            </a:r>
          </a:p>
          <a:p>
            <a:pPr marL="1257300" lvl="2" indent="-342900">
              <a:buFont typeface="Courier New" panose="02070309020205020404" pitchFamily="49" charset="0"/>
              <a:buChar char="o"/>
            </a:pPr>
            <a:r>
              <a:rPr lang="en-US" sz="2000" dirty="0"/>
              <a:t>Smoking</a:t>
            </a:r>
          </a:p>
          <a:p>
            <a:pPr marL="1714500" lvl="3" indent="-342900">
              <a:buFont typeface="Wingdings" pitchFamily="2" charset="2"/>
              <a:buChar char="§"/>
            </a:pPr>
            <a:r>
              <a:rPr lang="en-US" sz="2000" dirty="0"/>
              <a:t>Women ≈ 12%</a:t>
            </a:r>
          </a:p>
          <a:p>
            <a:pPr marL="1714500" lvl="3" indent="-342900">
              <a:buFont typeface="Wingdings" pitchFamily="2" charset="2"/>
              <a:buChar char="§"/>
            </a:pPr>
            <a:r>
              <a:rPr lang="en-US" sz="2000" dirty="0"/>
              <a:t>Men ≈ 39%</a:t>
            </a:r>
          </a:p>
          <a:p>
            <a:endParaRPr lang="en-US" sz="2000" dirty="0"/>
          </a:p>
          <a:p>
            <a:pPr marL="342900" indent="-342900">
              <a:buFont typeface="Wingdings" pitchFamily="2" charset="2"/>
              <a:buChar char="q"/>
            </a:pPr>
            <a:r>
              <a:rPr lang="en-US" sz="2000" b="1" dirty="0"/>
              <a:t>Change in risk factors across exams </a:t>
            </a:r>
          </a:p>
          <a:p>
            <a:pPr marL="800100" lvl="1" indent="-342900">
              <a:buFont typeface="Wingdings" pitchFamily="2" charset="2"/>
              <a:buChar char="Ø"/>
            </a:pPr>
            <a:r>
              <a:rPr lang="en-US" sz="2000" dirty="0"/>
              <a:t>Marginal changes in means (SD) &amp; proportions</a:t>
            </a:r>
          </a:p>
          <a:p>
            <a:pPr marL="800100" lvl="1" indent="-342900">
              <a:buFont typeface="Wingdings" pitchFamily="2" charset="2"/>
              <a:buChar char="Ø"/>
            </a:pPr>
            <a:r>
              <a:rPr lang="en-US" sz="2000" dirty="0"/>
              <a:t>SBP &amp; Diabetes increased</a:t>
            </a:r>
          </a:p>
          <a:p>
            <a:pPr marL="800100" lvl="1" indent="-342900">
              <a:buFont typeface="Wingdings" pitchFamily="2" charset="2"/>
              <a:buChar char="Ø"/>
            </a:pPr>
            <a:r>
              <a:rPr lang="en-US" sz="2000" dirty="0"/>
              <a:t>Smoking decreased</a:t>
            </a:r>
            <a:endParaRPr lang="en-US" sz="2000" spc="-25" dirty="0">
              <a:solidFill>
                <a:srgbClr val="181A0D"/>
              </a:solidFill>
              <a:cs typeface="OAGDQN+FranklinGothic-BookItalic"/>
            </a:endParaRPr>
          </a:p>
          <a:p>
            <a:pPr marL="342900" indent="-342900">
              <a:lnSpc>
                <a:spcPts val="2258"/>
              </a:lnSpc>
              <a:buFont typeface="Wingdings" pitchFamily="2" charset="2"/>
              <a:buChar char="Ø"/>
            </a:pPr>
            <a:endParaRPr lang="en-US" sz="2000" spc="-25" dirty="0">
              <a:solidFill>
                <a:srgbClr val="181A0D"/>
              </a:solidFill>
              <a:cs typeface="OAGDQN+FranklinGothic-BookItalic"/>
            </a:endParaRPr>
          </a:p>
          <a:p>
            <a:pPr marL="342900" marR="0" indent="-342900">
              <a:lnSpc>
                <a:spcPts val="2258"/>
              </a:lnSpc>
              <a:spcBef>
                <a:spcPts val="0"/>
              </a:spcBef>
              <a:spcAft>
                <a:spcPts val="0"/>
              </a:spcAft>
              <a:buFont typeface="Wingdings" pitchFamily="2" charset="2"/>
              <a:buChar char="q"/>
            </a:pPr>
            <a:endParaRPr lang="en-US" sz="2000" spc="-25" dirty="0">
              <a:solidFill>
                <a:srgbClr val="181A0D"/>
              </a:solidFill>
              <a:cs typeface="OAGDQN+FranklinGothic-BookItalic"/>
            </a:endParaRPr>
          </a:p>
          <a:p>
            <a:pPr marL="342900" marR="0" indent="-342900">
              <a:lnSpc>
                <a:spcPts val="2258"/>
              </a:lnSpc>
              <a:spcBef>
                <a:spcPts val="0"/>
              </a:spcBef>
              <a:spcAft>
                <a:spcPts val="0"/>
              </a:spcAft>
              <a:buFont typeface="Wingdings" pitchFamily="2" charset="2"/>
              <a:buChar char="q"/>
            </a:pPr>
            <a:endParaRPr lang="en-US" sz="2000" spc="-25" dirty="0">
              <a:solidFill>
                <a:srgbClr val="181A0D"/>
              </a:solidFill>
              <a:cs typeface="OAGDQN+FranklinGothic-BookItalic"/>
            </a:endParaRPr>
          </a:p>
          <a:p>
            <a:pPr marL="342900" marR="0" indent="-342900">
              <a:lnSpc>
                <a:spcPts val="2258"/>
              </a:lnSpc>
              <a:spcBef>
                <a:spcPts val="0"/>
              </a:spcBef>
              <a:spcAft>
                <a:spcPts val="0"/>
              </a:spcAft>
              <a:buFont typeface="Wingdings" pitchFamily="2" charset="2"/>
              <a:buChar char="q"/>
            </a:pPr>
            <a:endParaRPr lang="en-US" sz="2000" spc="-25" dirty="0">
              <a:solidFill>
                <a:srgbClr val="181A0D"/>
              </a:solidFill>
              <a:cs typeface="OAGDQN+FranklinGothic-BookItalic"/>
            </a:endParaRPr>
          </a:p>
          <a:p>
            <a:pPr marL="342900" marR="0" indent="-342900">
              <a:lnSpc>
                <a:spcPts val="2258"/>
              </a:lnSpc>
              <a:spcBef>
                <a:spcPts val="0"/>
              </a:spcBef>
              <a:spcAft>
                <a:spcPts val="0"/>
              </a:spcAft>
              <a:buFont typeface="Wingdings" pitchFamily="2" charset="2"/>
              <a:buChar char="q"/>
            </a:pPr>
            <a:endParaRPr sz="2000" spc="-25" dirty="0">
              <a:solidFill>
                <a:srgbClr val="181A0D"/>
              </a:solidFill>
              <a:cs typeface="OAGDQN+FranklinGothic-BookItalic"/>
            </a:endParaRPr>
          </a:p>
        </p:txBody>
      </p:sp>
      <p:pic>
        <p:nvPicPr>
          <p:cNvPr id="4" name="Picture 3">
            <a:extLst>
              <a:ext uri="{FF2B5EF4-FFF2-40B4-BE49-F238E27FC236}">
                <a16:creationId xmlns:a16="http://schemas.microsoft.com/office/drawing/2014/main" id="{80880B9C-7F88-3048-DBFB-67CCAF26322E}"/>
              </a:ext>
            </a:extLst>
          </p:cNvPr>
          <p:cNvPicPr>
            <a:picLocks noChangeAspect="1"/>
          </p:cNvPicPr>
          <p:nvPr/>
        </p:nvPicPr>
        <p:blipFill>
          <a:blip r:embed="rId4"/>
          <a:stretch>
            <a:fillRect/>
          </a:stretch>
        </p:blipFill>
        <p:spPr>
          <a:xfrm>
            <a:off x="5680251" y="4973866"/>
            <a:ext cx="6386918" cy="1652683"/>
          </a:xfrm>
          <a:prstGeom prst="rect">
            <a:avLst/>
          </a:prstGeom>
        </p:spPr>
      </p:pic>
      <p:pic>
        <p:nvPicPr>
          <p:cNvPr id="5" name="Picture 4">
            <a:extLst>
              <a:ext uri="{FF2B5EF4-FFF2-40B4-BE49-F238E27FC236}">
                <a16:creationId xmlns:a16="http://schemas.microsoft.com/office/drawing/2014/main" id="{D911CE19-DF8E-8ED3-4B0A-BA11902D153D}"/>
              </a:ext>
            </a:extLst>
          </p:cNvPr>
          <p:cNvPicPr>
            <a:picLocks noChangeAspect="1"/>
          </p:cNvPicPr>
          <p:nvPr/>
        </p:nvPicPr>
        <p:blipFill>
          <a:blip r:embed="rId5"/>
          <a:stretch>
            <a:fillRect/>
          </a:stretch>
        </p:blipFill>
        <p:spPr>
          <a:xfrm>
            <a:off x="5680251" y="427490"/>
            <a:ext cx="6370278" cy="442428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3" cstate="print"/>
            <a:stretch>
              <a:fillRect/>
            </a:stretch>
          </a:blipFill>
        </p:spPr>
        <p:txBody>
          <a:bodyPr wrap="square" lIns="0" tIns="0" rIns="0" bIns="0" rtlCol="0">
            <a:spAutoFit/>
          </a:bodyPr>
          <a:lstStyle/>
          <a:p>
            <a:endParaRPr/>
          </a:p>
        </p:txBody>
      </p:sp>
      <p:sp>
        <p:nvSpPr>
          <p:cNvPr id="3" name="object 3"/>
          <p:cNvSpPr txBox="1"/>
          <p:nvPr/>
        </p:nvSpPr>
        <p:spPr>
          <a:xfrm>
            <a:off x="1343472" y="260648"/>
            <a:ext cx="2704871" cy="641201"/>
          </a:xfrm>
          <a:prstGeom prst="rect">
            <a:avLst/>
          </a:prstGeom>
        </p:spPr>
        <p:txBody>
          <a:bodyPr vert="horz" wrap="square" lIns="0" tIns="0" rIns="0" bIns="0" rtlCol="0">
            <a:spAutoFit/>
          </a:bodyPr>
          <a:lstStyle/>
          <a:p>
            <a:pPr marL="0" marR="0">
              <a:lnSpc>
                <a:spcPts val="4979"/>
              </a:lnSpc>
              <a:spcBef>
                <a:spcPts val="0"/>
              </a:spcBef>
              <a:spcAft>
                <a:spcPts val="0"/>
              </a:spcAft>
            </a:pPr>
            <a:r>
              <a:rPr lang="en-US" sz="4400" dirty="0">
                <a:solidFill>
                  <a:srgbClr val="181A0D"/>
                </a:solidFill>
                <a:cs typeface="LVLFDH+FranklinGothic-Book"/>
              </a:rPr>
              <a:t>Conclusions</a:t>
            </a:r>
            <a:endParaRPr sz="4400" dirty="0">
              <a:solidFill>
                <a:srgbClr val="181A0D"/>
              </a:solidFill>
              <a:cs typeface="LVLFDH+FranklinGothic-Book"/>
            </a:endParaRPr>
          </a:p>
        </p:txBody>
      </p:sp>
      <p:sp>
        <p:nvSpPr>
          <p:cNvPr id="5" name="object 4">
            <a:extLst>
              <a:ext uri="{FF2B5EF4-FFF2-40B4-BE49-F238E27FC236}">
                <a16:creationId xmlns:a16="http://schemas.microsoft.com/office/drawing/2014/main" id="{CAB99B72-60A9-3C59-378B-AECE9E804BCF}"/>
              </a:ext>
            </a:extLst>
          </p:cNvPr>
          <p:cNvSpPr txBox="1"/>
          <p:nvPr/>
        </p:nvSpPr>
        <p:spPr>
          <a:xfrm>
            <a:off x="1127448" y="1132209"/>
            <a:ext cx="10297144" cy="5668218"/>
          </a:xfrm>
          <a:prstGeom prst="rect">
            <a:avLst/>
          </a:prstGeom>
        </p:spPr>
        <p:txBody>
          <a:bodyPr vert="horz" wrap="square" lIns="0" tIns="0" rIns="0" bIns="0" rtlCol="0">
            <a:spAutoFit/>
          </a:bodyPr>
          <a:lstStyle/>
          <a:p>
            <a:pPr marL="342900" indent="-342900">
              <a:lnSpc>
                <a:spcPts val="2258"/>
              </a:lnSpc>
              <a:buFont typeface="Wingdings" pitchFamily="2" charset="2"/>
              <a:buChar char="q"/>
            </a:pPr>
            <a:r>
              <a:rPr lang="en-US" sz="2000" b="1" spc="-25" dirty="0">
                <a:solidFill>
                  <a:srgbClr val="181A0D"/>
                </a:solidFill>
                <a:cs typeface="OAGDQN+FranklinGothic-BookItalic"/>
              </a:rPr>
              <a:t>Findings:</a:t>
            </a:r>
          </a:p>
          <a:p>
            <a:pPr marL="742950" lvl="1" indent="-285750">
              <a:buFont typeface="Wingdings" pitchFamily="2" charset="2"/>
              <a:buChar char="Ø"/>
            </a:pPr>
            <a:r>
              <a:rPr lang="en-US" sz="2000" spc="-25" dirty="0">
                <a:solidFill>
                  <a:srgbClr val="181A0D"/>
                </a:solidFill>
              </a:rPr>
              <a:t>Older age and high BP are primary drivers of stroke risk in both sexes</a:t>
            </a:r>
          </a:p>
          <a:p>
            <a:pPr marL="1257300" lvl="2" indent="-342900">
              <a:buFont typeface="Courier New" panose="02070309020205020404" pitchFamily="49" charset="0"/>
              <a:buChar char="o"/>
            </a:pPr>
            <a:r>
              <a:rPr lang="en-US" sz="2000" spc="-25" dirty="0">
                <a:solidFill>
                  <a:srgbClr val="181A0D"/>
                </a:solidFill>
              </a:rPr>
              <a:t>Additional risk factors and stronger effects were identified for men</a:t>
            </a:r>
          </a:p>
          <a:p>
            <a:pPr marL="742950" lvl="1" indent="-285750">
              <a:buFont typeface="Wingdings" pitchFamily="2" charset="2"/>
              <a:buChar char="Ø"/>
            </a:pPr>
            <a:r>
              <a:rPr lang="en-US" sz="2000" spc="-25" dirty="0">
                <a:solidFill>
                  <a:srgbClr val="181A0D"/>
                </a:solidFill>
              </a:rPr>
              <a:t>10yr stroke risk increased with age &amp; accumulation of risk factors</a:t>
            </a:r>
          </a:p>
          <a:p>
            <a:pPr marL="742950" lvl="1" indent="-285750">
              <a:buFont typeface="Wingdings" pitchFamily="2" charset="2"/>
              <a:buChar char="Ø"/>
            </a:pPr>
            <a:r>
              <a:rPr lang="en-US" sz="2000" spc="-25" dirty="0">
                <a:solidFill>
                  <a:srgbClr val="181A0D"/>
                </a:solidFill>
              </a:rPr>
              <a:t>Time-varying models may provide more accurate estimates</a:t>
            </a:r>
          </a:p>
          <a:p>
            <a:pPr marL="285750" indent="-285750">
              <a:buFont typeface="Wingdings" pitchFamily="2" charset="2"/>
              <a:buChar char="Ø"/>
            </a:pPr>
            <a:endParaRPr lang="en-US" sz="2000" spc="-25" dirty="0">
              <a:solidFill>
                <a:srgbClr val="181A0D"/>
              </a:solidFill>
            </a:endParaRPr>
          </a:p>
          <a:p>
            <a:pPr marL="342900" indent="-342900">
              <a:lnSpc>
                <a:spcPts val="2258"/>
              </a:lnSpc>
              <a:buFont typeface="Wingdings" pitchFamily="2" charset="2"/>
              <a:buChar char="q"/>
            </a:pPr>
            <a:endParaRPr lang="en-US" sz="2000" spc="-25" dirty="0">
              <a:solidFill>
                <a:srgbClr val="181A0D"/>
              </a:solidFill>
              <a:cs typeface="OAGDQN+FranklinGothic-BookItalic"/>
            </a:endParaRPr>
          </a:p>
          <a:p>
            <a:pPr marL="342900" indent="-342900">
              <a:lnSpc>
                <a:spcPts val="2258"/>
              </a:lnSpc>
              <a:buFont typeface="Wingdings" pitchFamily="2" charset="2"/>
              <a:buChar char="q"/>
            </a:pPr>
            <a:endParaRPr lang="en-US" sz="2000" spc="-25" dirty="0">
              <a:solidFill>
                <a:srgbClr val="181A0D"/>
              </a:solidFill>
              <a:cs typeface="OAGDQN+FranklinGothic-BookItalic"/>
            </a:endParaRPr>
          </a:p>
          <a:p>
            <a:pPr marL="342900" indent="-342900">
              <a:lnSpc>
                <a:spcPts val="2258"/>
              </a:lnSpc>
              <a:buFont typeface="Wingdings" pitchFamily="2" charset="2"/>
              <a:buChar char="q"/>
            </a:pPr>
            <a:r>
              <a:rPr lang="en-US" sz="2000" b="1" spc="-25" dirty="0">
                <a:solidFill>
                  <a:srgbClr val="181A0D"/>
                </a:solidFill>
                <a:cs typeface="OAGDQN+FranklinGothic-BookItalic"/>
              </a:rPr>
              <a:t>Limitations:</a:t>
            </a:r>
          </a:p>
          <a:p>
            <a:pPr marL="800100" lvl="1" indent="-342900">
              <a:lnSpc>
                <a:spcPts val="2258"/>
              </a:lnSpc>
              <a:buFont typeface="Wingdings" pitchFamily="2" charset="2"/>
              <a:buChar char="Ø"/>
            </a:pPr>
            <a:r>
              <a:rPr lang="en-US" sz="2000" spc="-25" dirty="0">
                <a:solidFill>
                  <a:srgbClr val="181A0D"/>
                </a:solidFill>
              </a:rPr>
              <a:t>Limited number of stroke events = lower power </a:t>
            </a:r>
          </a:p>
          <a:p>
            <a:pPr marL="800100" lvl="1" indent="-342900">
              <a:lnSpc>
                <a:spcPts val="2258"/>
              </a:lnSpc>
              <a:buFont typeface="Wingdings" pitchFamily="2" charset="2"/>
              <a:buChar char="Ø"/>
            </a:pPr>
            <a:r>
              <a:rPr lang="en-US" sz="2000" spc="-25" dirty="0">
                <a:solidFill>
                  <a:srgbClr val="181A0D"/>
                </a:solidFill>
              </a:rPr>
              <a:t>Baseline covariates may not capture changes in risk over time </a:t>
            </a:r>
          </a:p>
          <a:p>
            <a:pPr marL="800100" lvl="1" indent="-342900">
              <a:lnSpc>
                <a:spcPts val="2258"/>
              </a:lnSpc>
              <a:buFont typeface="Wingdings" pitchFamily="2" charset="2"/>
              <a:buChar char="Ø"/>
            </a:pPr>
            <a:r>
              <a:rPr lang="en-US" sz="2000" spc="-25" dirty="0">
                <a:solidFill>
                  <a:srgbClr val="181A0D"/>
                </a:solidFill>
              </a:rPr>
              <a:t>Stepwise selection introduces biases, overfits, ignores clinical relevance</a:t>
            </a:r>
          </a:p>
          <a:p>
            <a:pPr marL="800100" lvl="1" indent="-342900">
              <a:lnSpc>
                <a:spcPts val="2258"/>
              </a:lnSpc>
              <a:buFont typeface="Wingdings" pitchFamily="2" charset="2"/>
              <a:buChar char="Ø"/>
            </a:pPr>
            <a:r>
              <a:rPr lang="en-US" sz="2000" spc="-25" dirty="0">
                <a:solidFill>
                  <a:srgbClr val="181A0D"/>
                </a:solidFill>
              </a:rPr>
              <a:t>Complete-case analysis can be biased if missingness is not at random (MAR)</a:t>
            </a:r>
          </a:p>
          <a:p>
            <a:pPr marL="342900" indent="-342900">
              <a:lnSpc>
                <a:spcPts val="2258"/>
              </a:lnSpc>
              <a:buFont typeface="Wingdings" pitchFamily="2" charset="2"/>
              <a:buChar char="q"/>
            </a:pPr>
            <a:endParaRPr lang="en-US" sz="2000" spc="-25" dirty="0">
              <a:solidFill>
                <a:srgbClr val="181A0D"/>
              </a:solidFill>
              <a:cs typeface="OAGDQN+FranklinGothic-BookItalic"/>
            </a:endParaRPr>
          </a:p>
          <a:p>
            <a:pPr marL="342900" indent="-342900">
              <a:lnSpc>
                <a:spcPts val="2258"/>
              </a:lnSpc>
              <a:buFont typeface="Wingdings" pitchFamily="2" charset="2"/>
              <a:buChar char="q"/>
            </a:pPr>
            <a:endParaRPr lang="en-US" sz="2000" spc="-25" dirty="0">
              <a:solidFill>
                <a:srgbClr val="181A0D"/>
              </a:solidFill>
              <a:cs typeface="OAGDQN+FranklinGothic-BookItalic"/>
            </a:endParaRPr>
          </a:p>
          <a:p>
            <a:pPr marR="0">
              <a:lnSpc>
                <a:spcPts val="2258"/>
              </a:lnSpc>
              <a:spcBef>
                <a:spcPts val="0"/>
              </a:spcBef>
              <a:spcAft>
                <a:spcPts val="0"/>
              </a:spcAft>
            </a:pPr>
            <a:endParaRPr lang="en-US" sz="2000" spc="-25" dirty="0">
              <a:solidFill>
                <a:srgbClr val="181A0D"/>
              </a:solidFill>
              <a:cs typeface="OAGDQN+FranklinGothic-BookItalic"/>
            </a:endParaRPr>
          </a:p>
          <a:p>
            <a:pPr marL="342900" marR="0" indent="-342900">
              <a:lnSpc>
                <a:spcPts val="2258"/>
              </a:lnSpc>
              <a:spcBef>
                <a:spcPts val="0"/>
              </a:spcBef>
              <a:spcAft>
                <a:spcPts val="0"/>
              </a:spcAft>
              <a:buFont typeface="Wingdings" pitchFamily="2" charset="2"/>
              <a:buChar char="q"/>
            </a:pPr>
            <a:endParaRPr lang="en-US" sz="2000" spc="-25" dirty="0">
              <a:solidFill>
                <a:srgbClr val="181A0D"/>
              </a:solidFill>
              <a:cs typeface="OAGDQN+FranklinGothic-BookItalic"/>
            </a:endParaRPr>
          </a:p>
          <a:p>
            <a:pPr marL="342900" marR="0" indent="-342900">
              <a:lnSpc>
                <a:spcPts val="2258"/>
              </a:lnSpc>
              <a:spcBef>
                <a:spcPts val="0"/>
              </a:spcBef>
              <a:spcAft>
                <a:spcPts val="0"/>
              </a:spcAft>
              <a:buFont typeface="Wingdings" pitchFamily="2" charset="2"/>
              <a:buChar char="q"/>
            </a:pPr>
            <a:endParaRPr lang="en-US" sz="2000" spc="-25" dirty="0">
              <a:solidFill>
                <a:srgbClr val="181A0D"/>
              </a:solidFill>
              <a:cs typeface="OAGDQN+FranklinGothic-BookItalic"/>
            </a:endParaRPr>
          </a:p>
          <a:p>
            <a:pPr marL="342900" marR="0" indent="-342900">
              <a:lnSpc>
                <a:spcPts val="2258"/>
              </a:lnSpc>
              <a:spcBef>
                <a:spcPts val="0"/>
              </a:spcBef>
              <a:spcAft>
                <a:spcPts val="0"/>
              </a:spcAft>
              <a:buFont typeface="Wingdings" pitchFamily="2" charset="2"/>
              <a:buChar char="q"/>
            </a:pPr>
            <a:endParaRPr sz="2000" spc="-25" dirty="0">
              <a:solidFill>
                <a:srgbClr val="181A0D"/>
              </a:solidFill>
              <a:cs typeface="OAGDQN+FranklinGothic-BookItalic"/>
            </a:endParaRPr>
          </a:p>
        </p:txBody>
      </p:sp>
    </p:spTree>
  </p:cSld>
  <p:clrMapOvr>
    <a:masterClrMapping/>
  </p:clrMapOvr>
</p:sld>
</file>

<file path=ppt/theme/theme1.xml><?xml version="1.0" encoding="utf-8"?>
<a:theme xmlns:a="http://schemas.openxmlformats.org/drawingml/2006/main" name="Theme Office">
  <a:themeElements>
    <a:clrScheme name="Standard">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tandard">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andard">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11034</TotalTime>
  <Words>1190</Words>
  <Application>Microsoft Macintosh PowerPoint</Application>
  <PresentationFormat>Widescreen</PresentationFormat>
  <Paragraphs>167</Paragraphs>
  <Slides>7</Slides>
  <Notes>7</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7</vt:i4>
      </vt:variant>
    </vt:vector>
  </HeadingPairs>
  <TitlesOfParts>
    <vt:vector size="21" baseType="lpstr">
      <vt:lpstr>Arial</vt:lpstr>
      <vt:lpstr>LVLFDH+FranklinGothic-Book</vt:lpstr>
      <vt:lpstr>MPIRPG+FranklinGothic-Book</vt:lpstr>
      <vt:lpstr>WPQCJM+FranklinGothic-Book</vt:lpstr>
      <vt:lpstr>GEHAIV+FranklinGothic-Book</vt:lpstr>
      <vt:lpstr>KDMFEK+FranklinGothic-Book</vt:lpstr>
      <vt:lpstr>Calibri</vt:lpstr>
      <vt:lpstr>VTCKGD+FranklinGothic-Book</vt:lpstr>
      <vt:lpstr>NOOILK+FranklinGothic-Book</vt:lpstr>
      <vt:lpstr>Wingdings</vt:lpstr>
      <vt:lpstr>Courier New</vt:lpstr>
      <vt:lpstr>OAGDQN+FranklinGothic-BookItalic</vt:lpstr>
      <vt:lpstr>Aptos</vt:lpstr>
      <vt:lpstr>Theme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PowerPoint</dc:title>
  <dc:creator>root</dc:creator>
  <cp:lastModifiedBy>Ryan Summers</cp:lastModifiedBy>
  <cp:revision>441</cp:revision>
  <dcterms:modified xsi:type="dcterms:W3CDTF">2026-04-21T23:16:22Z</dcterms:modified>
</cp:coreProperties>
</file>