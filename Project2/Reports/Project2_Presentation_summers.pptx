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9"/>
  </p:notesMasterIdLst>
  <p:sldIdLst>
    <p:sldId id="260" r:id="rId2"/>
    <p:sldId id="268" r:id="rId3"/>
    <p:sldId id="263" r:id="rId4"/>
    <p:sldId id="264" r:id="rId5"/>
    <p:sldId id="265" r:id="rId6"/>
    <p:sldId id="266" r:id="rId7"/>
    <p:sldId id="262" r:id="rId8"/>
  </p:sldIdLst>
  <p:sldSz cx="12192000" cy="6858000"/>
  <p:notesSz cx="12192000" cy="6858000"/>
  <p:embeddedFontLst>
    <p:embeddedFont>
      <p:font typeface="GEHAIV+FranklinGothic-Book" panose="02000500000000000000" pitchFamily="2" charset="0"/>
      <p:regular r:id="rId10"/>
    </p:embeddedFont>
    <p:embeddedFont>
      <p:font typeface="KDMFEK+FranklinGothic-Book" panose="02000500000000000000" pitchFamily="2" charset="0"/>
      <p:regular r:id="rId11"/>
    </p:embeddedFont>
    <p:embeddedFont>
      <p:font typeface="LVLFDH+FranklinGothic-Book" panose="02000500000000000000" pitchFamily="2" charset="0"/>
      <p:regular r:id="rId12"/>
    </p:embeddedFont>
    <p:embeddedFont>
      <p:font typeface="MPIRPG+FranklinGothic-Book" panose="02000500000000000000" pitchFamily="2" charset="0"/>
      <p:regular r:id="rId13"/>
    </p:embeddedFont>
    <p:embeddedFont>
      <p:font typeface="NOOILK+FranklinGothic-Book" panose="02000500000000000000" pitchFamily="2" charset="0"/>
      <p:regular r:id="rId14"/>
    </p:embeddedFont>
    <p:embeddedFont>
      <p:font typeface="OAGDQN+FranklinGothic-BookItalic" panose="02000500000000000000" pitchFamily="2" charset="0"/>
      <p:regular r:id="rId15"/>
    </p:embeddedFont>
    <p:embeddedFont>
      <p:font typeface="VTCKGD+FranklinGothic-Book" panose="02000500000000000000" pitchFamily="2" charset="0"/>
      <p:regular r:id="rId16"/>
    </p:embeddedFont>
    <p:embeddedFont>
      <p:font typeface="WPQCJM+FranklinGothic-Book" panose="02000500000000000000" pitchFamily="2" charset="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68">
          <p15:clr>
            <a:srgbClr val="A4A3A4"/>
          </p15:clr>
        </p15:guide>
        <p15:guide id="2" pos="244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070"/>
    <p:restoredTop sz="73978"/>
  </p:normalViewPr>
  <p:slideViewPr>
    <p:cSldViewPr>
      <p:cViewPr varScale="1">
        <p:scale>
          <a:sx n="103" d="100"/>
          <a:sy n="103" d="100"/>
        </p:scale>
        <p:origin x="680" y="168"/>
      </p:cViewPr>
      <p:guideLst>
        <p:guide orient="horz" pos="3168"/>
        <p:guide pos="244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font" Target="fonts/font7.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font" Target="fonts/font6.fntdata"/><Relationship Id="rId10" Type="http://schemas.openxmlformats.org/officeDocument/2006/relationships/font" Target="fonts/font1.fntdata"/><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C8F60B00-F7D7-A048-9DE8-3D2F737BCA40}" type="datetimeFigureOut">
              <a:rPr lang="en-US" smtClean="0"/>
              <a:t>3/27/26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8055A014-AA40-5B4A-A5FD-4F58A1D7AE4A}" type="slidenum">
              <a:rPr lang="en-US" smtClean="0"/>
              <a:t>‹#›</a:t>
            </a:fld>
            <a:endParaRPr lang="en-US"/>
          </a:p>
        </p:txBody>
      </p:sp>
    </p:spTree>
    <p:extLst>
      <p:ext uri="{BB962C8B-B14F-4D97-AF65-F5344CB8AC3E}">
        <p14:creationId xmlns:p14="http://schemas.microsoft.com/office/powerpoint/2010/main" val="15281698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8055A014-AA40-5B4A-A5FD-4F58A1D7AE4A}" type="slidenum">
              <a:rPr lang="en-US" smtClean="0"/>
              <a:t>1</a:t>
            </a:fld>
            <a:endParaRPr lang="en-US"/>
          </a:p>
        </p:txBody>
      </p:sp>
    </p:spTree>
    <p:extLst>
      <p:ext uri="{BB962C8B-B14F-4D97-AF65-F5344CB8AC3E}">
        <p14:creationId xmlns:p14="http://schemas.microsoft.com/office/powerpoint/2010/main" val="7200084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71355-85F6-CF92-4C8F-3100CC56C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5B7C8D-BDAB-8FCD-FB0D-EDFDCED0C7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BF0FD8-6C3E-4632-2908-448E25301190}"/>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759B22E7-FE82-EFCF-D187-6F41357AC3B4}"/>
              </a:ext>
            </a:extLst>
          </p:cNvPr>
          <p:cNvSpPr>
            <a:spLocks noGrp="1"/>
          </p:cNvSpPr>
          <p:nvPr>
            <p:ph type="sldNum" sz="quarter" idx="5"/>
          </p:nvPr>
        </p:nvSpPr>
        <p:spPr/>
        <p:txBody>
          <a:bodyPr/>
          <a:lstStyle/>
          <a:p>
            <a:fld id="{8055A014-AA40-5B4A-A5FD-4F58A1D7AE4A}" type="slidenum">
              <a:rPr lang="en-US" smtClean="0"/>
              <a:t>2</a:t>
            </a:fld>
            <a:endParaRPr lang="en-US"/>
          </a:p>
        </p:txBody>
      </p:sp>
    </p:spTree>
    <p:extLst>
      <p:ext uri="{BB962C8B-B14F-4D97-AF65-F5344CB8AC3E}">
        <p14:creationId xmlns:p14="http://schemas.microsoft.com/office/powerpoint/2010/main" val="14158256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Outcomes are measured as one-year changes in cognitive ability and mean cortical thickness</a:t>
            </a:r>
            <a:r>
              <a:rPr lang="en-US" dirty="0">
                <a:effectLst/>
              </a:rPr>
              <a:t> (baseline – 1yr)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primary exposures are baseline inflammation for H1a, 1yr change inflammation for H1b, and the interaction of baseline amyloid and inflammation for Aim 2.</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This diagram summarizes the framework.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H1a tests whether baseline inflammation predicts change in outcomes,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H1b tests whether change in inflammation predicts change in outcomes, and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Aim 2 evaluates whether amyloid deposition modifies the baseline inflammation–outcome relationship.</a:t>
            </a:r>
          </a:p>
        </p:txBody>
      </p:sp>
      <p:sp>
        <p:nvSpPr>
          <p:cNvPr id="4" name="Slide Number Placeholder 3"/>
          <p:cNvSpPr>
            <a:spLocks noGrp="1"/>
          </p:cNvSpPr>
          <p:nvPr>
            <p:ph type="sldNum" sz="quarter" idx="5"/>
          </p:nvPr>
        </p:nvSpPr>
        <p:spPr/>
        <p:txBody>
          <a:bodyPr/>
          <a:lstStyle/>
          <a:p>
            <a:fld id="{8055A014-AA40-5B4A-A5FD-4F58A1D7AE4A}" type="slidenum">
              <a:rPr lang="en-US" smtClean="0"/>
              <a:t>3</a:t>
            </a:fld>
            <a:endParaRPr lang="en-US"/>
          </a:p>
        </p:txBody>
      </p:sp>
    </p:spTree>
    <p:extLst>
      <p:ext uri="{BB962C8B-B14F-4D97-AF65-F5344CB8AC3E}">
        <p14:creationId xmlns:p14="http://schemas.microsoft.com/office/powerpoint/2010/main" val="1144915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Across the tested alpha thresholds, we see that moderate correlations—around 0.3 to 0.4—are required to achieve 80% power.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This means we’re well-powered for cortical thickness effects, but the plot shows that we may be underpowered for more modest cognitive associations</a:t>
            </a:r>
          </a:p>
        </p:txBody>
      </p:sp>
      <p:sp>
        <p:nvSpPr>
          <p:cNvPr id="4" name="Slide Number Placeholder 3"/>
          <p:cNvSpPr>
            <a:spLocks noGrp="1"/>
          </p:cNvSpPr>
          <p:nvPr>
            <p:ph type="sldNum" sz="quarter" idx="5"/>
          </p:nvPr>
        </p:nvSpPr>
        <p:spPr/>
        <p:txBody>
          <a:bodyPr/>
          <a:lstStyle/>
          <a:p>
            <a:fld id="{8055A014-AA40-5B4A-A5FD-4F58A1D7AE4A}" type="slidenum">
              <a:rPr lang="en-US" smtClean="0"/>
              <a:t>4</a:t>
            </a:fld>
            <a:endParaRPr lang="en-US"/>
          </a:p>
        </p:txBody>
      </p:sp>
    </p:spTree>
    <p:extLst>
      <p:ext uri="{BB962C8B-B14F-4D97-AF65-F5344CB8AC3E}">
        <p14:creationId xmlns:p14="http://schemas.microsoft.com/office/powerpoint/2010/main" val="826435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To test for mediation, two models were fit – one with and without the binary adherence variable</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When adherence was included in the models, the hard drug coefficients slightly increased in magnitude across all outcomes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Which resulted in negative proportion mediated estimates and ultimately inconsistent mediation.  This was likely due to sparse data in the adherence category.</a:t>
            </a:r>
          </a:p>
          <a:p>
            <a:pPr marL="171450" indent="-171450">
              <a:buFont typeface="Arial" panose="020B0604020202020204" pitchFamily="34" charset="0"/>
              <a:buChar char="•"/>
            </a:pPr>
            <a:r>
              <a:rPr lang="en-US" sz="1200" kern="1200" dirty="0">
                <a:solidFill>
                  <a:schemeClr val="tx1"/>
                </a:solidFill>
                <a:effectLst/>
                <a:latin typeface="+mn-lt"/>
                <a:ea typeface="+mn-ea"/>
                <a:cs typeface="+mn-cs"/>
              </a:rPr>
              <a:t>Which was shown back in the data overview section where only one subject was in the less than 95% grouping</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Overall, there was little evidence that adherence explained the association.</a:t>
            </a:r>
          </a:p>
        </p:txBody>
      </p:sp>
      <p:sp>
        <p:nvSpPr>
          <p:cNvPr id="4" name="Slide Number Placeholder 3"/>
          <p:cNvSpPr>
            <a:spLocks noGrp="1"/>
          </p:cNvSpPr>
          <p:nvPr>
            <p:ph type="sldNum" sz="quarter" idx="5"/>
          </p:nvPr>
        </p:nvSpPr>
        <p:spPr/>
        <p:txBody>
          <a:bodyPr/>
          <a:lstStyle/>
          <a:p>
            <a:fld id="{8055A014-AA40-5B4A-A5FD-4F58A1D7AE4A}" type="slidenum">
              <a:rPr lang="en-US" smtClean="0"/>
              <a:t>5</a:t>
            </a:fld>
            <a:endParaRPr lang="en-US"/>
          </a:p>
        </p:txBody>
      </p:sp>
    </p:spTree>
    <p:extLst>
      <p:ext uri="{BB962C8B-B14F-4D97-AF65-F5344CB8AC3E}">
        <p14:creationId xmlns:p14="http://schemas.microsoft.com/office/powerpoint/2010/main" val="31521274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Overall, these findings suggest that baseline hard drug use is associated with poorer immunologic recovery and lower physical QOL following HAART initiation, but adherence does not appear to meaningfully mediate these associations. Loss to follow-up indicated the age and physical health was associated with dropout</a:t>
            </a:r>
          </a:p>
          <a:p>
            <a:endParaRPr lang="en-US" sz="1200" kern="1200" dirty="0">
              <a:solidFill>
                <a:schemeClr val="tx1"/>
              </a:solidFill>
              <a:effectLst/>
              <a:latin typeface="+mn-lt"/>
              <a:ea typeface="+mn-ea"/>
              <a:cs typeface="+mn-cs"/>
            </a:endParaRPr>
          </a:p>
          <a:p>
            <a:r>
              <a:rPr lang="en-US" dirty="0"/>
              <a:t>Limitations:</a:t>
            </a:r>
          </a:p>
          <a:p>
            <a:pPr marL="171450" indent="-171450">
              <a:buFont typeface="Arial" panose="020B0604020202020204" pitchFamily="34" charset="0"/>
              <a:buChar char="•"/>
            </a:pPr>
            <a:r>
              <a:rPr lang="en-US" dirty="0"/>
              <a:t>Observational studies typically suffer bias from lack of randomization and unmeasured variables</a:t>
            </a:r>
          </a:p>
          <a:p>
            <a:pPr marL="171450" indent="-171450">
              <a:buFont typeface="Arial" panose="020B0604020202020204" pitchFamily="34" charset="0"/>
              <a:buChar char="•"/>
            </a:pPr>
            <a:r>
              <a:rPr lang="en-US" dirty="0"/>
              <a:t>Adherence was coded as binary and only had one observation for hard drug user with less than 95% this was likely a reason for the negative proportion mediated, so Adherence could not be reliably estimated and should be treated as descriptive </a:t>
            </a:r>
          </a:p>
          <a:p>
            <a:pPr marL="171450" indent="-171450">
              <a:buFont typeface="Arial" panose="020B0604020202020204" pitchFamily="34" charset="0"/>
              <a:buChar char="•"/>
            </a:pPr>
            <a:r>
              <a:rPr lang="en-US" dirty="0"/>
              <a:t>Further, the Hard drug user group overall was relatively small so we may not have had enough to power to make precise comparisons</a:t>
            </a:r>
          </a:p>
          <a:p>
            <a:pPr marL="171450" indent="-171450">
              <a:buFont typeface="Arial" panose="020B0604020202020204" pitchFamily="34" charset="0"/>
              <a:buChar char="•"/>
            </a:pPr>
            <a:r>
              <a:rPr lang="en-US" dirty="0"/>
              <a:t>Lastly, while missingness appeared to be associated with age and physical health, which were observed, there may be some dependency on some unmeasured factor that we did not model. So, the missing data mechanism suggests MAR but wasn’t proven</a:t>
            </a:r>
          </a:p>
        </p:txBody>
      </p:sp>
      <p:sp>
        <p:nvSpPr>
          <p:cNvPr id="4" name="Slide Number Placeholder 3"/>
          <p:cNvSpPr>
            <a:spLocks noGrp="1"/>
          </p:cNvSpPr>
          <p:nvPr>
            <p:ph type="sldNum" sz="quarter" idx="5"/>
          </p:nvPr>
        </p:nvSpPr>
        <p:spPr/>
        <p:txBody>
          <a:bodyPr/>
          <a:lstStyle/>
          <a:p>
            <a:fld id="{8055A014-AA40-5B4A-A5FD-4F58A1D7AE4A}" type="slidenum">
              <a:rPr lang="en-US" smtClean="0"/>
              <a:t>6</a:t>
            </a:fld>
            <a:endParaRPr lang="en-US"/>
          </a:p>
        </p:txBody>
      </p:sp>
    </p:spTree>
    <p:extLst>
      <p:ext uri="{BB962C8B-B14F-4D97-AF65-F5344CB8AC3E}">
        <p14:creationId xmlns:p14="http://schemas.microsoft.com/office/powerpoint/2010/main" val="4002978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one-year changes in cognitive performance and AD-signature cortical thickness</a:t>
            </a:r>
            <a:r>
              <a:rPr lang="en-US" dirty="0">
                <a:effectLst/>
              </a:rPr>
              <a:t> (baseline – 1yr)</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Outcomes will be screened for outliers, missingness, and distributional properties using graphical summaries and descriptive statistics, with transformations applied as needed.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Any participants excluded due to missing data will be compared with the full cohort to evaluate potential bias.</a:t>
            </a:r>
          </a:p>
          <a:p>
            <a:endParaRPr lang="en-US" dirty="0"/>
          </a:p>
        </p:txBody>
      </p:sp>
      <p:sp>
        <p:nvSpPr>
          <p:cNvPr id="4" name="Slide Number Placeholder 3"/>
          <p:cNvSpPr>
            <a:spLocks noGrp="1"/>
          </p:cNvSpPr>
          <p:nvPr>
            <p:ph type="sldNum" sz="quarter" idx="5"/>
          </p:nvPr>
        </p:nvSpPr>
        <p:spPr/>
        <p:txBody>
          <a:bodyPr/>
          <a:lstStyle/>
          <a:p>
            <a:fld id="{8055A014-AA40-5B4A-A5FD-4F58A1D7AE4A}" type="slidenum">
              <a:rPr lang="en-US" smtClean="0"/>
              <a:t>7</a:t>
            </a:fld>
            <a:endParaRPr lang="en-US"/>
          </a:p>
        </p:txBody>
      </p:sp>
    </p:spTree>
    <p:extLst>
      <p:ext uri="{BB962C8B-B14F-4D97-AF65-F5344CB8AC3E}">
        <p14:creationId xmlns:p14="http://schemas.microsoft.com/office/powerpoint/2010/main" val="7740451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Header 1"/>
          <p:cNvSpPr>
            <a:spLocks noGrp="1"/>
          </p:cNvSpPr>
          <p:nvPr>
            <p:ph type="title"/>
          </p:nvPr>
        </p:nvSpPr>
        <p:spPr/>
        <p:txBody>
          <a:bodyPr/>
          <a:lstStyle/>
          <a:p>
            <a:r>
              <a:rPr lang="en-US"/>
              <a:t>Title</a:t>
            </a:r>
          </a:p>
        </p:txBody>
      </p:sp>
      <p:sp>
        <p:nvSpPr>
          <p:cNvPr id="3" name="Text 2"/>
          <p:cNvSpPr>
            <a:spLocks noGrp="1"/>
          </p:cNvSpPr>
          <p:nvPr>
            <p:ph type="body" idx="1"/>
          </p:nvPr>
        </p:nvSpPr>
        <p:spPr/>
        <p:txBody>
          <a:bodyPr/>
          <a:lstStyle/>
          <a:p>
            <a:pPr lvl="0"/>
            <a:r>
              <a:rPr lang="en-US"/>
              <a:t>Text</a:t>
            </a:r>
          </a:p>
          <a:p>
            <a:pPr lvl="1"/>
            <a:r>
              <a:rPr lang="en-US"/>
              <a:t>Second level</a:t>
            </a:r>
          </a:p>
          <a:p>
            <a:pPr lvl="2"/>
            <a:r>
              <a:rPr lang="en-US"/>
              <a:t>Third level</a:t>
            </a:r>
          </a:p>
          <a:p>
            <a:pPr lvl="3"/>
            <a:r>
              <a:rPr lang="en-US"/>
              <a:t>Fourth level</a:t>
            </a:r>
          </a:p>
          <a:p>
            <a:pPr lvl="4"/>
            <a:r>
              <a:rPr lang="en-US"/>
              <a:t>Fifth level</a:t>
            </a:r>
          </a:p>
        </p:txBody>
      </p:sp>
      <p:sp>
        <p:nvSpPr>
          <p:cNvPr id="4" name="Date 3"/>
          <p:cNvSpPr>
            <a:spLocks noGrp="1"/>
          </p:cNvSpPr>
          <p:nvPr>
            <p:ph type="dt" sz="half" idx="10"/>
          </p:nvPr>
        </p:nvSpPr>
        <p:spPr/>
        <p:txBody>
          <a:bodyPr/>
          <a:lstStyle/>
          <a:p>
            <a:fld id="{C16525B2-4347-4F72-BAF7-76B19438D329}" type="datetimeFigureOut">
              <a:rPr lang="en-US" smtClean="0"/>
              <a:t>3/27/26</a:t>
            </a:fld>
            <a:endParaRPr lang="en-US"/>
          </a:p>
        </p:txBody>
      </p:sp>
      <p:sp>
        <p:nvSpPr>
          <p:cNvPr id="5" name="Footer 4"/>
          <p:cNvSpPr>
            <a:spLocks noGrp="1"/>
          </p:cNvSpPr>
          <p:nvPr>
            <p:ph type="ftr" sz="quarter" idx="11"/>
          </p:nvPr>
        </p:nvSpPr>
        <p:spPr/>
        <p:txBody>
          <a:bodyPr/>
          <a:lstStyle/>
          <a:p>
            <a:endParaRPr lang="en-US"/>
          </a:p>
        </p:txBody>
      </p:sp>
      <p:sp>
        <p:nvSpPr>
          <p:cNvPr id="6" name="Slide number 5"/>
          <p:cNvSpPr>
            <a:spLocks noGrp="1"/>
          </p:cNvSpPr>
          <p:nvPr>
            <p:ph type="sldNum" sz="quarter" idx="12"/>
          </p:nvPr>
        </p:nvSpPr>
        <p:spPr/>
        <p:txBody>
          <a:bodyPr/>
          <a:lstStyle/>
          <a:p>
            <a:fld id="{80F073CC-40D5-4B23-8DF0-9BD0A0C12F2C}"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77666" y="427735"/>
            <a:ext cx="6797992" cy="1710943"/>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377666" y="2459482"/>
            <a:ext cx="6797992"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568130" y="9944862"/>
            <a:ext cx="2417063" cy="53467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7666" y="9944862"/>
            <a:ext cx="1737264" cy="53467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3/27/26</a:t>
            </a:fld>
            <a:endParaRPr lang="en-US"/>
          </a:p>
        </p:txBody>
      </p:sp>
      <p:sp>
        <p:nvSpPr>
          <p:cNvPr id="6" name="Holder 6"/>
          <p:cNvSpPr>
            <a:spLocks noGrp="1"/>
          </p:cNvSpPr>
          <p:nvPr>
            <p:ph type="sldNum" sz="quarter" idx="7"/>
          </p:nvPr>
        </p:nvSpPr>
        <p:spPr>
          <a:xfrm>
            <a:off x="5438394" y="9944862"/>
            <a:ext cx="1737264" cy="53467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a:p>
        </p:txBody>
      </p:sp>
      <p:sp>
        <p:nvSpPr>
          <p:cNvPr id="3" name="object 3"/>
          <p:cNvSpPr txBox="1"/>
          <p:nvPr/>
        </p:nvSpPr>
        <p:spPr>
          <a:xfrm>
            <a:off x="731404" y="2350167"/>
            <a:ext cx="10729192" cy="1107996"/>
          </a:xfrm>
          <a:prstGeom prst="rect">
            <a:avLst/>
          </a:prstGeom>
        </p:spPr>
        <p:txBody>
          <a:bodyPr vert="horz" wrap="square" lIns="0" tIns="0" rIns="0" bIns="0" rtlCol="0">
            <a:spAutoFit/>
          </a:bodyPr>
          <a:lstStyle/>
          <a:p>
            <a:pPr algn="ctr"/>
            <a:r>
              <a:rPr lang="en-US" sz="3600" dirty="0"/>
              <a:t>The Role of Inflammation in Cognitive Decline and Alzheimer’s Disease</a:t>
            </a:r>
          </a:p>
        </p:txBody>
      </p:sp>
      <p:sp>
        <p:nvSpPr>
          <p:cNvPr id="4" name="object 4"/>
          <p:cNvSpPr txBox="1"/>
          <p:nvPr/>
        </p:nvSpPr>
        <p:spPr>
          <a:xfrm>
            <a:off x="4507565" y="3861048"/>
            <a:ext cx="3176870" cy="730969"/>
          </a:xfrm>
          <a:prstGeom prst="rect">
            <a:avLst/>
          </a:prstGeom>
        </p:spPr>
        <p:txBody>
          <a:bodyPr vert="horz" wrap="square" lIns="0" tIns="0" rIns="0" bIns="0" rtlCol="0">
            <a:spAutoFit/>
          </a:bodyPr>
          <a:lstStyle/>
          <a:p>
            <a:pPr marL="0" marR="0" algn="ctr">
              <a:lnSpc>
                <a:spcPts val="2612"/>
              </a:lnSpc>
              <a:spcBef>
                <a:spcPts val="0"/>
              </a:spcBef>
              <a:spcAft>
                <a:spcPts val="0"/>
              </a:spcAft>
            </a:pPr>
            <a:r>
              <a:rPr lang="en-US" sz="2300" dirty="0">
                <a:solidFill>
                  <a:srgbClr val="181A0D"/>
                </a:solidFill>
                <a:cs typeface="GEHAIV+FranklinGothic-Book"/>
              </a:rPr>
              <a:t>Ryan Summers</a:t>
            </a:r>
            <a:endParaRPr sz="2300" dirty="0">
              <a:solidFill>
                <a:srgbClr val="181A0D"/>
              </a:solidFill>
              <a:cs typeface="GEHAIV+FranklinGothic-Book"/>
            </a:endParaRPr>
          </a:p>
          <a:p>
            <a:pPr marL="77914" marR="0" algn="ctr">
              <a:lnSpc>
                <a:spcPts val="2612"/>
              </a:lnSpc>
              <a:spcBef>
                <a:spcPts val="459"/>
              </a:spcBef>
              <a:spcAft>
                <a:spcPts val="0"/>
              </a:spcAft>
            </a:pPr>
            <a:r>
              <a:rPr lang="en-US" sz="2300" spc="-13" dirty="0">
                <a:solidFill>
                  <a:srgbClr val="181A0D"/>
                </a:solidFill>
                <a:cs typeface="GEHAIV+FranklinGothic-Book"/>
              </a:rPr>
              <a:t>3/30/26</a:t>
            </a:r>
            <a:endParaRPr sz="2300" spc="-13" dirty="0">
              <a:solidFill>
                <a:srgbClr val="181A0D"/>
              </a:solidFill>
              <a:cs typeface="GEHAIV+FranklinGothic-Boo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9220A-E907-696F-E178-950E13497494}"/>
            </a:ext>
          </a:extLst>
        </p:cNvPr>
        <p:cNvGrpSpPr/>
        <p:nvPr/>
      </p:nvGrpSpPr>
      <p:grpSpPr>
        <a:xfrm>
          <a:off x="0" y="0"/>
          <a:ext cx="0" cy="0"/>
          <a:chOff x="0" y="0"/>
          <a:chExt cx="0" cy="0"/>
        </a:xfrm>
      </p:grpSpPr>
      <p:sp>
        <p:nvSpPr>
          <p:cNvPr id="2" name="object 1">
            <a:extLst>
              <a:ext uri="{FF2B5EF4-FFF2-40B4-BE49-F238E27FC236}">
                <a16:creationId xmlns:a16="http://schemas.microsoft.com/office/drawing/2014/main" id="{1DE5CAE3-8C9D-5530-AE7E-1A8DEBA08D3C}"/>
              </a:ext>
            </a:extLst>
          </p:cNvPr>
          <p:cNvSpPr/>
          <p:nvPr/>
        </p:nvSpPr>
        <p:spPr>
          <a:xfrm>
            <a:off x="-17029" y="16706"/>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a:extLst>
              <a:ext uri="{FF2B5EF4-FFF2-40B4-BE49-F238E27FC236}">
                <a16:creationId xmlns:a16="http://schemas.microsoft.com/office/drawing/2014/main" id="{DD84BD69-C59D-462F-793D-BE03654A65BC}"/>
              </a:ext>
            </a:extLst>
          </p:cNvPr>
          <p:cNvSpPr txBox="1"/>
          <p:nvPr/>
        </p:nvSpPr>
        <p:spPr>
          <a:xfrm>
            <a:off x="1199456" y="181814"/>
            <a:ext cx="5065008" cy="641201"/>
          </a:xfrm>
          <a:prstGeom prst="rect">
            <a:avLst/>
          </a:prstGeom>
        </p:spPr>
        <p:txBody>
          <a:bodyPr vert="horz" wrap="square" lIns="0" tIns="0" rIns="0" bIns="0" rtlCol="0">
            <a:spAutoFit/>
          </a:bodyPr>
          <a:lstStyle/>
          <a:p>
            <a:pPr marL="0" marR="0">
              <a:lnSpc>
                <a:spcPts val="4979"/>
              </a:lnSpc>
              <a:spcBef>
                <a:spcPts val="0"/>
              </a:spcBef>
              <a:spcAft>
                <a:spcPts val="0"/>
              </a:spcAft>
            </a:pPr>
            <a:r>
              <a:rPr lang="en-US" sz="4400" spc="-21" dirty="0">
                <a:solidFill>
                  <a:srgbClr val="181A0D"/>
                </a:solidFill>
                <a:cs typeface="KDMFEK+FranklinGothic-Book"/>
              </a:rPr>
              <a:t>Research</a:t>
            </a:r>
            <a:r>
              <a:rPr lang="en-US" sz="4400" spc="21" dirty="0">
                <a:solidFill>
                  <a:srgbClr val="181A0D"/>
                </a:solidFill>
                <a:cs typeface="KDMFEK+FranklinGothic-Book"/>
              </a:rPr>
              <a:t> </a:t>
            </a:r>
            <a:r>
              <a:rPr lang="en-US" sz="4400" dirty="0">
                <a:solidFill>
                  <a:srgbClr val="181A0D"/>
                </a:solidFill>
                <a:cs typeface="KDMFEK+FranklinGothic-Book"/>
              </a:rPr>
              <a:t>Questions</a:t>
            </a:r>
            <a:endParaRPr sz="4400" dirty="0">
              <a:solidFill>
                <a:srgbClr val="181A0D"/>
              </a:solidFill>
              <a:cs typeface="KDMFEK+FranklinGothic-Book"/>
            </a:endParaRPr>
          </a:p>
        </p:txBody>
      </p:sp>
      <p:sp>
        <p:nvSpPr>
          <p:cNvPr id="6" name="TextBox 5">
            <a:extLst>
              <a:ext uri="{FF2B5EF4-FFF2-40B4-BE49-F238E27FC236}">
                <a16:creationId xmlns:a16="http://schemas.microsoft.com/office/drawing/2014/main" id="{47E80CB9-394E-7C5A-F83C-EFCE2F949673}"/>
              </a:ext>
            </a:extLst>
          </p:cNvPr>
          <p:cNvSpPr txBox="1"/>
          <p:nvPr/>
        </p:nvSpPr>
        <p:spPr>
          <a:xfrm>
            <a:off x="1055440" y="997759"/>
            <a:ext cx="10801200" cy="4616648"/>
          </a:xfrm>
          <a:prstGeom prst="rect">
            <a:avLst/>
          </a:prstGeom>
          <a:noFill/>
        </p:spPr>
        <p:txBody>
          <a:bodyPr wrap="square">
            <a:spAutoFit/>
          </a:bodyPr>
          <a:lstStyle/>
          <a:p>
            <a:r>
              <a:rPr lang="en-US" sz="2800" b="1" dirty="0"/>
              <a:t>Aim 1:</a:t>
            </a:r>
          </a:p>
          <a:p>
            <a:pPr marL="285750" indent="-285750">
              <a:buFont typeface="Wingdings" pitchFamily="2" charset="2"/>
              <a:buChar char="q"/>
            </a:pPr>
            <a:r>
              <a:rPr lang="en-US" sz="2400" b="1" i="1" dirty="0"/>
              <a:t>H1a</a:t>
            </a:r>
            <a:r>
              <a:rPr lang="en-US" sz="2400" dirty="0"/>
              <a:t>: Higher baseline peripheral inflammatory marker levels will be associated with greater 1-year decline in cognitive outcomes and AD-signature mean cortical thickness </a:t>
            </a:r>
          </a:p>
          <a:p>
            <a:pPr lvl="1"/>
            <a:endParaRPr lang="en-US" dirty="0"/>
          </a:p>
          <a:p>
            <a:pPr marL="285750" indent="-285750">
              <a:buFont typeface="Wingdings" pitchFamily="2" charset="2"/>
              <a:buChar char="q"/>
            </a:pPr>
            <a:r>
              <a:rPr lang="en-US" sz="2400" b="1" i="1" dirty="0"/>
              <a:t>H1b</a:t>
            </a:r>
            <a:r>
              <a:rPr lang="en-US" sz="2400" dirty="0"/>
              <a:t>: Greater 1-year increases in peripheral inflammatory markers will be associated with greater 1-year declines in the same cognitive and cortical outcomes. </a:t>
            </a:r>
          </a:p>
          <a:p>
            <a:endParaRPr lang="en-US" sz="2800" b="1" dirty="0"/>
          </a:p>
          <a:p>
            <a:pPr lvl="0"/>
            <a:r>
              <a:rPr lang="en-US" sz="2800" b="1" dirty="0">
                <a:solidFill>
                  <a:srgbClr val="181A0D"/>
                </a:solidFill>
              </a:rPr>
              <a:t>Aim 2:</a:t>
            </a:r>
          </a:p>
          <a:p>
            <a:pPr marL="285750" indent="-285750">
              <a:buFont typeface="Wingdings" pitchFamily="2" charset="2"/>
              <a:buChar char="q"/>
            </a:pPr>
            <a:r>
              <a:rPr lang="en-US" sz="2400" dirty="0"/>
              <a:t>Amyloid deposition will modify the association between inflammation markers and 1-year decline in memory and AD-signature cortical thickness. </a:t>
            </a:r>
            <a:endParaRPr lang="en-US" sz="2000" dirty="0"/>
          </a:p>
        </p:txBody>
      </p:sp>
    </p:spTree>
    <p:extLst>
      <p:ext uri="{BB962C8B-B14F-4D97-AF65-F5344CB8AC3E}">
        <p14:creationId xmlns:p14="http://schemas.microsoft.com/office/powerpoint/2010/main" val="15441300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6118"/>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271464" y="144593"/>
            <a:ext cx="6073120" cy="641201"/>
          </a:xfrm>
          <a:prstGeom prst="rect">
            <a:avLst/>
          </a:prstGeom>
        </p:spPr>
        <p:txBody>
          <a:bodyPr vert="horz" wrap="square" lIns="0" tIns="0" rIns="0" bIns="0" rtlCol="0">
            <a:spAutoFit/>
          </a:bodyPr>
          <a:lstStyle/>
          <a:p>
            <a:pPr marL="0" marR="0">
              <a:lnSpc>
                <a:spcPts val="4979"/>
              </a:lnSpc>
              <a:spcBef>
                <a:spcPts val="0"/>
              </a:spcBef>
              <a:spcAft>
                <a:spcPts val="0"/>
              </a:spcAft>
            </a:pPr>
            <a:r>
              <a:rPr lang="en-US" sz="4400" dirty="0">
                <a:solidFill>
                  <a:srgbClr val="181A0D"/>
                </a:solidFill>
                <a:cs typeface="VTCKGD+FranklinGothic-Book"/>
              </a:rPr>
              <a:t>Analysis</a:t>
            </a:r>
            <a:endParaRPr sz="4400" dirty="0">
              <a:solidFill>
                <a:srgbClr val="181A0D"/>
              </a:solidFill>
              <a:cs typeface="VTCKGD+FranklinGothic-Book"/>
            </a:endParaRPr>
          </a:p>
        </p:txBody>
      </p:sp>
      <p:sp>
        <p:nvSpPr>
          <p:cNvPr id="4" name="object 4"/>
          <p:cNvSpPr txBox="1"/>
          <p:nvPr/>
        </p:nvSpPr>
        <p:spPr>
          <a:xfrm>
            <a:off x="861876" y="620688"/>
            <a:ext cx="4665229" cy="7148111"/>
          </a:xfrm>
          <a:prstGeom prst="rect">
            <a:avLst/>
          </a:prstGeom>
        </p:spPr>
        <p:txBody>
          <a:bodyPr vert="horz" wrap="square" lIns="0" tIns="0" rIns="0" bIns="0" rtlCol="0">
            <a:spAutoFit/>
          </a:bodyPr>
          <a:lstStyle/>
          <a:p>
            <a:pPr lvl="1">
              <a:lnSpc>
                <a:spcPts val="2258"/>
              </a:lnSpc>
            </a:pPr>
            <a:endParaRPr lang="en-US" sz="2400" spc="-25" dirty="0">
              <a:solidFill>
                <a:srgbClr val="181A0D"/>
              </a:solidFill>
              <a:cs typeface="OAGDQN+FranklinGothic-BookItalic"/>
            </a:endParaRPr>
          </a:p>
          <a:p>
            <a:endParaRPr lang="en-US" sz="2000" dirty="0"/>
          </a:p>
          <a:p>
            <a:pPr>
              <a:lnSpc>
                <a:spcPts val="2258"/>
              </a:lnSpc>
            </a:pPr>
            <a:r>
              <a:rPr lang="en-US" sz="2000" b="1" dirty="0">
                <a:solidFill>
                  <a:srgbClr val="181A0D"/>
                </a:solidFill>
              </a:rPr>
              <a:t>Outcomes (1-yr </a:t>
            </a:r>
            <a:r>
              <a:rPr lang="el-GR" sz="2000" b="1" dirty="0">
                <a:solidFill>
                  <a:srgbClr val="181A0D"/>
                </a:solidFill>
              </a:rPr>
              <a:t>Δ</a:t>
            </a:r>
            <a:r>
              <a:rPr lang="en-US" sz="2000" b="1" dirty="0">
                <a:solidFill>
                  <a:srgbClr val="181A0D"/>
                </a:solidFill>
              </a:rPr>
              <a:t>; baseline - 1yr</a:t>
            </a:r>
            <a:r>
              <a:rPr lang="el-GR" sz="2000" b="1" dirty="0">
                <a:solidFill>
                  <a:srgbClr val="181A0D"/>
                </a:solidFill>
              </a:rPr>
              <a:t>)</a:t>
            </a:r>
            <a:r>
              <a:rPr lang="en-US" sz="2000" b="1" dirty="0">
                <a:solidFill>
                  <a:srgbClr val="181A0D"/>
                </a:solidFill>
              </a:rPr>
              <a:t>:</a:t>
            </a:r>
          </a:p>
          <a:p>
            <a:pPr marL="285750" indent="-285750">
              <a:buFont typeface="Wingdings" pitchFamily="2" charset="2"/>
              <a:buChar char="q"/>
            </a:pPr>
            <a:r>
              <a:rPr lang="en-US" dirty="0"/>
              <a:t>Cognitive: CVLT, Benson, MST, Store Recall</a:t>
            </a:r>
          </a:p>
          <a:p>
            <a:pPr marL="285750" indent="-285750">
              <a:buFont typeface="Wingdings" pitchFamily="2" charset="2"/>
              <a:buChar char="q"/>
            </a:pPr>
            <a:r>
              <a:rPr lang="en-US" dirty="0"/>
              <a:t>Brain structure: mean cortical thickness</a:t>
            </a:r>
          </a:p>
          <a:p>
            <a:pPr lvl="1">
              <a:lnSpc>
                <a:spcPts val="2258"/>
              </a:lnSpc>
            </a:pPr>
            <a:endParaRPr lang="en-US" dirty="0">
              <a:solidFill>
                <a:srgbClr val="181A0D"/>
              </a:solidFill>
            </a:endParaRPr>
          </a:p>
          <a:p>
            <a:r>
              <a:rPr lang="en-US" sz="2000" b="1" dirty="0"/>
              <a:t>Exposures:</a:t>
            </a:r>
            <a:endParaRPr lang="en-US" sz="2000" dirty="0"/>
          </a:p>
          <a:p>
            <a:pPr marL="285750" indent="-285750">
              <a:buFont typeface="Wingdings" pitchFamily="2" charset="2"/>
              <a:buChar char="q"/>
            </a:pPr>
            <a:r>
              <a:rPr lang="en-US" dirty="0"/>
              <a:t>Baseline inflammation </a:t>
            </a:r>
          </a:p>
          <a:p>
            <a:pPr marL="742950" lvl="1" indent="-285750">
              <a:buFont typeface="Wingdings" pitchFamily="2" charset="2"/>
              <a:buChar char="Ø"/>
            </a:pPr>
            <a:r>
              <a:rPr lang="en-US" dirty="0"/>
              <a:t>(IL-6, TNF-</a:t>
            </a:r>
            <a:r>
              <a:rPr lang="el-GR" dirty="0"/>
              <a:t>α, </a:t>
            </a:r>
            <a:r>
              <a:rPr lang="en-US" dirty="0"/>
              <a:t>MCP-1, Eotaxin-1)</a:t>
            </a:r>
          </a:p>
          <a:p>
            <a:pPr marL="285750" indent="-285750">
              <a:buFont typeface="Wingdings" pitchFamily="2" charset="2"/>
              <a:buChar char="q"/>
            </a:pPr>
            <a:r>
              <a:rPr lang="en-US" dirty="0"/>
              <a:t>Change in inflammation (baseline → 1 year)</a:t>
            </a:r>
          </a:p>
          <a:p>
            <a:pPr marL="285750" indent="-285750">
              <a:buFont typeface="Wingdings" pitchFamily="2" charset="2"/>
              <a:buChar char="q"/>
            </a:pPr>
            <a:r>
              <a:rPr lang="en-US" dirty="0"/>
              <a:t>Baseline amyloid (binary) * baseline inflammation (continuous)</a:t>
            </a:r>
          </a:p>
          <a:p>
            <a:br>
              <a:rPr lang="en-US" sz="2000" dirty="0"/>
            </a:br>
            <a:r>
              <a:rPr lang="en-US" sz="2000" b="1" dirty="0"/>
              <a:t>Framework:</a:t>
            </a:r>
          </a:p>
          <a:p>
            <a:pPr marL="285750" indent="-285750">
              <a:buFont typeface="Wingdings" pitchFamily="2" charset="2"/>
              <a:buChar char="q"/>
            </a:pPr>
            <a:r>
              <a:rPr lang="en-US" dirty="0"/>
              <a:t>Linear regression models</a:t>
            </a:r>
          </a:p>
          <a:p>
            <a:pPr marL="285750" indent="-285750">
              <a:buFont typeface="Wingdings" pitchFamily="2" charset="2"/>
              <a:buChar char="q"/>
            </a:pPr>
            <a:r>
              <a:rPr lang="en-US" dirty="0"/>
              <a:t>Separate models per outcome</a:t>
            </a:r>
          </a:p>
          <a:p>
            <a:pPr marL="285750" indent="-285750">
              <a:buFont typeface="Wingdings" pitchFamily="2" charset="2"/>
              <a:buChar char="q"/>
            </a:pPr>
            <a:r>
              <a:rPr lang="en-US" dirty="0"/>
              <a:t>Adjust for baseline covariates + baseline outcome</a:t>
            </a:r>
          </a:p>
          <a:p>
            <a:pPr marL="285750" indent="-285750">
              <a:buFont typeface="Wingdings" pitchFamily="2" charset="2"/>
              <a:buChar char="q"/>
            </a:pPr>
            <a:r>
              <a:rPr lang="en-US" dirty="0"/>
              <a:t>Holm correction (</a:t>
            </a:r>
            <a:r>
              <a:rPr lang="el-GR" dirty="0"/>
              <a:t>α = 0.05)</a:t>
            </a:r>
          </a:p>
          <a:p>
            <a:pPr marL="800100" lvl="1" indent="-342900">
              <a:lnSpc>
                <a:spcPts val="2258"/>
              </a:lnSpc>
              <a:buFont typeface="Wingdings" pitchFamily="2" charset="2"/>
              <a:buChar char="q"/>
            </a:pPr>
            <a:endParaRPr lang="en-US" sz="2000" spc="-25" dirty="0">
              <a:solidFill>
                <a:srgbClr val="181A0D"/>
              </a:solidFill>
              <a:cs typeface="OAGDQN+FranklinGothic-BookItalic"/>
            </a:endParaRPr>
          </a:p>
          <a:p>
            <a:pPr marL="800100" lvl="1" indent="-342900">
              <a:lnSpc>
                <a:spcPts val="2258"/>
              </a:lnSpc>
              <a:buFont typeface="Wingdings" pitchFamily="2" charset="2"/>
              <a:buChar char="q"/>
            </a:pPr>
            <a:endParaRPr lang="en-US" sz="2000" spc="-25" dirty="0">
              <a:solidFill>
                <a:srgbClr val="181A0D"/>
              </a:solidFill>
              <a:cs typeface="OAGDQN+FranklinGothic-BookItalic"/>
            </a:endParaRPr>
          </a:p>
          <a:p>
            <a:pPr marL="800100" lvl="1" indent="-342900">
              <a:lnSpc>
                <a:spcPts val="2258"/>
              </a:lnSpc>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sp>
        <p:nvSpPr>
          <p:cNvPr id="5" name="Rounded Rectangle 4">
            <a:extLst>
              <a:ext uri="{FF2B5EF4-FFF2-40B4-BE49-F238E27FC236}">
                <a16:creationId xmlns:a16="http://schemas.microsoft.com/office/drawing/2014/main" id="{B0D03EFE-EDD0-C07F-E464-F2E189233622}"/>
              </a:ext>
            </a:extLst>
          </p:cNvPr>
          <p:cNvSpPr/>
          <p:nvPr/>
        </p:nvSpPr>
        <p:spPr>
          <a:xfrm>
            <a:off x="5830710" y="2842895"/>
            <a:ext cx="1765004" cy="76156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600" dirty="0">
                <a:solidFill>
                  <a:schemeClr val="tx1"/>
                </a:solidFill>
              </a:rPr>
              <a:t>Baseline Inflammation</a:t>
            </a:r>
          </a:p>
        </p:txBody>
      </p:sp>
      <p:sp>
        <p:nvSpPr>
          <p:cNvPr id="6" name="Rounded Rectangle 5">
            <a:extLst>
              <a:ext uri="{FF2B5EF4-FFF2-40B4-BE49-F238E27FC236}">
                <a16:creationId xmlns:a16="http://schemas.microsoft.com/office/drawing/2014/main" id="{020B9C9E-87EB-A0E0-E398-49F8092A63B8}"/>
              </a:ext>
            </a:extLst>
          </p:cNvPr>
          <p:cNvSpPr/>
          <p:nvPr/>
        </p:nvSpPr>
        <p:spPr>
          <a:xfrm>
            <a:off x="9793506" y="3399591"/>
            <a:ext cx="2127642" cy="1477171"/>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US" sz="1600" dirty="0"/>
              <a:t>1-year Change in:</a:t>
            </a:r>
          </a:p>
          <a:p>
            <a:r>
              <a:rPr lang="en-US" sz="1600" dirty="0"/>
              <a:t>• Cognitive Measures</a:t>
            </a:r>
          </a:p>
          <a:p>
            <a:r>
              <a:rPr lang="en-US" sz="1600" dirty="0"/>
              <a:t>• Cortical Thickness</a:t>
            </a:r>
          </a:p>
        </p:txBody>
      </p:sp>
      <p:sp>
        <p:nvSpPr>
          <p:cNvPr id="7" name="Rounded Rectangle 6">
            <a:extLst>
              <a:ext uri="{FF2B5EF4-FFF2-40B4-BE49-F238E27FC236}">
                <a16:creationId xmlns:a16="http://schemas.microsoft.com/office/drawing/2014/main" id="{704A8A36-5D3F-6EE0-21FC-035F29FFABE3}"/>
              </a:ext>
            </a:extLst>
          </p:cNvPr>
          <p:cNvSpPr/>
          <p:nvPr/>
        </p:nvSpPr>
        <p:spPr>
          <a:xfrm>
            <a:off x="5824758" y="4526453"/>
            <a:ext cx="1765004" cy="761563"/>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l-GR" sz="1600" dirty="0"/>
              <a:t>Δ </a:t>
            </a:r>
            <a:r>
              <a:rPr lang="en-US" sz="1600" dirty="0"/>
              <a:t>Inflammation</a:t>
            </a:r>
          </a:p>
        </p:txBody>
      </p:sp>
      <p:sp>
        <p:nvSpPr>
          <p:cNvPr id="8" name="Rounded Rectangle 7">
            <a:extLst>
              <a:ext uri="{FF2B5EF4-FFF2-40B4-BE49-F238E27FC236}">
                <a16:creationId xmlns:a16="http://schemas.microsoft.com/office/drawing/2014/main" id="{7FCD8E54-6586-25AA-70C3-B4033712A967}"/>
              </a:ext>
            </a:extLst>
          </p:cNvPr>
          <p:cNvSpPr/>
          <p:nvPr/>
        </p:nvSpPr>
        <p:spPr>
          <a:xfrm>
            <a:off x="7589762" y="1188693"/>
            <a:ext cx="1765004" cy="835805"/>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600" dirty="0"/>
              <a:t>Baseline Amyloid</a:t>
            </a:r>
            <a:br>
              <a:rPr lang="en-US" sz="1600" dirty="0"/>
            </a:br>
            <a:r>
              <a:rPr lang="en-US" sz="1600" dirty="0"/>
              <a:t>(high vs low)</a:t>
            </a:r>
          </a:p>
        </p:txBody>
      </p:sp>
      <p:cxnSp>
        <p:nvCxnSpPr>
          <p:cNvPr id="17" name="Straight Arrow Connector 16">
            <a:extLst>
              <a:ext uri="{FF2B5EF4-FFF2-40B4-BE49-F238E27FC236}">
                <a16:creationId xmlns:a16="http://schemas.microsoft.com/office/drawing/2014/main" id="{DF2458F3-E75B-D45F-DC36-112CE0EC2517}"/>
              </a:ext>
            </a:extLst>
          </p:cNvPr>
          <p:cNvCxnSpPr>
            <a:cxnSpLocks/>
          </p:cNvCxnSpPr>
          <p:nvPr/>
        </p:nvCxnSpPr>
        <p:spPr>
          <a:xfrm>
            <a:off x="7669304" y="3223677"/>
            <a:ext cx="1931834" cy="4796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18AE786-096C-7A80-20E9-AFA756749D0A}"/>
              </a:ext>
            </a:extLst>
          </p:cNvPr>
          <p:cNvCxnSpPr>
            <a:cxnSpLocks/>
          </p:cNvCxnSpPr>
          <p:nvPr/>
        </p:nvCxnSpPr>
        <p:spPr>
          <a:xfrm flipV="1">
            <a:off x="7717389" y="4469623"/>
            <a:ext cx="1883749" cy="4071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E3B49C16-051E-D3DE-FA42-2E09C0801A5C}"/>
              </a:ext>
            </a:extLst>
          </p:cNvPr>
          <p:cNvCxnSpPr>
            <a:cxnSpLocks/>
          </p:cNvCxnSpPr>
          <p:nvPr/>
        </p:nvCxnSpPr>
        <p:spPr>
          <a:xfrm flipV="1">
            <a:off x="8472264" y="2098427"/>
            <a:ext cx="0" cy="1301164"/>
          </a:xfrm>
          <a:prstGeom prst="straightConnector1">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4" name="TextBox 43">
            <a:extLst>
              <a:ext uri="{FF2B5EF4-FFF2-40B4-BE49-F238E27FC236}">
                <a16:creationId xmlns:a16="http://schemas.microsoft.com/office/drawing/2014/main" id="{A39CBB7D-0FD2-A138-82C5-C23B16C868B1}"/>
              </a:ext>
            </a:extLst>
          </p:cNvPr>
          <p:cNvSpPr txBox="1"/>
          <p:nvPr/>
        </p:nvSpPr>
        <p:spPr>
          <a:xfrm>
            <a:off x="6388981" y="2486846"/>
            <a:ext cx="576064" cy="338554"/>
          </a:xfrm>
          <a:prstGeom prst="rect">
            <a:avLst/>
          </a:prstGeom>
          <a:noFill/>
        </p:spPr>
        <p:txBody>
          <a:bodyPr wrap="square" rtlCol="0">
            <a:spAutoFit/>
          </a:bodyPr>
          <a:lstStyle/>
          <a:p>
            <a:r>
              <a:rPr lang="en-US" sz="1600" dirty="0"/>
              <a:t>H1a</a:t>
            </a:r>
          </a:p>
        </p:txBody>
      </p:sp>
      <p:sp>
        <p:nvSpPr>
          <p:cNvPr id="45" name="TextBox 44">
            <a:extLst>
              <a:ext uri="{FF2B5EF4-FFF2-40B4-BE49-F238E27FC236}">
                <a16:creationId xmlns:a16="http://schemas.microsoft.com/office/drawing/2014/main" id="{00D34680-9C81-50A5-799D-319F4D2A7184}"/>
              </a:ext>
            </a:extLst>
          </p:cNvPr>
          <p:cNvSpPr txBox="1"/>
          <p:nvPr/>
        </p:nvSpPr>
        <p:spPr>
          <a:xfrm>
            <a:off x="6340945" y="4194743"/>
            <a:ext cx="576064" cy="338554"/>
          </a:xfrm>
          <a:prstGeom prst="rect">
            <a:avLst/>
          </a:prstGeom>
          <a:noFill/>
        </p:spPr>
        <p:txBody>
          <a:bodyPr wrap="square" rtlCol="0">
            <a:spAutoFit/>
          </a:bodyPr>
          <a:lstStyle/>
          <a:p>
            <a:r>
              <a:rPr lang="en-US" sz="1600" dirty="0"/>
              <a:t>H1b</a:t>
            </a:r>
          </a:p>
        </p:txBody>
      </p:sp>
      <p:sp>
        <p:nvSpPr>
          <p:cNvPr id="46" name="TextBox 45">
            <a:extLst>
              <a:ext uri="{FF2B5EF4-FFF2-40B4-BE49-F238E27FC236}">
                <a16:creationId xmlns:a16="http://schemas.microsoft.com/office/drawing/2014/main" id="{806074BA-5E62-5BBD-7C8D-9F554155FA4A}"/>
              </a:ext>
            </a:extLst>
          </p:cNvPr>
          <p:cNvSpPr txBox="1"/>
          <p:nvPr/>
        </p:nvSpPr>
        <p:spPr>
          <a:xfrm>
            <a:off x="7506346" y="837878"/>
            <a:ext cx="1931835" cy="338554"/>
          </a:xfrm>
          <a:prstGeom prst="rect">
            <a:avLst/>
          </a:prstGeom>
          <a:noFill/>
        </p:spPr>
        <p:txBody>
          <a:bodyPr wrap="square" rtlCol="0">
            <a:spAutoFit/>
          </a:bodyPr>
          <a:lstStyle/>
          <a:p>
            <a:r>
              <a:rPr lang="en-US" sz="1600" dirty="0"/>
              <a:t>Aim2: Modifies H1a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265425" y="110833"/>
            <a:ext cx="7657267" cy="641201"/>
          </a:xfrm>
          <a:prstGeom prst="rect">
            <a:avLst/>
          </a:prstGeom>
        </p:spPr>
        <p:txBody>
          <a:bodyPr vert="horz" wrap="square" lIns="0" tIns="0" rIns="0" bIns="0" rtlCol="0">
            <a:spAutoFit/>
          </a:bodyPr>
          <a:lstStyle/>
          <a:p>
            <a:pPr marL="0" marR="0">
              <a:lnSpc>
                <a:spcPts val="4979"/>
              </a:lnSpc>
              <a:spcBef>
                <a:spcPts val="0"/>
              </a:spcBef>
              <a:spcAft>
                <a:spcPts val="0"/>
              </a:spcAft>
            </a:pPr>
            <a:r>
              <a:rPr lang="en-US" sz="4400" spc="-12" dirty="0">
                <a:solidFill>
                  <a:srgbClr val="181A0D"/>
                </a:solidFill>
                <a:cs typeface="MPIRPG+FranklinGothic-Book"/>
              </a:rPr>
              <a:t>Power – Aim 1</a:t>
            </a:r>
            <a:endParaRPr sz="4400" spc="-12" dirty="0">
              <a:solidFill>
                <a:srgbClr val="181A0D"/>
              </a:solidFill>
              <a:cs typeface="MPIRPG+FranklinGothic-Book"/>
            </a:endParaRPr>
          </a:p>
        </p:txBody>
      </p:sp>
      <p:sp>
        <p:nvSpPr>
          <p:cNvPr id="12" name="object 4">
            <a:extLst>
              <a:ext uri="{FF2B5EF4-FFF2-40B4-BE49-F238E27FC236}">
                <a16:creationId xmlns:a16="http://schemas.microsoft.com/office/drawing/2014/main" id="{2FF3022D-87F7-BF6A-4366-54D58B6DC952}"/>
              </a:ext>
            </a:extLst>
          </p:cNvPr>
          <p:cNvSpPr txBox="1"/>
          <p:nvPr/>
        </p:nvSpPr>
        <p:spPr>
          <a:xfrm>
            <a:off x="767408" y="1828832"/>
            <a:ext cx="3816424" cy="4834657"/>
          </a:xfrm>
          <a:prstGeom prst="rect">
            <a:avLst/>
          </a:prstGeom>
        </p:spPr>
        <p:txBody>
          <a:bodyPr vert="horz" wrap="square" lIns="0" tIns="0" rIns="0" bIns="0" rtlCol="0">
            <a:spAutoFit/>
          </a:bodyPr>
          <a:lstStyle/>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342900" indent="-342900">
              <a:buFont typeface="Wingdings" pitchFamily="2" charset="2"/>
              <a:buChar char="q"/>
            </a:pPr>
            <a:r>
              <a:rPr lang="en-US" sz="2000" dirty="0"/>
              <a:t>Correlation range (±0.30) expanded to reflect uncertainty for change-based effects (H1b)</a:t>
            </a:r>
          </a:p>
          <a:p>
            <a:pPr marL="342900" indent="-342900">
              <a:buFont typeface="Wingdings" pitchFamily="2" charset="2"/>
              <a:buChar char="q"/>
            </a:pPr>
            <a:endParaRPr lang="en-US" sz="2000" dirty="0"/>
          </a:p>
          <a:p>
            <a:pPr marL="342900" indent="-342900">
              <a:buFont typeface="Wingdings" pitchFamily="2" charset="2"/>
              <a:buChar char="q"/>
            </a:pPr>
            <a:r>
              <a:rPr lang="en-US" sz="2000" dirty="0"/>
              <a:t>80% power at |r| ≈ 0.26–0.39</a:t>
            </a:r>
          </a:p>
          <a:p>
            <a:pPr marL="342900" indent="-342900">
              <a:buFont typeface="Wingdings" pitchFamily="2" charset="2"/>
              <a:buChar char="q"/>
            </a:pPr>
            <a:endParaRPr lang="en-US" sz="2000" dirty="0"/>
          </a:p>
          <a:p>
            <a:pPr marL="342900" indent="-342900">
              <a:buFont typeface="Wingdings" pitchFamily="2" charset="2"/>
              <a:buChar char="q"/>
            </a:pPr>
            <a:r>
              <a:rPr lang="en-US" sz="2000" dirty="0"/>
              <a:t>Moderate effects detectable; smaller effects may be underpowered</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pic>
        <p:nvPicPr>
          <p:cNvPr id="8" name="Picture 7">
            <a:extLst>
              <a:ext uri="{FF2B5EF4-FFF2-40B4-BE49-F238E27FC236}">
                <a16:creationId xmlns:a16="http://schemas.microsoft.com/office/drawing/2014/main" id="{9B8831E1-8361-AC85-0C71-D2645B53D5DD}"/>
              </a:ext>
            </a:extLst>
          </p:cNvPr>
          <p:cNvPicPr>
            <a:picLocks noChangeAspect="1"/>
          </p:cNvPicPr>
          <p:nvPr/>
        </p:nvPicPr>
        <p:blipFill>
          <a:blip r:embed="rId4"/>
          <a:stretch>
            <a:fillRect/>
          </a:stretch>
        </p:blipFill>
        <p:spPr>
          <a:xfrm>
            <a:off x="4434450" y="767677"/>
            <a:ext cx="7684007" cy="570130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14166"/>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415480" y="188640"/>
            <a:ext cx="4528479" cy="641201"/>
          </a:xfrm>
          <a:prstGeom prst="rect">
            <a:avLst/>
          </a:prstGeom>
        </p:spPr>
        <p:txBody>
          <a:bodyPr vert="horz" wrap="square" lIns="0" tIns="0" rIns="0" bIns="0" rtlCol="0">
            <a:spAutoFit/>
          </a:bodyPr>
          <a:lstStyle/>
          <a:p>
            <a:pPr marL="0" marR="0">
              <a:lnSpc>
                <a:spcPts val="4979"/>
              </a:lnSpc>
              <a:spcBef>
                <a:spcPts val="0"/>
              </a:spcBef>
              <a:spcAft>
                <a:spcPts val="0"/>
              </a:spcAft>
            </a:pPr>
            <a:r>
              <a:rPr lang="en-US" sz="4400" spc="-11" dirty="0">
                <a:solidFill>
                  <a:srgbClr val="181A0D"/>
                </a:solidFill>
                <a:cs typeface="WPQCJM+FranklinGothic-Book"/>
              </a:rPr>
              <a:t>Power – Aim 2</a:t>
            </a:r>
            <a:endParaRPr sz="4400" dirty="0">
              <a:solidFill>
                <a:srgbClr val="181A0D"/>
              </a:solidFill>
              <a:cs typeface="WPQCJM+FranklinGothic-Book"/>
            </a:endParaRPr>
          </a:p>
        </p:txBody>
      </p:sp>
      <p:sp>
        <p:nvSpPr>
          <p:cNvPr id="8" name="object 4">
            <a:extLst>
              <a:ext uri="{FF2B5EF4-FFF2-40B4-BE49-F238E27FC236}">
                <a16:creationId xmlns:a16="http://schemas.microsoft.com/office/drawing/2014/main" id="{135D1CCA-C085-B968-1B22-01E31F3EE6DF}"/>
              </a:ext>
            </a:extLst>
          </p:cNvPr>
          <p:cNvSpPr txBox="1"/>
          <p:nvPr/>
        </p:nvSpPr>
        <p:spPr>
          <a:xfrm>
            <a:off x="875244" y="980779"/>
            <a:ext cx="4811155" cy="4424288"/>
          </a:xfrm>
          <a:prstGeom prst="rect">
            <a:avLst/>
          </a:prstGeom>
        </p:spPr>
        <p:txBody>
          <a:bodyPr vert="horz" wrap="square" lIns="0" tIns="0" rIns="0" bIns="0" rtlCol="0">
            <a:spAutoFit/>
          </a:bodyPr>
          <a:lstStyle/>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Ø"/>
            </a:pPr>
            <a:endParaRPr lang="en-US" sz="2000" b="1" spc="-25" dirty="0">
              <a:solidFill>
                <a:srgbClr val="181A0D"/>
              </a:solidFill>
              <a:cs typeface="OAGDQN+FranklinGothic-BookItalic"/>
            </a:endParaRPr>
          </a:p>
          <a:p>
            <a:pPr>
              <a:lnSpc>
                <a:spcPts val="2258"/>
              </a:lnSpc>
            </a:pPr>
            <a:endParaRPr lang="en-US" sz="2000" spc="-25" dirty="0">
              <a:solidFill>
                <a:srgbClr val="181A0D"/>
              </a:solidFill>
              <a:cs typeface="OAGDQN+FranklinGothic-BookItalic"/>
            </a:endParaRPr>
          </a:p>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800100" lvl="1" indent="-342900">
              <a:lnSpc>
                <a:spcPts val="2258"/>
              </a:lnSpc>
              <a:buFont typeface="Arial" panose="020B0604020202020204" pitchFamily="34" charset="0"/>
              <a:buChar char="•"/>
            </a:pP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sp>
        <p:nvSpPr>
          <p:cNvPr id="6" name="object 4">
            <a:extLst>
              <a:ext uri="{FF2B5EF4-FFF2-40B4-BE49-F238E27FC236}">
                <a16:creationId xmlns:a16="http://schemas.microsoft.com/office/drawing/2014/main" id="{3AB54E8C-A2D6-6F7F-7472-2EF4711E11D4}"/>
              </a:ext>
            </a:extLst>
          </p:cNvPr>
          <p:cNvSpPr txBox="1"/>
          <p:nvPr/>
        </p:nvSpPr>
        <p:spPr>
          <a:xfrm>
            <a:off x="867913" y="1212744"/>
            <a:ext cx="2973409" cy="2372444"/>
          </a:xfrm>
          <a:prstGeom prst="rect">
            <a:avLst/>
          </a:prstGeom>
        </p:spPr>
        <p:txBody>
          <a:bodyPr vert="horz" wrap="square" lIns="0" tIns="0" rIns="0" bIns="0" rtlCol="0">
            <a:spAutoFit/>
          </a:bodyPr>
          <a:lstStyle/>
          <a:p>
            <a:pPr marL="800100" lvl="1" indent="-342900">
              <a:lnSpc>
                <a:spcPts val="2258"/>
              </a:lnSpc>
              <a:buFont typeface="Wingdings" pitchFamily="2" charset="2"/>
              <a:buChar char="Ø"/>
            </a:pPr>
            <a:endParaRPr lang="en-US" sz="2000" spc="-25" dirty="0">
              <a:solidFill>
                <a:srgbClr val="181A0D"/>
              </a:solidFill>
              <a:cs typeface="OAGDQN+FranklinGothic-BookItalic"/>
            </a:endParaRPr>
          </a:p>
          <a:p>
            <a:pPr marL="342900" indent="-342900">
              <a:buFont typeface="Wingdings" pitchFamily="2" charset="2"/>
              <a:buChar char="q"/>
            </a:pPr>
            <a:r>
              <a:rPr lang="en-US" sz="2000" dirty="0"/>
              <a:t>XXXXX</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Ø"/>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a:p>
        </p:txBody>
      </p:sp>
      <p:sp>
        <p:nvSpPr>
          <p:cNvPr id="3" name="object 3"/>
          <p:cNvSpPr txBox="1"/>
          <p:nvPr/>
        </p:nvSpPr>
        <p:spPr>
          <a:xfrm>
            <a:off x="1343472" y="260648"/>
            <a:ext cx="2704871" cy="641201"/>
          </a:xfrm>
          <a:prstGeom prst="rect">
            <a:avLst/>
          </a:prstGeom>
        </p:spPr>
        <p:txBody>
          <a:bodyPr vert="horz" wrap="square" lIns="0" tIns="0" rIns="0" bIns="0" rtlCol="0">
            <a:spAutoFit/>
          </a:bodyPr>
          <a:lstStyle/>
          <a:p>
            <a:pPr marL="0" marR="0">
              <a:lnSpc>
                <a:spcPts val="4979"/>
              </a:lnSpc>
              <a:spcBef>
                <a:spcPts val="0"/>
              </a:spcBef>
              <a:spcAft>
                <a:spcPts val="0"/>
              </a:spcAft>
            </a:pPr>
            <a:r>
              <a:rPr lang="en-US" sz="4400" dirty="0">
                <a:solidFill>
                  <a:srgbClr val="181A0D"/>
                </a:solidFill>
                <a:cs typeface="LVLFDH+FranklinGothic-Book"/>
              </a:rPr>
              <a:t>Conclusions</a:t>
            </a:r>
            <a:endParaRPr sz="4400" dirty="0">
              <a:solidFill>
                <a:srgbClr val="181A0D"/>
              </a:solidFill>
              <a:cs typeface="LVLFDH+FranklinGothic-Book"/>
            </a:endParaRPr>
          </a:p>
        </p:txBody>
      </p:sp>
      <p:sp>
        <p:nvSpPr>
          <p:cNvPr id="5" name="object 4">
            <a:extLst>
              <a:ext uri="{FF2B5EF4-FFF2-40B4-BE49-F238E27FC236}">
                <a16:creationId xmlns:a16="http://schemas.microsoft.com/office/drawing/2014/main" id="{CAB99B72-60A9-3C59-378B-AECE9E804BCF}"/>
              </a:ext>
            </a:extLst>
          </p:cNvPr>
          <p:cNvSpPr txBox="1"/>
          <p:nvPr/>
        </p:nvSpPr>
        <p:spPr>
          <a:xfrm>
            <a:off x="1127448" y="1132209"/>
            <a:ext cx="10297144" cy="4716676"/>
          </a:xfrm>
          <a:prstGeom prst="rect">
            <a:avLst/>
          </a:prstGeom>
        </p:spPr>
        <p:txBody>
          <a:bodyPr vert="horz" wrap="square" lIns="0" tIns="0" rIns="0" bIns="0" rtlCol="0">
            <a:spAutoFit/>
          </a:bodyPr>
          <a:lstStyle/>
          <a:p>
            <a:pPr marL="342900" indent="-342900">
              <a:lnSpc>
                <a:spcPts val="2258"/>
              </a:lnSpc>
              <a:buFont typeface="Wingdings" pitchFamily="2" charset="2"/>
              <a:buChar char="q"/>
            </a:pPr>
            <a:r>
              <a:rPr lang="en-US" sz="2000" b="1" spc="-25" dirty="0">
                <a:solidFill>
                  <a:srgbClr val="181A0D"/>
                </a:solidFill>
                <a:cs typeface="OAGDQN+FranklinGothic-BookItalic"/>
              </a:rPr>
              <a:t>Expectations:</a:t>
            </a:r>
          </a:p>
          <a:p>
            <a:pPr marL="742950" lvl="1" indent="-285750">
              <a:buFont typeface="Wingdings" pitchFamily="2" charset="2"/>
              <a:buChar char="Ø"/>
            </a:pPr>
            <a:r>
              <a:rPr lang="en-US" dirty="0"/>
              <a:t>Inflammation associated with cognitive decline</a:t>
            </a:r>
          </a:p>
          <a:p>
            <a:pPr marL="742950" lvl="1" indent="-285750">
              <a:buFont typeface="Wingdings" pitchFamily="2" charset="2"/>
              <a:buChar char="Ø"/>
            </a:pPr>
            <a:r>
              <a:rPr lang="en-US" dirty="0"/>
              <a:t>Stronger effects for cortical thickness</a:t>
            </a:r>
          </a:p>
          <a:p>
            <a:pPr marL="742950" lvl="1" indent="-285750">
              <a:buFont typeface="Wingdings" pitchFamily="2" charset="2"/>
              <a:buChar char="Ø"/>
            </a:pPr>
            <a:r>
              <a:rPr lang="en-US" dirty="0"/>
              <a:t>Amyloid modifies inflammation–outcome relationship</a:t>
            </a: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buFont typeface="Wingdings" pitchFamily="2" charset="2"/>
              <a:buChar char="q"/>
            </a:pPr>
            <a:r>
              <a:rPr lang="en-US" sz="2000" b="1" dirty="0"/>
              <a:t>Limitations:</a:t>
            </a:r>
            <a:endParaRPr lang="en-US" sz="2000" dirty="0"/>
          </a:p>
          <a:p>
            <a:pPr marL="800100" lvl="1" indent="-342900">
              <a:buFont typeface="Wingdings" pitchFamily="2" charset="2"/>
              <a:buChar char="Ø"/>
            </a:pPr>
            <a:r>
              <a:rPr lang="en-US" sz="2000" dirty="0"/>
              <a:t>Small sample size (N=175)</a:t>
            </a:r>
          </a:p>
          <a:p>
            <a:pPr marL="800100" lvl="1" indent="-342900">
              <a:buFont typeface="Wingdings" pitchFamily="2" charset="2"/>
              <a:buChar char="Ø"/>
            </a:pPr>
            <a:r>
              <a:rPr lang="en-US" sz="2000" dirty="0"/>
              <a:t>Limited power for small effects</a:t>
            </a:r>
          </a:p>
          <a:p>
            <a:pPr marL="800100" lvl="1" indent="-342900">
              <a:buFont typeface="Wingdings" pitchFamily="2" charset="2"/>
              <a:buChar char="Ø"/>
            </a:pPr>
            <a:r>
              <a:rPr lang="en-US" sz="2000" dirty="0"/>
              <a:t>Interaction effects harder to detect</a:t>
            </a: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indent="-342900">
              <a:lnSpc>
                <a:spcPts val="2258"/>
              </a:lnSpc>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lang="en-US" sz="2000" spc="-25" dirty="0">
              <a:solidFill>
                <a:srgbClr val="181A0D"/>
              </a:solidFill>
              <a:cs typeface="OAGDQN+FranklinGothic-BookItalic"/>
            </a:endParaRPr>
          </a:p>
          <a:p>
            <a:pPr marL="342900" marR="0" indent="-342900">
              <a:lnSpc>
                <a:spcPts val="2258"/>
              </a:lnSpc>
              <a:spcBef>
                <a:spcPts val="0"/>
              </a:spcBef>
              <a:spcAft>
                <a:spcPts val="0"/>
              </a:spcAft>
              <a:buFont typeface="Wingdings" pitchFamily="2" charset="2"/>
              <a:buChar char="q"/>
            </a:pPr>
            <a:endParaRPr sz="2000" spc="-25" dirty="0">
              <a:solidFill>
                <a:srgbClr val="181A0D"/>
              </a:solidFill>
              <a:cs typeface="OAGDQN+FranklinGothic-BookItalic"/>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1"/>
          <p:cNvSpPr/>
          <p:nvPr/>
        </p:nvSpPr>
        <p:spPr>
          <a:xfrm>
            <a:off x="0" y="0"/>
            <a:ext cx="12192000" cy="6858000"/>
          </a:xfrm>
          <a:prstGeom prst="rect">
            <a:avLst/>
          </a:prstGeom>
          <a:blipFill>
            <a:blip r:embed="rId3" cstate="print"/>
            <a:stretch>
              <a:fillRect/>
            </a:stretch>
          </a:blipFill>
        </p:spPr>
        <p:txBody>
          <a:bodyPr wrap="square" lIns="0" tIns="0" rIns="0" bIns="0" rtlCol="0">
            <a:spAutoFit/>
          </a:bodyPr>
          <a:lstStyle/>
          <a:p>
            <a:endParaRPr dirty="0"/>
          </a:p>
        </p:txBody>
      </p:sp>
      <p:sp>
        <p:nvSpPr>
          <p:cNvPr id="3" name="object 3"/>
          <p:cNvSpPr txBox="1"/>
          <p:nvPr/>
        </p:nvSpPr>
        <p:spPr>
          <a:xfrm>
            <a:off x="1199456" y="133760"/>
            <a:ext cx="5976664" cy="641201"/>
          </a:xfrm>
          <a:prstGeom prst="rect">
            <a:avLst/>
          </a:prstGeom>
        </p:spPr>
        <p:txBody>
          <a:bodyPr vert="horz" wrap="square" lIns="0" tIns="0" rIns="0" bIns="0" rtlCol="0">
            <a:spAutoFit/>
          </a:bodyPr>
          <a:lstStyle/>
          <a:p>
            <a:pPr marL="0" marR="0">
              <a:lnSpc>
                <a:spcPts val="4979"/>
              </a:lnSpc>
              <a:spcBef>
                <a:spcPts val="0"/>
              </a:spcBef>
              <a:spcAft>
                <a:spcPts val="0"/>
              </a:spcAft>
            </a:pPr>
            <a:r>
              <a:rPr lang="en-US" sz="4400" spc="-19" dirty="0">
                <a:solidFill>
                  <a:srgbClr val="181A0D"/>
                </a:solidFill>
                <a:cs typeface="NOOILK+FranklinGothic-Book"/>
              </a:rPr>
              <a:t>Outcomes &amp; Exposures</a:t>
            </a:r>
            <a:endParaRPr sz="4400" spc="-19" dirty="0">
              <a:solidFill>
                <a:srgbClr val="181A0D"/>
              </a:solidFill>
              <a:cs typeface="NOOILK+FranklinGothic-Book"/>
            </a:endParaRPr>
          </a:p>
        </p:txBody>
      </p:sp>
      <p:sp>
        <p:nvSpPr>
          <p:cNvPr id="13" name="TextBox 12">
            <a:extLst>
              <a:ext uri="{FF2B5EF4-FFF2-40B4-BE49-F238E27FC236}">
                <a16:creationId xmlns:a16="http://schemas.microsoft.com/office/drawing/2014/main" id="{2F490F4B-F9EE-36A8-DC87-2A09F4C4F2EF}"/>
              </a:ext>
            </a:extLst>
          </p:cNvPr>
          <p:cNvSpPr txBox="1"/>
          <p:nvPr/>
        </p:nvSpPr>
        <p:spPr>
          <a:xfrm>
            <a:off x="839416" y="1124744"/>
            <a:ext cx="8185212" cy="4095993"/>
          </a:xfrm>
          <a:prstGeom prst="rect">
            <a:avLst/>
          </a:prstGeom>
          <a:noFill/>
        </p:spPr>
        <p:txBody>
          <a:bodyPr wrap="square">
            <a:spAutoFit/>
          </a:bodyPr>
          <a:lstStyle/>
          <a:p>
            <a:pPr>
              <a:lnSpc>
                <a:spcPts val="2258"/>
              </a:lnSpc>
            </a:pPr>
            <a:r>
              <a:rPr lang="en-US" b="1" dirty="0">
                <a:solidFill>
                  <a:srgbClr val="181A0D"/>
                </a:solidFill>
              </a:rPr>
              <a:t>Outcomes (1-yr </a:t>
            </a:r>
            <a:r>
              <a:rPr lang="el-GR" b="1" dirty="0">
                <a:solidFill>
                  <a:srgbClr val="181A0D"/>
                </a:solidFill>
              </a:rPr>
              <a:t>Δ</a:t>
            </a:r>
            <a:r>
              <a:rPr lang="en-US" b="1" dirty="0">
                <a:solidFill>
                  <a:srgbClr val="181A0D"/>
                </a:solidFill>
              </a:rPr>
              <a:t>; baseline-1-yr</a:t>
            </a:r>
            <a:r>
              <a:rPr lang="el-GR" b="1" dirty="0">
                <a:solidFill>
                  <a:srgbClr val="181A0D"/>
                </a:solidFill>
              </a:rPr>
              <a:t>)</a:t>
            </a:r>
            <a:r>
              <a:rPr lang="en-US" b="1" dirty="0">
                <a:solidFill>
                  <a:srgbClr val="181A0D"/>
                </a:solidFill>
              </a:rPr>
              <a:t>:</a:t>
            </a:r>
          </a:p>
          <a:p>
            <a:pPr marL="285750" indent="-285750">
              <a:buFont typeface="Wingdings" pitchFamily="2" charset="2"/>
              <a:buChar char="q"/>
            </a:pPr>
            <a:r>
              <a:rPr lang="en-US" dirty="0"/>
              <a:t>Cognitive: CVLT, Benson, MST, Store Recall</a:t>
            </a:r>
          </a:p>
          <a:p>
            <a:pPr marL="285750" indent="-285750">
              <a:buFont typeface="Wingdings" pitchFamily="2" charset="2"/>
              <a:buChar char="q"/>
            </a:pPr>
            <a:r>
              <a:rPr lang="en-US" dirty="0"/>
              <a:t>Brain structure: cortical thickness</a:t>
            </a:r>
          </a:p>
          <a:p>
            <a:pPr lvl="1">
              <a:lnSpc>
                <a:spcPts val="2258"/>
              </a:lnSpc>
            </a:pPr>
            <a:endParaRPr lang="en-US" dirty="0">
              <a:solidFill>
                <a:srgbClr val="181A0D"/>
              </a:solidFill>
            </a:endParaRPr>
          </a:p>
          <a:p>
            <a:r>
              <a:rPr lang="en-US" b="1" dirty="0"/>
              <a:t>Exposures:</a:t>
            </a:r>
            <a:endParaRPr lang="en-US" dirty="0"/>
          </a:p>
          <a:p>
            <a:pPr marL="285750" indent="-285750">
              <a:buFont typeface="Wingdings" pitchFamily="2" charset="2"/>
              <a:buChar char="q"/>
            </a:pPr>
            <a:r>
              <a:rPr lang="en-US" dirty="0"/>
              <a:t>Baseline inflammation (IL-6, TNF-</a:t>
            </a:r>
            <a:r>
              <a:rPr lang="el-GR" dirty="0"/>
              <a:t>α, </a:t>
            </a:r>
            <a:r>
              <a:rPr lang="en-US" dirty="0"/>
              <a:t>MCP-1, Eotaxin-1)</a:t>
            </a:r>
          </a:p>
          <a:p>
            <a:pPr marL="285750" indent="-285750">
              <a:buFont typeface="Wingdings" pitchFamily="2" charset="2"/>
              <a:buChar char="q"/>
            </a:pPr>
            <a:r>
              <a:rPr lang="en-US" dirty="0"/>
              <a:t>Change in inflammation (baseline → 1 year)</a:t>
            </a:r>
          </a:p>
          <a:p>
            <a:pPr marL="285750" indent="-285750">
              <a:buFont typeface="Wingdings" pitchFamily="2" charset="2"/>
              <a:buChar char="q"/>
            </a:pPr>
            <a:r>
              <a:rPr lang="en-US" dirty="0"/>
              <a:t>Baseline amyloid (binary) * baseline inflammation (continuous)</a:t>
            </a:r>
          </a:p>
          <a:p>
            <a:pPr lvl="1">
              <a:lnSpc>
                <a:spcPts val="2258"/>
              </a:lnSpc>
            </a:pPr>
            <a:endParaRPr lang="en-US" dirty="0">
              <a:solidFill>
                <a:srgbClr val="181A0D"/>
              </a:solidFill>
              <a:cs typeface="OAGDQN+FranklinGothic-BookItalic"/>
            </a:endParaRPr>
          </a:p>
          <a:p>
            <a:pPr marL="742950" lvl="1" indent="-285750">
              <a:buFont typeface="Wingdings" pitchFamily="2" charset="2"/>
              <a:buChar char="Ø"/>
            </a:pPr>
            <a:endParaRPr lang="en-US" dirty="0"/>
          </a:p>
          <a:p>
            <a:pPr marL="285750" indent="-285750">
              <a:buFont typeface="Wingdings" pitchFamily="2" charset="2"/>
              <a:buChar char="Ø"/>
            </a:pPr>
            <a:endParaRPr lang="en-US" dirty="0"/>
          </a:p>
          <a:p>
            <a:pPr marL="285750" indent="-285750">
              <a:buFont typeface="Wingdings" pitchFamily="2" charset="2"/>
              <a:buChar char="Ø"/>
            </a:pPr>
            <a:endParaRPr lang="en-US" dirty="0"/>
          </a:p>
          <a:p>
            <a:endParaRPr lang="en-US" dirty="0">
              <a:solidFill>
                <a:srgbClr val="181A0D"/>
              </a:solidFill>
              <a:cs typeface="OAGDQN+FranklinGothic-BookItalic"/>
            </a:endParaRPr>
          </a:p>
          <a:p>
            <a:pPr marL="285750" indent="-285750">
              <a:buFont typeface="Wingdings" pitchFamily="2" charset="2"/>
              <a:buChar char="§"/>
            </a:pPr>
            <a:endParaRPr lang="en-US" dirty="0"/>
          </a:p>
        </p:txBody>
      </p:sp>
      <p:pic>
        <p:nvPicPr>
          <p:cNvPr id="4" name="Picture 3">
            <a:extLst>
              <a:ext uri="{FF2B5EF4-FFF2-40B4-BE49-F238E27FC236}">
                <a16:creationId xmlns:a16="http://schemas.microsoft.com/office/drawing/2014/main" id="{046C5995-99E2-2284-2E76-90B693ED756A}"/>
              </a:ext>
            </a:extLst>
          </p:cNvPr>
          <p:cNvPicPr>
            <a:picLocks noChangeAspect="1"/>
          </p:cNvPicPr>
          <p:nvPr/>
        </p:nvPicPr>
        <p:blipFill>
          <a:blip r:embed="rId4"/>
          <a:stretch>
            <a:fillRect/>
          </a:stretch>
        </p:blipFill>
        <p:spPr>
          <a:xfrm>
            <a:off x="1847528" y="3573016"/>
            <a:ext cx="9008325" cy="2886249"/>
          </a:xfrm>
          <a:prstGeom prst="rect">
            <a:avLst/>
          </a:prstGeom>
        </p:spPr>
      </p:pic>
    </p:spTree>
  </p:cSld>
  <p:clrMapOvr>
    <a:masterClrMapping/>
  </p:clrMapOvr>
</p:sld>
</file>

<file path=ppt/theme/theme1.xml><?xml version="1.0" encoding="utf-8"?>
<a:theme xmlns:a="http://schemas.openxmlformats.org/drawingml/2006/main" name="Theme Office">
  <a:themeElements>
    <a:clrScheme name="Standard">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tandar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10776</TotalTime>
  <Words>809</Words>
  <Application>Microsoft Macintosh PowerPoint</Application>
  <PresentationFormat>Widescreen</PresentationFormat>
  <Paragraphs>138</Paragraphs>
  <Slides>7</Slides>
  <Notes>7</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7</vt:i4>
      </vt:variant>
    </vt:vector>
  </HeadingPairs>
  <TitlesOfParts>
    <vt:vector size="20" baseType="lpstr">
      <vt:lpstr>Wingdings</vt:lpstr>
      <vt:lpstr>WPQCJM+FranklinGothic-Book</vt:lpstr>
      <vt:lpstr>VTCKGD+FranklinGothic-Book</vt:lpstr>
      <vt:lpstr>LVLFDH+FranklinGothic-Book</vt:lpstr>
      <vt:lpstr>OAGDQN+FranklinGothic-BookItalic</vt:lpstr>
      <vt:lpstr>GEHAIV+FranklinGothic-Book</vt:lpstr>
      <vt:lpstr>Arial</vt:lpstr>
      <vt:lpstr>NOOILK+FranklinGothic-Book</vt:lpstr>
      <vt:lpstr>Aptos</vt:lpstr>
      <vt:lpstr>Calibri</vt:lpstr>
      <vt:lpstr>MPIRPG+FranklinGothic-Book</vt:lpstr>
      <vt:lpstr>KDMFEK+FranklinGothic-Book</vt:lpstr>
      <vt:lpstr>Theme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PowerPoint</dc:title>
  <dc:creator>root</dc:creator>
  <cp:lastModifiedBy>Ryan Summers</cp:lastModifiedBy>
  <cp:revision>369</cp:revision>
  <dcterms:modified xsi:type="dcterms:W3CDTF">2026-03-28T04:06:44Z</dcterms:modified>
</cp:coreProperties>
</file>