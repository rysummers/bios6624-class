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0" r:id="rId2"/>
    <p:sldId id="268" r:id="rId3"/>
    <p:sldId id="263" r:id="rId4"/>
    <p:sldId id="264" r:id="rId5"/>
    <p:sldId id="265" r:id="rId6"/>
    <p:sldId id="266" r:id="rId7"/>
  </p:sldIdLst>
  <p:sldSz cx="12192000" cy="6858000"/>
  <p:notesSz cx="12192000" cy="6858000"/>
  <p:embeddedFontLst>
    <p:embeddedFont>
      <p:font typeface="GEHAIV+FranklinGothic-Book" panose="02000500000000000000" pitchFamily="2" charset="0"/>
      <p:regular r:id="rId9"/>
    </p:embeddedFont>
    <p:embeddedFont>
      <p:font typeface="KDMFEK+FranklinGothic-Book" panose="02000500000000000000" pitchFamily="2" charset="0"/>
      <p:regular r:id="rId10"/>
    </p:embeddedFont>
    <p:embeddedFont>
      <p:font typeface="LVLFDH+FranklinGothic-Book" panose="02000500000000000000" pitchFamily="2" charset="0"/>
      <p:regular r:id="rId11"/>
    </p:embeddedFont>
    <p:embeddedFont>
      <p:font typeface="MPIRPG+FranklinGothic-Book" panose="02000500000000000000" pitchFamily="2" charset="0"/>
      <p:regular r:id="rId12"/>
    </p:embeddedFont>
    <p:embeddedFont>
      <p:font typeface="OAGDQN+FranklinGothic-BookItalic" panose="02000500000000000000" pitchFamily="2" charset="0"/>
      <p:regular r:id="rId13"/>
    </p:embeddedFont>
    <p:embeddedFont>
      <p:font typeface="VTCKGD+FranklinGothic-Book" panose="02000500000000000000" pitchFamily="2" charset="0"/>
      <p:regular r:id="rId14"/>
    </p:embeddedFont>
    <p:embeddedFont>
      <p:font typeface="WPQCJM+FranklinGothic-Book" panose="020005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22"/>
    <p:restoredTop sz="73562"/>
  </p:normalViewPr>
  <p:slideViewPr>
    <p:cSldViewPr>
      <p:cViewPr varScale="1">
        <p:scale>
          <a:sx n="92" d="100"/>
          <a:sy n="92" d="100"/>
        </p:scale>
        <p:origin x="1168" y="16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60B00-F7D7-A048-9DE8-3D2F737BCA40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5A014-AA40-5B4A-A5FD-4F58A1D7A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6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0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1355-85F6-CF92-4C8F-3100CC56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B7C8D-BDAB-8FCD-FB0D-EDFDCED0C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F0FD8-6C3E-4632-2908-448E25301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B22E7-FE82-EFCF-D187-6F41357AC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25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diagram illustrates the framework used to test our hypotheses.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address these aims and hypotheses linear regression models will be fit, which will allow adjustments for covariates and testing of interactions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aim 1 models, the two exposures of interest are baseline inflammation and 1yr change in inflammation.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Aim 2, we will build upon H1a by introducing amyloid status as a binary predictor, to test whether the association between inflammation and outcomes differ by amyloid status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 adjust for baseline covariates, and sensitivity analyses were conducted to assess their role as precision or confounders or mediators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multiple testing we assumed there's 4 independent tests within each hypothesis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was based on prelim data that showed strong correlations between predictors and weak correlations between cognitive and cortical outcomes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15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Aim 1, power was estimated using correlation-based methods across a range of alpha thresholds to account for uncertainty in the number of independent tests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range of alpha was chosen based on prelim data and possibility there could be more independent tests to adjust for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optimistic alpha assumes there will be 4 independent with the most conservative at 20.</a:t>
            </a:r>
            <a:endParaRPr lang="el-G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you see the Choice of alpha didn’t have a huge impact on effect detection to achieve at least 80% power – which was within 4% of each other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that we have enough power to detect moderate associations, but smaller effects may not be detectable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35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Aim 2 and for simplicity, power was evaluated 0.0125, since Aim 1 showed that power wasn’t highly sensitive to alpha.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Here, we used a two-sample correlation approach to compare associations between amyloid-negative and amyloid-positive groups.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results showed that even in our most favorable conditions where we have equal group sizes and larger correlation differences between the groups, we would only have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Enough power at 80% to detect a moderately large effect and only gets worse as group sizes start to differ and correlation differences get smaller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27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the proposed sample size of 175 provides adequate power to detect moderate associations in Aim 1.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Aim 2, the study is powered to detect moderately large interaction effects, but smaller interaction effects may not be detected.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important because interaction effects are typically smaller than main effects, which represents a key limitation of the study.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1404" y="2636912"/>
            <a:ext cx="1072919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600" dirty="0"/>
              <a:t>The Role of Inflammation in Alzheimer’s Disease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07565" y="3861048"/>
            <a:ext cx="317687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26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dirty="0">
                <a:solidFill>
                  <a:srgbClr val="181A0D"/>
                </a:solidFill>
                <a:cs typeface="GEHAIV+FranklinGothic-Book"/>
              </a:rPr>
              <a:t>Ryan Summers</a:t>
            </a:r>
            <a:endParaRPr sz="2300" dirty="0">
              <a:solidFill>
                <a:srgbClr val="181A0D"/>
              </a:solidFill>
              <a:cs typeface="GEHAIV+FranklinGothic-Book"/>
            </a:endParaRPr>
          </a:p>
          <a:p>
            <a:pPr marL="77914" marR="0" algn="ctr">
              <a:lnSpc>
                <a:spcPts val="2612"/>
              </a:lnSpc>
              <a:spcBef>
                <a:spcPts val="459"/>
              </a:spcBef>
              <a:spcAft>
                <a:spcPts val="0"/>
              </a:spcAft>
            </a:pPr>
            <a:r>
              <a:rPr lang="en-US" sz="2300" spc="-13" dirty="0">
                <a:solidFill>
                  <a:srgbClr val="181A0D"/>
                </a:solidFill>
                <a:cs typeface="GEHAIV+FranklinGothic-Book"/>
              </a:rPr>
              <a:t>3/30/26</a:t>
            </a:r>
            <a:endParaRPr sz="2300" spc="-13" dirty="0">
              <a:solidFill>
                <a:srgbClr val="181A0D"/>
              </a:solidFill>
              <a:cs typeface="GEHAIV+FranklinGothic-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220A-E907-696F-E178-950E1349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1DE5CAE3-8C9D-5530-AE7E-1A8DEBA08D3C}"/>
              </a:ext>
            </a:extLst>
          </p:cNvPr>
          <p:cNvSpPr/>
          <p:nvPr/>
        </p:nvSpPr>
        <p:spPr>
          <a:xfrm>
            <a:off x="-17029" y="16706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D84BD69-C59D-462F-793D-BE03654A65BC}"/>
              </a:ext>
            </a:extLst>
          </p:cNvPr>
          <p:cNvSpPr txBox="1"/>
          <p:nvPr/>
        </p:nvSpPr>
        <p:spPr>
          <a:xfrm>
            <a:off x="1199456" y="181814"/>
            <a:ext cx="5065008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Study Aims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80CB9-394E-7C5A-F83C-EFCE2F949673}"/>
              </a:ext>
            </a:extLst>
          </p:cNvPr>
          <p:cNvSpPr txBox="1"/>
          <p:nvPr/>
        </p:nvSpPr>
        <p:spPr>
          <a:xfrm>
            <a:off x="1055440" y="997759"/>
            <a:ext cx="108012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Aim 1: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b="1" i="1" dirty="0"/>
              <a:t>H1a</a:t>
            </a:r>
            <a:r>
              <a:rPr lang="en-US" sz="2400" dirty="0"/>
              <a:t>: Higher baseline peripheral inflammatory marker levels will be associated with greater 1-year decline in cognitive measures and AD-signature mean cortical thickness </a:t>
            </a:r>
          </a:p>
          <a:p>
            <a:pPr lvl="1"/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b="1" i="1" dirty="0"/>
              <a:t>H1b</a:t>
            </a:r>
            <a:r>
              <a:rPr lang="en-US" sz="2400" dirty="0"/>
              <a:t>: Greater 1-year increases in peripheral inflammatory markers will be associated with greater 1-year declines in the same cognitive and cortical outcomes. </a:t>
            </a:r>
          </a:p>
          <a:p>
            <a:endParaRPr lang="en-US" sz="2800" b="1" dirty="0"/>
          </a:p>
          <a:p>
            <a:pPr lvl="0"/>
            <a:r>
              <a:rPr lang="en-US" sz="2800" b="1" dirty="0">
                <a:solidFill>
                  <a:srgbClr val="181A0D"/>
                </a:solidFill>
              </a:rPr>
              <a:t>Aim 2: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b="1" i="1" dirty="0"/>
              <a:t>H2</a:t>
            </a:r>
            <a:r>
              <a:rPr lang="en-US" sz="2400" dirty="0"/>
              <a:t>: Amyloid deposition will modify the association between inflammation markers and 1-year decline in cognitive and AD-signature cortical thickness.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413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0663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71464" y="144593"/>
            <a:ext cx="6073120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solidFill>
                  <a:srgbClr val="181A0D"/>
                </a:solidFill>
                <a:cs typeface="VTCKGD+FranklinGothic-Book"/>
              </a:rPr>
              <a:t>Analysis</a:t>
            </a:r>
            <a:endParaRPr sz="4400" dirty="0">
              <a:solidFill>
                <a:srgbClr val="181A0D"/>
              </a:solidFill>
              <a:cs typeface="VTCKGD+FranklinGothic-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2810" y="830278"/>
            <a:ext cx="3931758" cy="47628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en-US" sz="2000" b="1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Linear regression models 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Adjust for baseline outcomes + baseline covariates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Sensitivity for covariates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APOE, CDR, </a:t>
            </a:r>
            <a:r>
              <a:rPr lang="en-US" dirty="0" err="1"/>
              <a:t>etc</a:t>
            </a:r>
            <a:endParaRPr lang="en-US" dirty="0"/>
          </a:p>
          <a:p>
            <a:pPr marL="742950" lvl="1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pc="-25" dirty="0">
                <a:solidFill>
                  <a:srgbClr val="181A0D"/>
                </a:solidFill>
              </a:rPr>
              <a:t>Multiplicity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l-GR" spc="-25" dirty="0">
                <a:solidFill>
                  <a:srgbClr val="181A0D"/>
                </a:solidFill>
              </a:rPr>
              <a:t>α=0</a:t>
            </a:r>
            <a:r>
              <a:rPr lang="en-US" spc="-25" dirty="0">
                <a:solidFill>
                  <a:srgbClr val="181A0D"/>
                </a:solidFill>
              </a:rPr>
              <a:t>.05/4 independent tests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</a:rPr>
              <a:t>Outcomes (2): Cognitive &amp; Cortical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</a:rPr>
              <a:t>Predictors (2): Cytokines &amp; Chemokines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6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D03EFE-EDD0-C07F-E464-F2E189233622}"/>
              </a:ext>
            </a:extLst>
          </p:cNvPr>
          <p:cNvSpPr/>
          <p:nvPr/>
        </p:nvSpPr>
        <p:spPr>
          <a:xfrm>
            <a:off x="4970380" y="3575226"/>
            <a:ext cx="2300631" cy="117528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Baseline Inflammation</a:t>
            </a:r>
          </a:p>
          <a:p>
            <a:pPr algn="ctr"/>
            <a:r>
              <a:rPr lang="en-US" sz="1600" dirty="0"/>
              <a:t>(IL-6, TNF-</a:t>
            </a:r>
            <a:r>
              <a:rPr lang="el-GR" sz="1600" dirty="0"/>
              <a:t>α, </a:t>
            </a:r>
            <a:r>
              <a:rPr lang="en-US" sz="1600" dirty="0"/>
              <a:t>MCP-1, Eotaxin-1)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0B9C9E-87EB-A0E0-E398-49F8092A63B8}"/>
              </a:ext>
            </a:extLst>
          </p:cNvPr>
          <p:cNvSpPr/>
          <p:nvPr/>
        </p:nvSpPr>
        <p:spPr>
          <a:xfrm>
            <a:off x="9641478" y="3523210"/>
            <a:ext cx="2271889" cy="168056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1-year Change (baseline </a:t>
            </a:r>
            <a:r>
              <a:rPr lang="en-US" sz="1600" dirty="0"/>
              <a:t>→</a:t>
            </a:r>
            <a:r>
              <a:rPr lang="en-US" sz="1600" b="1" dirty="0"/>
              <a:t> 1yr):</a:t>
            </a:r>
          </a:p>
          <a:p>
            <a:r>
              <a:rPr lang="en-US" sz="1600" dirty="0"/>
              <a:t>• Cognitive Measures</a:t>
            </a:r>
          </a:p>
          <a:p>
            <a:r>
              <a:rPr lang="en-US" sz="1600" dirty="0"/>
              <a:t>• Cortical Thickness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4A8A36-5D3F-6EE0-21FC-035F29FFABE3}"/>
              </a:ext>
            </a:extLst>
          </p:cNvPr>
          <p:cNvSpPr/>
          <p:nvPr/>
        </p:nvSpPr>
        <p:spPr>
          <a:xfrm>
            <a:off x="4948802" y="5300067"/>
            <a:ext cx="2358305" cy="117528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600" b="1" dirty="0"/>
              <a:t>Δ </a:t>
            </a:r>
            <a:r>
              <a:rPr lang="en-US" sz="1600" b="1" dirty="0"/>
              <a:t>Inflammation</a:t>
            </a:r>
          </a:p>
          <a:p>
            <a:pPr algn="ctr"/>
            <a:r>
              <a:rPr lang="en-US" sz="1600" dirty="0"/>
              <a:t>(baseline → 1yr)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FCD8E54-6586-25AA-70C3-B4033712A967}"/>
              </a:ext>
            </a:extLst>
          </p:cNvPr>
          <p:cNvSpPr/>
          <p:nvPr/>
        </p:nvSpPr>
        <p:spPr>
          <a:xfrm>
            <a:off x="6153862" y="1509069"/>
            <a:ext cx="2271890" cy="117528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Baseline Amyloid</a:t>
            </a:r>
            <a:br>
              <a:rPr lang="en-US" sz="1600" dirty="0"/>
            </a:br>
            <a:r>
              <a:rPr lang="en-US" sz="1600" dirty="0"/>
              <a:t>(Binary: Pos vs Neg)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2458F3-E75B-D45F-DC36-112CE0EC2517}"/>
              </a:ext>
            </a:extLst>
          </p:cNvPr>
          <p:cNvCxnSpPr>
            <a:cxnSpLocks/>
          </p:cNvCxnSpPr>
          <p:nvPr/>
        </p:nvCxnSpPr>
        <p:spPr>
          <a:xfrm flipV="1">
            <a:off x="7344584" y="4078680"/>
            <a:ext cx="2131739" cy="7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8AE786-096C-7A80-20E9-AFA756749D0A}"/>
              </a:ext>
            </a:extLst>
          </p:cNvPr>
          <p:cNvCxnSpPr>
            <a:cxnSpLocks/>
          </p:cNvCxnSpPr>
          <p:nvPr/>
        </p:nvCxnSpPr>
        <p:spPr>
          <a:xfrm flipV="1">
            <a:off x="7458916" y="5009946"/>
            <a:ext cx="2017407" cy="8777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B49C16-051E-D3DE-FA42-2E09C0801A5C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7289807" y="2684358"/>
            <a:ext cx="1099202" cy="1345023"/>
          </a:xfrm>
          <a:prstGeom prst="straightConnector1">
            <a:avLst/>
          </a:prstGeom>
          <a:ln w="2540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39CBB7D-0FD2-A138-82C5-C23B16C868B1}"/>
              </a:ext>
            </a:extLst>
          </p:cNvPr>
          <p:cNvSpPr txBox="1"/>
          <p:nvPr/>
        </p:nvSpPr>
        <p:spPr>
          <a:xfrm>
            <a:off x="5814004" y="3228988"/>
            <a:ext cx="534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H1a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D34680-9C81-50A5-799D-319F4D2A7184}"/>
              </a:ext>
            </a:extLst>
          </p:cNvPr>
          <p:cNvSpPr txBox="1"/>
          <p:nvPr/>
        </p:nvSpPr>
        <p:spPr>
          <a:xfrm>
            <a:off x="5853369" y="4953240"/>
            <a:ext cx="534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H1b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6074BA-5E62-5BBD-7C8D-9F554155FA4A}"/>
              </a:ext>
            </a:extLst>
          </p:cNvPr>
          <p:cNvSpPr txBox="1"/>
          <p:nvPr/>
        </p:nvSpPr>
        <p:spPr>
          <a:xfrm>
            <a:off x="6940038" y="1192296"/>
            <a:ext cx="6619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Aim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91A9B-A76A-5C73-435B-785DC6BD434C}"/>
              </a:ext>
            </a:extLst>
          </p:cNvPr>
          <p:cNvSpPr txBox="1"/>
          <p:nvPr/>
        </p:nvSpPr>
        <p:spPr>
          <a:xfrm>
            <a:off x="7779501" y="2997073"/>
            <a:ext cx="1861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Modifies H1a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EBCFE4-2667-BE03-D22E-78BF3B5D9DD1}"/>
              </a:ext>
            </a:extLst>
          </p:cNvPr>
          <p:cNvCxnSpPr>
            <a:cxnSpLocks/>
          </p:cNvCxnSpPr>
          <p:nvPr/>
        </p:nvCxnSpPr>
        <p:spPr>
          <a:xfrm>
            <a:off x="8443423" y="4061967"/>
            <a:ext cx="919422" cy="23734"/>
          </a:xfrm>
          <a:prstGeom prst="straightConnector1">
            <a:avLst/>
          </a:prstGeom>
          <a:ln w="25400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ight Brace 8">
            <a:extLst>
              <a:ext uri="{FF2B5EF4-FFF2-40B4-BE49-F238E27FC236}">
                <a16:creationId xmlns:a16="http://schemas.microsoft.com/office/drawing/2014/main" id="{3A9744E8-142B-745C-6803-1C2054EC01AF}"/>
              </a:ext>
            </a:extLst>
          </p:cNvPr>
          <p:cNvSpPr/>
          <p:nvPr/>
        </p:nvSpPr>
        <p:spPr>
          <a:xfrm rot="16200000">
            <a:off x="10554153" y="2354017"/>
            <a:ext cx="338554" cy="178921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A1AE0D-0D1D-BC9D-0313-CFFAC6BB48AE}"/>
              </a:ext>
            </a:extLst>
          </p:cNvPr>
          <p:cNvSpPr txBox="1"/>
          <p:nvPr/>
        </p:nvSpPr>
        <p:spPr>
          <a:xfrm>
            <a:off x="10092271" y="2534768"/>
            <a:ext cx="1370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Outcomes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6AD5009-AA28-5A1C-A3E8-8E080CF8B160}"/>
              </a:ext>
            </a:extLst>
          </p:cNvPr>
          <p:cNvSpPr/>
          <p:nvPr/>
        </p:nvSpPr>
        <p:spPr>
          <a:xfrm rot="16200000">
            <a:off x="6458782" y="-692142"/>
            <a:ext cx="584391" cy="3604350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ED89B0-1D70-4842-6845-4A4CA1F9C9AD}"/>
              </a:ext>
            </a:extLst>
          </p:cNvPr>
          <p:cNvSpPr txBox="1"/>
          <p:nvPr/>
        </p:nvSpPr>
        <p:spPr>
          <a:xfrm>
            <a:off x="6151284" y="424530"/>
            <a:ext cx="1309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Exposures</a:t>
            </a:r>
            <a:endParaRPr lang="en-US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2882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43230" y="52643"/>
            <a:ext cx="7657267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12" dirty="0">
                <a:solidFill>
                  <a:srgbClr val="181A0D"/>
                </a:solidFill>
                <a:cs typeface="MPIRPG+FranklinGothic-Book"/>
              </a:rPr>
              <a:t>Power – Aim 1</a:t>
            </a:r>
            <a:endParaRPr sz="4400" spc="-12" dirty="0">
              <a:solidFill>
                <a:srgbClr val="181A0D"/>
              </a:solidFill>
              <a:cs typeface="MPIRPG+FranklinGothic-Book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2FF3022D-87F7-BF6A-4366-54D58B6DC952}"/>
              </a:ext>
            </a:extLst>
          </p:cNvPr>
          <p:cNvSpPr txBox="1"/>
          <p:nvPr/>
        </p:nvSpPr>
        <p:spPr>
          <a:xfrm>
            <a:off x="949006" y="746487"/>
            <a:ext cx="4104456" cy="452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Estimated using correlation-based methods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Evaluated across multiple </a:t>
            </a:r>
            <a:r>
              <a:rPr lang="el-GR" sz="2000" dirty="0"/>
              <a:t>α </a:t>
            </a:r>
            <a:r>
              <a:rPr lang="en-US" sz="2000" dirty="0"/>
              <a:t>levels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/>
              <a:t>Minimal impact on choice of </a:t>
            </a:r>
            <a:r>
              <a:rPr lang="el-GR" sz="2000" dirty="0"/>
              <a:t>α</a:t>
            </a:r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80% power at |r| ≈ 0.25–0.29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sz="2000" dirty="0"/>
          </a:p>
          <a:p>
            <a:pPr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ABA57F-ED32-367D-2FBA-F0E8870CD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455" y="1162050"/>
            <a:ext cx="5753100" cy="4533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4166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16581" y="94413"/>
            <a:ext cx="4528479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11" dirty="0">
                <a:solidFill>
                  <a:srgbClr val="181A0D"/>
                </a:solidFill>
                <a:cs typeface="WPQCJM+FranklinGothic-Book"/>
              </a:rPr>
              <a:t>Power – Aim 2</a:t>
            </a:r>
            <a:endParaRPr sz="4400" dirty="0">
              <a:solidFill>
                <a:srgbClr val="181A0D"/>
              </a:solidFill>
              <a:cs typeface="WPQCJM+FranklinGothic-Book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135D1CCA-C085-B968-1B22-01E31F3EE6DF}"/>
              </a:ext>
            </a:extLst>
          </p:cNvPr>
          <p:cNvSpPr txBox="1"/>
          <p:nvPr/>
        </p:nvSpPr>
        <p:spPr>
          <a:xfrm>
            <a:off x="875244" y="980779"/>
            <a:ext cx="4811155" cy="442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b="1" spc="-25" dirty="0">
              <a:solidFill>
                <a:srgbClr val="181A0D"/>
              </a:solidFill>
              <a:cs typeface="OAGDQN+FranklinGothic-BookItalic"/>
            </a:endParaRPr>
          </a:p>
          <a:p>
            <a:pPr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Arial" panose="020B0604020202020204" pitchFamily="34" charset="0"/>
              <a:buChar char="•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AB54E8C-A2D6-6F7F-7472-2EF4711E11D4}"/>
              </a:ext>
            </a:extLst>
          </p:cNvPr>
          <p:cNvSpPr txBox="1"/>
          <p:nvPr/>
        </p:nvSpPr>
        <p:spPr>
          <a:xfrm>
            <a:off x="804920" y="645195"/>
            <a:ext cx="4043270" cy="3680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Estimated using two-sample correlation method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l-GR" sz="2000" dirty="0"/>
              <a:t>α</a:t>
            </a:r>
            <a:r>
              <a:rPr lang="en-US" sz="2000" dirty="0"/>
              <a:t>=0.05/4 = 0.0125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Per Aim 1</a:t>
            </a:r>
          </a:p>
          <a:p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Power driven more by difference between groups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2000" dirty="0"/>
              <a:t>80% power requires:</a:t>
            </a:r>
          </a:p>
          <a:p>
            <a:r>
              <a:rPr lang="en-US" sz="2000" dirty="0"/>
              <a:t> |r|≈ 0.55–0.75 in Amyloid+ group</a:t>
            </a: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349ABF-3C8D-ABEF-6CD1-1B3F4B50A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840" y="815861"/>
            <a:ext cx="7392398" cy="51319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7E5FBF-CC88-D168-7F28-F4BDC8D08F05}"/>
              </a:ext>
            </a:extLst>
          </p:cNvPr>
          <p:cNvSpPr/>
          <p:nvPr/>
        </p:nvSpPr>
        <p:spPr>
          <a:xfrm>
            <a:off x="5303912" y="3861048"/>
            <a:ext cx="64807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3582D8-D35D-ECF5-07C1-BF6C945C3F81}"/>
              </a:ext>
            </a:extLst>
          </p:cNvPr>
          <p:cNvSpPr txBox="1"/>
          <p:nvPr/>
        </p:nvSpPr>
        <p:spPr>
          <a:xfrm>
            <a:off x="6270570" y="4464070"/>
            <a:ext cx="1152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Most favorable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C95CEA-A05C-18DB-941F-1EE8A6F5508C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742526" y="4157319"/>
            <a:ext cx="528044" cy="44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6D0FE2F-AA88-B0DE-6C64-6D569E360815}"/>
              </a:ext>
            </a:extLst>
          </p:cNvPr>
          <p:cNvSpPr/>
          <p:nvPr/>
        </p:nvSpPr>
        <p:spPr>
          <a:xfrm>
            <a:off x="9984432" y="3212976"/>
            <a:ext cx="576064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6A98FC-2BC9-9113-BB32-489E7A04C0D9}"/>
              </a:ext>
            </a:extLst>
          </p:cNvPr>
          <p:cNvSpPr txBox="1"/>
          <p:nvPr/>
        </p:nvSpPr>
        <p:spPr>
          <a:xfrm>
            <a:off x="10001725" y="2535129"/>
            <a:ext cx="1152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Least favorable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3275D0-CDC3-A452-C71C-40A9D05171E4}"/>
              </a:ext>
            </a:extLst>
          </p:cNvPr>
          <p:cNvCxnSpPr>
            <a:cxnSpLocks/>
          </p:cNvCxnSpPr>
          <p:nvPr/>
        </p:nvCxnSpPr>
        <p:spPr>
          <a:xfrm flipH="1">
            <a:off x="10272464" y="2812128"/>
            <a:ext cx="240012" cy="380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484" y="156617"/>
            <a:ext cx="270487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solidFill>
                  <a:srgbClr val="181A0D"/>
                </a:solidFill>
                <a:cs typeface="LVLFDH+FranklinGothic-Book"/>
              </a:rPr>
              <a:t>Conclusions</a:t>
            </a:r>
            <a:endParaRPr sz="4400" dirty="0">
              <a:solidFill>
                <a:srgbClr val="181A0D"/>
              </a:solidFill>
              <a:cs typeface="LVLFDH+FranklinGothic-Book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AB99B72-60A9-3C59-378B-AECE9E804BCF}"/>
              </a:ext>
            </a:extLst>
          </p:cNvPr>
          <p:cNvSpPr txBox="1"/>
          <p:nvPr/>
        </p:nvSpPr>
        <p:spPr>
          <a:xfrm>
            <a:off x="1109484" y="864195"/>
            <a:ext cx="10297144" cy="5129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b="1" spc="-25" dirty="0">
                <a:solidFill>
                  <a:srgbClr val="181A0D"/>
                </a:solidFill>
              </a:rPr>
              <a:t>Power: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/>
              <a:t>Aim 1: Moderate effects detectable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/>
              <a:t>Aim 2: Moderate-to-large interactions detectable</a:t>
            </a:r>
          </a:p>
          <a:p>
            <a:pPr lvl="1"/>
            <a:endParaRPr lang="en-US" sz="2000" dirty="0"/>
          </a:p>
          <a:p>
            <a:pPr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b="1" dirty="0"/>
              <a:t>Limitations:</a:t>
            </a:r>
            <a:endParaRPr lang="en-US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/>
              <a:t>Limited power for small effects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/>
              <a:t>Interaction effects harder to detect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/>
              <a:t>Sample size is likely too small</a:t>
            </a:r>
          </a:p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12951</TotalTime>
  <Words>700</Words>
  <Application>Microsoft Macintosh PowerPoint</Application>
  <PresentationFormat>Widescreen</PresentationFormat>
  <Paragraphs>128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MPIRPG+FranklinGothic-Book</vt:lpstr>
      <vt:lpstr>Aptos</vt:lpstr>
      <vt:lpstr>Calibri</vt:lpstr>
      <vt:lpstr>KDMFEK+FranklinGothic-Book</vt:lpstr>
      <vt:lpstr>WPQCJM+FranklinGothic-Book</vt:lpstr>
      <vt:lpstr>Wingdings</vt:lpstr>
      <vt:lpstr>LVLFDH+FranklinGothic-Book</vt:lpstr>
      <vt:lpstr>OAGDQN+FranklinGothic-BookItalic</vt:lpstr>
      <vt:lpstr>VTCKGD+FranklinGothic-Book</vt:lpstr>
      <vt:lpstr>GEHAIV+FranklinGothic-Book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Ryan Summers</cp:lastModifiedBy>
  <cp:revision>496</cp:revision>
  <dcterms:modified xsi:type="dcterms:W3CDTF">2026-03-30T16:19:25Z</dcterms:modified>
</cp:coreProperties>
</file>