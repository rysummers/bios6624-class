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p:sldMasterIdLst>
    <p:sldMasterId id="2147483648" r:id="rId1"/>
  </p:sldMasterIdLst>
  <p:notesMasterIdLst>
    <p:notesMasterId r:id="rId11"/>
  </p:notesMasterIdLst>
  <p:sldIdLst>
    <p:sldId id="260" r:id="rId2"/>
    <p:sldId id="261" r:id="rId3"/>
    <p:sldId id="268" r:id="rId4"/>
    <p:sldId id="262" r:id="rId5"/>
    <p:sldId id="263" r:id="rId6"/>
    <p:sldId id="264" r:id="rId7"/>
    <p:sldId id="265" r:id="rId8"/>
    <p:sldId id="267" r:id="rId9"/>
    <p:sldId id="266" r:id="rId10"/>
  </p:sldIdLst>
  <p:sldSz cx="12192000" cy="6858000"/>
  <p:notesSz cx="12192000" cy="6858000"/>
  <p:embeddedFontLst>
    <p:embeddedFont>
      <p:font typeface="Cambria Math" panose="02040503050406030204" pitchFamily="18" charset="0"/>
      <p:regular r:id="rId12"/>
    </p:embeddedFont>
    <p:embeddedFont>
      <p:font typeface="GEHAIV+FranklinGothic-Book" panose="02000500000000000000" pitchFamily="2" charset="0"/>
      <p:regular r:id="rId13"/>
    </p:embeddedFont>
    <p:embeddedFont>
      <p:font typeface="KDMFEK+FranklinGothic-Book" panose="02000500000000000000" pitchFamily="2" charset="0"/>
      <p:regular r:id="rId14"/>
    </p:embeddedFont>
    <p:embeddedFont>
      <p:font typeface="LVLFDH+FranklinGothic-Book" panose="02000500000000000000" pitchFamily="2" charset="0"/>
      <p:regular r:id="rId15"/>
    </p:embeddedFont>
    <p:embeddedFont>
      <p:font typeface="MPIRPG+FranklinGothic-Book" panose="02000500000000000000" pitchFamily="2" charset="0"/>
      <p:regular r:id="rId16"/>
    </p:embeddedFont>
    <p:embeddedFont>
      <p:font typeface="NOOILK+FranklinGothic-Book" panose="02000500000000000000" pitchFamily="2" charset="0"/>
      <p:regular r:id="rId17"/>
    </p:embeddedFont>
    <p:embeddedFont>
      <p:font typeface="OAGDQN+FranklinGothic-BookItalic" panose="02000500000000000000" pitchFamily="2" charset="0"/>
      <p:regular r:id="rId18"/>
    </p:embeddedFont>
    <p:embeddedFont>
      <p:font typeface="VTCKGD+FranklinGothic-Book" panose="02000500000000000000" pitchFamily="2" charset="0"/>
      <p:regular r:id="rId19"/>
    </p:embeddedFont>
    <p:embeddedFont>
      <p:font typeface="WPQCJM+FranklinGothic-Book" panose="02000500000000000000" pitchFamily="2" charset="0"/>
      <p:regular r:id="rId20"/>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3168">
          <p15:clr>
            <a:srgbClr val="A4A3A4"/>
          </p15:clr>
        </p15:guide>
        <p15:guide id="2" pos="2448">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25260"/>
    <p:restoredTop sz="72647"/>
  </p:normalViewPr>
  <p:slideViewPr>
    <p:cSldViewPr>
      <p:cViewPr>
        <p:scale>
          <a:sx n="80" d="100"/>
          <a:sy n="80" d="100"/>
        </p:scale>
        <p:origin x="704" y="416"/>
      </p:cViewPr>
      <p:guideLst>
        <p:guide orient="horz" pos="3168"/>
        <p:guide pos="2448"/>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font" Target="fonts/font2.fntdata"/><Relationship Id="rId18" Type="http://schemas.openxmlformats.org/officeDocument/2006/relationships/font" Target="fonts/font7.fntdata"/><Relationship Id="rId3" Type="http://schemas.openxmlformats.org/officeDocument/2006/relationships/slide" Target="slides/slide2.xml"/><Relationship Id="rId21" Type="http://schemas.openxmlformats.org/officeDocument/2006/relationships/presProps" Target="presProps.xml"/><Relationship Id="rId7" Type="http://schemas.openxmlformats.org/officeDocument/2006/relationships/slide" Target="slides/slide6.xml"/><Relationship Id="rId12" Type="http://schemas.openxmlformats.org/officeDocument/2006/relationships/font" Target="fonts/font1.fntdata"/><Relationship Id="rId17" Type="http://schemas.openxmlformats.org/officeDocument/2006/relationships/font" Target="fonts/font6.fntdata"/><Relationship Id="rId2" Type="http://schemas.openxmlformats.org/officeDocument/2006/relationships/slide" Target="slides/slide1.xml"/><Relationship Id="rId16" Type="http://schemas.openxmlformats.org/officeDocument/2006/relationships/font" Target="fonts/font5.fntdata"/><Relationship Id="rId20" Type="http://schemas.openxmlformats.org/officeDocument/2006/relationships/font" Target="fonts/font9.fntdata"/><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notesMaster" Target="notesMasters/notesMaster1.xml"/><Relationship Id="rId24"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font" Target="fonts/font4.fntdata"/><Relationship Id="rId23"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font" Target="fonts/font8.fntdata"/><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font" Target="fonts/font3.fntdata"/><Relationship Id="rId22" Type="http://schemas.openxmlformats.org/officeDocument/2006/relationships/viewProps" Target="view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5283200" cy="3444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6905625" y="0"/>
            <a:ext cx="5283200" cy="344488"/>
          </a:xfrm>
          <a:prstGeom prst="rect">
            <a:avLst/>
          </a:prstGeom>
        </p:spPr>
        <p:txBody>
          <a:bodyPr vert="horz" lIns="91440" tIns="45720" rIns="91440" bIns="45720" rtlCol="0"/>
          <a:lstStyle>
            <a:lvl1pPr algn="r">
              <a:defRPr sz="1200"/>
            </a:lvl1pPr>
          </a:lstStyle>
          <a:p>
            <a:fld id="{C8F60B00-F7D7-A048-9DE8-3D2F737BCA40}" type="datetimeFigureOut">
              <a:rPr lang="en-US" smtClean="0"/>
              <a:t>2/27/26</a:t>
            </a:fld>
            <a:endParaRPr lang="en-US"/>
          </a:p>
        </p:txBody>
      </p:sp>
      <p:sp>
        <p:nvSpPr>
          <p:cNvPr id="4" name="Slide Image Placeholder 3"/>
          <p:cNvSpPr>
            <a:spLocks noGrp="1" noRot="1" noChangeAspect="1"/>
          </p:cNvSpPr>
          <p:nvPr>
            <p:ph type="sldImg" idx="2"/>
          </p:nvPr>
        </p:nvSpPr>
        <p:spPr>
          <a:xfrm>
            <a:off x="4038600" y="857250"/>
            <a:ext cx="4114800" cy="2314575"/>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1219200" y="3300413"/>
            <a:ext cx="9753600" cy="2700337"/>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6513513"/>
            <a:ext cx="5283200" cy="3444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6905625" y="6513513"/>
            <a:ext cx="5283200" cy="344487"/>
          </a:xfrm>
          <a:prstGeom prst="rect">
            <a:avLst/>
          </a:prstGeom>
        </p:spPr>
        <p:txBody>
          <a:bodyPr vert="horz" lIns="91440" tIns="45720" rIns="91440" bIns="45720" rtlCol="0" anchor="b"/>
          <a:lstStyle>
            <a:lvl1pPr algn="r">
              <a:defRPr sz="1200"/>
            </a:lvl1pPr>
          </a:lstStyle>
          <a:p>
            <a:fld id="{8055A014-AA40-5B4A-A5FD-4F58A1D7AE4A}" type="slidenum">
              <a:rPr lang="en-US" smtClean="0"/>
              <a:t>‹#›</a:t>
            </a:fld>
            <a:endParaRPr lang="en-US"/>
          </a:p>
        </p:txBody>
      </p:sp>
    </p:spTree>
    <p:extLst>
      <p:ext uri="{BB962C8B-B14F-4D97-AF65-F5344CB8AC3E}">
        <p14:creationId xmlns:p14="http://schemas.microsoft.com/office/powerpoint/2010/main" val="152816985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p:txBody>
      </p:sp>
      <p:sp>
        <p:nvSpPr>
          <p:cNvPr id="4" name="Slide Number Placeholder 3"/>
          <p:cNvSpPr>
            <a:spLocks noGrp="1"/>
          </p:cNvSpPr>
          <p:nvPr>
            <p:ph type="sldNum" sz="quarter" idx="5"/>
          </p:nvPr>
        </p:nvSpPr>
        <p:spPr/>
        <p:txBody>
          <a:bodyPr/>
          <a:lstStyle/>
          <a:p>
            <a:fld id="{8055A014-AA40-5B4A-A5FD-4F58A1D7AE4A}" type="slidenum">
              <a:rPr lang="en-US" smtClean="0"/>
              <a:t>1</a:t>
            </a:fld>
            <a:endParaRPr lang="en-US"/>
          </a:p>
        </p:txBody>
      </p:sp>
    </p:spTree>
    <p:extLst>
      <p:ext uri="{BB962C8B-B14F-4D97-AF65-F5344CB8AC3E}">
        <p14:creationId xmlns:p14="http://schemas.microsoft.com/office/powerpoint/2010/main" val="72000848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kern="1200" dirty="0">
                <a:solidFill>
                  <a:schemeClr val="tx1"/>
                </a:solidFill>
                <a:effectLst/>
                <a:latin typeface="+mn-lt"/>
                <a:ea typeface="+mn-ea"/>
                <a:cs typeface="+mn-cs"/>
              </a:rPr>
              <a:t>The primary objective of this project was to determine whether baseline hard drug use was associated with differences in treatment response two years after initiating HAART.</a:t>
            </a:r>
          </a:p>
          <a:p>
            <a:endParaRPr lang="en-US" sz="1200" kern="1200" dirty="0">
              <a:solidFill>
                <a:schemeClr val="tx1"/>
              </a:solidFill>
              <a:effectLst/>
              <a:latin typeface="+mn-lt"/>
              <a:ea typeface="+mn-ea"/>
              <a:cs typeface="+mn-cs"/>
            </a:endParaRPr>
          </a:p>
          <a:p>
            <a:r>
              <a:rPr lang="en-US" sz="1200" kern="1200" dirty="0">
                <a:solidFill>
                  <a:schemeClr val="tx1"/>
                </a:solidFill>
                <a:effectLst/>
                <a:latin typeface="+mn-lt"/>
                <a:ea typeface="+mn-ea"/>
                <a:cs typeface="+mn-cs"/>
              </a:rPr>
              <a:t>First question is addressing whether there will be decrease in viral load and an increase in CD4 counts at year-2 check up.</a:t>
            </a:r>
          </a:p>
          <a:p>
            <a:pPr marL="171450" indent="-171450">
              <a:buFont typeface="Arial" panose="020B0604020202020204" pitchFamily="34" charset="0"/>
              <a:buChar char="•"/>
            </a:pPr>
            <a:r>
              <a:rPr lang="en-US" sz="1200" kern="1200" dirty="0">
                <a:solidFill>
                  <a:schemeClr val="tx1"/>
                </a:solidFill>
                <a:effectLst/>
                <a:latin typeface="+mn-lt"/>
                <a:ea typeface="+mn-ea"/>
                <a:cs typeface="+mn-cs"/>
              </a:rPr>
              <a:t>Its hypothesized that Year 2 viral load will be higher among hard drug users as compared to non-users and CD4 counts lower</a:t>
            </a:r>
          </a:p>
          <a:p>
            <a:br>
              <a:rPr lang="en-US" sz="1200" kern="1200" dirty="0">
                <a:solidFill>
                  <a:schemeClr val="tx1"/>
                </a:solidFill>
                <a:effectLst/>
                <a:latin typeface="+mn-lt"/>
                <a:ea typeface="+mn-ea"/>
                <a:cs typeface="+mn-cs"/>
              </a:rPr>
            </a:br>
            <a:r>
              <a:rPr lang="en-US" sz="1200" kern="1200" dirty="0">
                <a:solidFill>
                  <a:schemeClr val="tx1"/>
                </a:solidFill>
                <a:effectLst/>
                <a:latin typeface="+mn-lt"/>
                <a:ea typeface="+mn-ea"/>
                <a:cs typeface="+mn-cs"/>
              </a:rPr>
              <a:t>Second question is looking at physical and mental QOL metrics.</a:t>
            </a:r>
          </a:p>
          <a:p>
            <a:pPr marL="171450" indent="-171450">
              <a:buFont typeface="Arial" panose="020B0604020202020204" pitchFamily="34" charset="0"/>
              <a:buChar char="•"/>
            </a:pPr>
            <a:r>
              <a:rPr lang="en-US" sz="1200" kern="1200" dirty="0">
                <a:solidFill>
                  <a:schemeClr val="tx1"/>
                </a:solidFill>
                <a:effectLst/>
                <a:latin typeface="+mn-lt"/>
                <a:ea typeface="+mn-ea"/>
                <a:cs typeface="+mn-cs"/>
              </a:rPr>
              <a:t>Hypothesis is addressing any differences between hard drug users and non-users</a:t>
            </a:r>
          </a:p>
          <a:p>
            <a:br>
              <a:rPr lang="en-US" sz="1200" kern="1200" dirty="0">
                <a:solidFill>
                  <a:schemeClr val="tx1"/>
                </a:solidFill>
                <a:effectLst/>
                <a:latin typeface="+mn-lt"/>
                <a:ea typeface="+mn-ea"/>
                <a:cs typeface="+mn-cs"/>
              </a:rPr>
            </a:br>
            <a:r>
              <a:rPr lang="en-US" sz="1200" kern="1200" dirty="0">
                <a:solidFill>
                  <a:schemeClr val="tx1"/>
                </a:solidFill>
                <a:effectLst/>
                <a:latin typeface="+mn-lt"/>
                <a:ea typeface="+mn-ea"/>
                <a:cs typeface="+mn-cs"/>
              </a:rPr>
              <a:t>Third question is determining adherence mediates the association between hard drug use and year-2 outcomes</a:t>
            </a:r>
          </a:p>
          <a:p>
            <a:endParaRPr lang="en-US" sz="1200" kern="1200" dirty="0">
              <a:solidFill>
                <a:schemeClr val="tx1"/>
              </a:solidFill>
              <a:effectLst/>
              <a:latin typeface="+mn-lt"/>
              <a:ea typeface="+mn-ea"/>
              <a:cs typeface="+mn-cs"/>
            </a:endParaRPr>
          </a:p>
          <a:p>
            <a:r>
              <a:rPr lang="en-US" sz="1200" kern="1200" dirty="0">
                <a:solidFill>
                  <a:schemeClr val="tx1"/>
                </a:solidFill>
                <a:effectLst/>
                <a:latin typeface="+mn-lt"/>
                <a:ea typeface="+mn-ea"/>
                <a:cs typeface="+mn-cs"/>
              </a:rPr>
              <a:t>Lastly, we are determining if there is a difference in drop out rates between users and non-users</a:t>
            </a:r>
            <a:endParaRPr lang="en-US" dirty="0"/>
          </a:p>
        </p:txBody>
      </p:sp>
      <p:sp>
        <p:nvSpPr>
          <p:cNvPr id="4" name="Slide Number Placeholder 3"/>
          <p:cNvSpPr>
            <a:spLocks noGrp="1"/>
          </p:cNvSpPr>
          <p:nvPr>
            <p:ph type="sldNum" sz="quarter" idx="5"/>
          </p:nvPr>
        </p:nvSpPr>
        <p:spPr/>
        <p:txBody>
          <a:bodyPr/>
          <a:lstStyle/>
          <a:p>
            <a:fld id="{8055A014-AA40-5B4A-A5FD-4F58A1D7AE4A}" type="slidenum">
              <a:rPr lang="en-US" smtClean="0"/>
              <a:t>2</a:t>
            </a:fld>
            <a:endParaRPr lang="en-US"/>
          </a:p>
        </p:txBody>
      </p:sp>
    </p:spTree>
    <p:extLst>
      <p:ext uri="{BB962C8B-B14F-4D97-AF65-F5344CB8AC3E}">
        <p14:creationId xmlns:p14="http://schemas.microsoft.com/office/powerpoint/2010/main" val="246961265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2571355-85F6-CF92-4C8F-3100CC56C27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55B7C8D-BDAB-8FCD-FB0D-EDFDCED0C7F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6BF0FD8-6C3E-4632-2908-448E25301190}"/>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kern="1200" dirty="0">
                <a:solidFill>
                  <a:schemeClr val="tx1"/>
                </a:solidFill>
                <a:effectLst/>
                <a:latin typeface="+mn-lt"/>
                <a:ea typeface="+mn-ea"/>
                <a:cs typeface="+mn-cs"/>
              </a:rPr>
              <a:t>The primary research question was whether baseline hard drug use was associated with differences in treatment response two years after initiating HAART</a:t>
            </a:r>
          </a:p>
          <a:p>
            <a:endParaRPr lang="en-US" sz="1200" kern="1200" dirty="0">
              <a:solidFill>
                <a:schemeClr val="tx1"/>
              </a:solidFill>
              <a:effectLst/>
              <a:latin typeface="+mn-lt"/>
              <a:ea typeface="+mn-ea"/>
              <a:cs typeface="+mn-cs"/>
            </a:endParaRPr>
          </a:p>
          <a:p>
            <a:r>
              <a:rPr lang="en-US" sz="1200" kern="1200" dirty="0">
                <a:solidFill>
                  <a:schemeClr val="tx1"/>
                </a:solidFill>
                <a:effectLst/>
                <a:latin typeface="+mn-lt"/>
                <a:ea typeface="+mn-ea"/>
                <a:cs typeface="+mn-cs"/>
              </a:rPr>
              <a:t>Secondary objectives are to test whether adherence mediates the association between hard drug use and year-2 outcomes </a:t>
            </a:r>
          </a:p>
          <a:p>
            <a:endParaRPr lang="en-US" sz="1200" kern="1200" dirty="0">
              <a:solidFill>
                <a:schemeClr val="tx1"/>
              </a:solidFill>
              <a:effectLst/>
              <a:latin typeface="+mn-lt"/>
              <a:ea typeface="+mn-ea"/>
              <a:cs typeface="+mn-cs"/>
            </a:endParaRPr>
          </a:p>
          <a:p>
            <a:r>
              <a:rPr lang="en-US" sz="1200" kern="1200" dirty="0">
                <a:solidFill>
                  <a:schemeClr val="tx1"/>
                </a:solidFill>
                <a:effectLst/>
                <a:latin typeface="+mn-lt"/>
                <a:ea typeface="+mn-ea"/>
                <a:cs typeface="+mn-cs"/>
              </a:rPr>
              <a:t>And to evaluate whether dropout rates differ between hard drug users and non-user</a:t>
            </a:r>
          </a:p>
          <a:p>
            <a:endParaRPr lang="en-US" sz="1200" kern="1200" dirty="0">
              <a:solidFill>
                <a:schemeClr val="tx1"/>
              </a:solidFill>
              <a:effectLst/>
              <a:latin typeface="+mn-lt"/>
              <a:ea typeface="+mn-ea"/>
              <a:cs typeface="+mn-cs"/>
            </a:endParaRPr>
          </a:p>
          <a:p>
            <a:endParaRPr lang="en-US" dirty="0"/>
          </a:p>
        </p:txBody>
      </p:sp>
      <p:sp>
        <p:nvSpPr>
          <p:cNvPr id="4" name="Slide Number Placeholder 3">
            <a:extLst>
              <a:ext uri="{FF2B5EF4-FFF2-40B4-BE49-F238E27FC236}">
                <a16:creationId xmlns:a16="http://schemas.microsoft.com/office/drawing/2014/main" id="{759B22E7-FE82-EFCF-D187-6F41357AC3B4}"/>
              </a:ext>
            </a:extLst>
          </p:cNvPr>
          <p:cNvSpPr>
            <a:spLocks noGrp="1"/>
          </p:cNvSpPr>
          <p:nvPr>
            <p:ph type="sldNum" sz="quarter" idx="5"/>
          </p:nvPr>
        </p:nvSpPr>
        <p:spPr/>
        <p:txBody>
          <a:bodyPr/>
          <a:lstStyle/>
          <a:p>
            <a:fld id="{8055A014-AA40-5B4A-A5FD-4F58A1D7AE4A}" type="slidenum">
              <a:rPr lang="en-US" smtClean="0"/>
              <a:t>3</a:t>
            </a:fld>
            <a:endParaRPr lang="en-US"/>
          </a:p>
        </p:txBody>
      </p:sp>
    </p:spTree>
    <p:extLst>
      <p:ext uri="{BB962C8B-B14F-4D97-AF65-F5344CB8AC3E}">
        <p14:creationId xmlns:p14="http://schemas.microsoft.com/office/powerpoint/2010/main" val="1415825667"/>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kern="1200" dirty="0">
                <a:solidFill>
                  <a:schemeClr val="tx1"/>
                </a:solidFill>
                <a:effectLst/>
                <a:latin typeface="+mn-lt"/>
                <a:ea typeface="+mn-ea"/>
                <a:cs typeface="+mn-cs"/>
              </a:rPr>
              <a:t>The initial dataset contained 715 HIV-infected men initiating HAART from the MAC study.</a:t>
            </a:r>
          </a:p>
          <a:p>
            <a:br>
              <a:rPr lang="en-US" sz="1200" kern="1200" dirty="0">
                <a:solidFill>
                  <a:schemeClr val="tx1"/>
                </a:solidFill>
                <a:effectLst/>
                <a:latin typeface="+mn-lt"/>
                <a:ea typeface="+mn-ea"/>
                <a:cs typeface="+mn-cs"/>
              </a:rPr>
            </a:br>
            <a:r>
              <a:rPr lang="en-US" sz="1200" kern="1200" dirty="0">
                <a:solidFill>
                  <a:schemeClr val="tx1"/>
                </a:solidFill>
                <a:effectLst/>
                <a:latin typeface="+mn-lt"/>
                <a:ea typeface="+mn-ea"/>
                <a:cs typeface="+mn-cs"/>
              </a:rPr>
              <a:t>Of these, 463 had complete baseline and Year 2 data and were included in all regression analyses.</a:t>
            </a:r>
          </a:p>
          <a:p>
            <a:br>
              <a:rPr lang="en-US" sz="1200" kern="1200" dirty="0">
                <a:solidFill>
                  <a:schemeClr val="tx1"/>
                </a:solidFill>
                <a:effectLst/>
                <a:latin typeface="+mn-lt"/>
                <a:ea typeface="+mn-ea"/>
                <a:cs typeface="+mn-cs"/>
              </a:rPr>
            </a:br>
            <a:r>
              <a:rPr lang="en-US" sz="1200" kern="1200" dirty="0">
                <a:solidFill>
                  <a:schemeClr val="tx1"/>
                </a:solidFill>
                <a:effectLst/>
                <a:latin typeface="+mn-lt"/>
                <a:ea typeface="+mn-ea"/>
                <a:cs typeface="+mn-cs"/>
              </a:rPr>
              <a:t>Viral load was log10-transformed due to skewness, while CD4 and QOL measures were analyzed on their original scales.</a:t>
            </a:r>
          </a:p>
          <a:p>
            <a:br>
              <a:rPr lang="en-US" sz="1200" kern="1200" dirty="0">
                <a:solidFill>
                  <a:schemeClr val="tx1"/>
                </a:solidFill>
                <a:effectLst/>
                <a:latin typeface="+mn-lt"/>
                <a:ea typeface="+mn-ea"/>
                <a:cs typeface="+mn-cs"/>
              </a:rPr>
            </a:br>
            <a:r>
              <a:rPr lang="en-US" sz="1200" kern="1200" dirty="0">
                <a:solidFill>
                  <a:schemeClr val="tx1"/>
                </a:solidFill>
                <a:effectLst/>
                <a:latin typeface="+mn-lt"/>
                <a:ea typeface="+mn-ea"/>
                <a:cs typeface="+mn-cs"/>
              </a:rPr>
              <a:t>Hard drug use and adherence were both coded as binary variables.</a:t>
            </a:r>
          </a:p>
          <a:p>
            <a:pPr marL="171450" indent="-171450">
              <a:buFont typeface="Arial" panose="020B0604020202020204" pitchFamily="34" charset="0"/>
              <a:buChar char="•"/>
            </a:pPr>
            <a:r>
              <a:rPr lang="en-US" sz="1200" kern="1200" dirty="0">
                <a:solidFill>
                  <a:schemeClr val="tx1"/>
                </a:solidFill>
                <a:effectLst/>
                <a:latin typeface="+mn-lt"/>
                <a:ea typeface="+mn-ea"/>
                <a:cs typeface="+mn-cs"/>
              </a:rPr>
              <a:t>All but one of the hard drug users had adherence below 95%</a:t>
            </a:r>
          </a:p>
          <a:p>
            <a:br>
              <a:rPr lang="en-US" sz="1200" kern="1200" dirty="0">
                <a:solidFill>
                  <a:schemeClr val="tx1"/>
                </a:solidFill>
                <a:effectLst/>
                <a:latin typeface="+mn-lt"/>
                <a:ea typeface="+mn-ea"/>
                <a:cs typeface="+mn-cs"/>
              </a:rPr>
            </a:br>
            <a:r>
              <a:rPr lang="en-US" sz="1200" kern="1200" dirty="0">
                <a:solidFill>
                  <a:schemeClr val="tx1"/>
                </a:solidFill>
                <a:effectLst/>
                <a:latin typeface="+mn-lt"/>
                <a:ea typeface="+mn-ea"/>
                <a:cs typeface="+mn-cs"/>
              </a:rPr>
              <a:t>At Baseline hard drug users reported lower physical and mental QOL scores and lower CD4 counts compared with non-users. Viral load and other </a:t>
            </a:r>
            <a:r>
              <a:rPr lang="en-US" sz="1200" kern="1200" dirty="0" err="1">
                <a:solidFill>
                  <a:schemeClr val="tx1"/>
                </a:solidFill>
                <a:effectLst/>
                <a:latin typeface="+mn-lt"/>
                <a:ea typeface="+mn-ea"/>
                <a:cs typeface="+mn-cs"/>
              </a:rPr>
              <a:t>covriate</a:t>
            </a:r>
            <a:r>
              <a:rPr lang="en-US" sz="1200" kern="1200" dirty="0">
                <a:solidFill>
                  <a:schemeClr val="tx1"/>
                </a:solidFill>
                <a:effectLst/>
                <a:latin typeface="+mn-lt"/>
                <a:ea typeface="+mn-ea"/>
                <a:cs typeface="+mn-cs"/>
              </a:rPr>
              <a:t> distributions were similar between groups.</a:t>
            </a:r>
            <a:r>
              <a:rPr lang="en-US" dirty="0">
                <a:effectLst/>
              </a:rPr>
              <a:t> </a:t>
            </a:r>
            <a:endParaRPr lang="en-US" dirty="0"/>
          </a:p>
        </p:txBody>
      </p:sp>
      <p:sp>
        <p:nvSpPr>
          <p:cNvPr id="4" name="Slide Number Placeholder 3"/>
          <p:cNvSpPr>
            <a:spLocks noGrp="1"/>
          </p:cNvSpPr>
          <p:nvPr>
            <p:ph type="sldNum" sz="quarter" idx="5"/>
          </p:nvPr>
        </p:nvSpPr>
        <p:spPr/>
        <p:txBody>
          <a:bodyPr/>
          <a:lstStyle/>
          <a:p>
            <a:fld id="{8055A014-AA40-5B4A-A5FD-4F58A1D7AE4A}" type="slidenum">
              <a:rPr lang="en-US" smtClean="0"/>
              <a:t>4</a:t>
            </a:fld>
            <a:endParaRPr lang="en-US"/>
          </a:p>
        </p:txBody>
      </p:sp>
    </p:spTree>
    <p:extLst>
      <p:ext uri="{BB962C8B-B14F-4D97-AF65-F5344CB8AC3E}">
        <p14:creationId xmlns:p14="http://schemas.microsoft.com/office/powerpoint/2010/main" val="774045196"/>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kern="1200" dirty="0">
                <a:solidFill>
                  <a:schemeClr val="tx1"/>
                </a:solidFill>
                <a:effectLst/>
                <a:latin typeface="+mn-lt"/>
                <a:ea typeface="+mn-ea"/>
                <a:cs typeface="+mn-cs"/>
              </a:rPr>
              <a:t>First, to assess treatment response at Year 2, Bayesian regression was fitted using weakly-informative priors for each outcome</a:t>
            </a:r>
          </a:p>
          <a:p>
            <a:br>
              <a:rPr lang="en-US" sz="1200" kern="1200" dirty="0">
                <a:solidFill>
                  <a:schemeClr val="tx1"/>
                </a:solidFill>
                <a:effectLst/>
                <a:latin typeface="+mn-lt"/>
                <a:ea typeface="+mn-ea"/>
                <a:cs typeface="+mn-cs"/>
              </a:rPr>
            </a:br>
            <a:r>
              <a:rPr lang="en-US" sz="1200" kern="1200" dirty="0">
                <a:solidFill>
                  <a:schemeClr val="tx1"/>
                </a:solidFill>
                <a:effectLst/>
                <a:latin typeface="+mn-lt"/>
                <a:ea typeface="+mn-ea"/>
                <a:cs typeface="+mn-cs"/>
              </a:rPr>
              <a:t>All models adjusted for the corresponding baseline outcome value and covariates</a:t>
            </a:r>
          </a:p>
          <a:p>
            <a:br>
              <a:rPr lang="en-US" sz="1200" kern="1200" dirty="0">
                <a:solidFill>
                  <a:schemeClr val="tx1"/>
                </a:solidFill>
                <a:effectLst/>
                <a:latin typeface="+mn-lt"/>
                <a:ea typeface="+mn-ea"/>
                <a:cs typeface="+mn-cs"/>
              </a:rPr>
            </a:br>
            <a:r>
              <a:rPr lang="en-US" sz="1200" kern="1200" dirty="0">
                <a:solidFill>
                  <a:schemeClr val="tx1"/>
                </a:solidFill>
                <a:effectLst/>
                <a:latin typeface="+mn-lt"/>
                <a:ea typeface="+mn-ea"/>
                <a:cs typeface="+mn-cs"/>
              </a:rPr>
              <a:t>parallel frequentist models with identical covariate structure was also fit for comparison.</a:t>
            </a:r>
          </a:p>
          <a:p>
            <a:br>
              <a:rPr lang="en-US" sz="1200" kern="1200" dirty="0">
                <a:solidFill>
                  <a:schemeClr val="tx1"/>
                </a:solidFill>
                <a:effectLst/>
                <a:latin typeface="+mn-lt"/>
                <a:ea typeface="+mn-ea"/>
                <a:cs typeface="+mn-cs"/>
              </a:rPr>
            </a:br>
            <a:r>
              <a:rPr lang="en-US" sz="1200" kern="1200" dirty="0">
                <a:solidFill>
                  <a:schemeClr val="tx1"/>
                </a:solidFill>
                <a:effectLst/>
                <a:latin typeface="+mn-lt"/>
                <a:ea typeface="+mn-ea"/>
                <a:cs typeface="+mn-cs"/>
              </a:rPr>
              <a:t>For adherence, the variable was dichotomized into less than 95% and greater than/equal to 95%</a:t>
            </a:r>
          </a:p>
          <a:p>
            <a:r>
              <a:rPr lang="en-US" sz="1200" kern="1200" dirty="0">
                <a:solidFill>
                  <a:schemeClr val="tx1"/>
                </a:solidFill>
                <a:effectLst/>
                <a:latin typeface="+mn-lt"/>
                <a:ea typeface="+mn-ea"/>
                <a:cs typeface="+mn-cs"/>
              </a:rPr>
              <a:t>Models were compared with and without adherence to see whether including adherence meaningfully changed the estimated hard drug association.</a:t>
            </a:r>
          </a:p>
          <a:p>
            <a:br>
              <a:rPr lang="en-US" sz="1200" kern="1200" dirty="0">
                <a:solidFill>
                  <a:schemeClr val="tx1"/>
                </a:solidFill>
                <a:effectLst/>
                <a:latin typeface="+mn-lt"/>
                <a:ea typeface="+mn-ea"/>
                <a:cs typeface="+mn-cs"/>
              </a:rPr>
            </a:br>
            <a:r>
              <a:rPr lang="en-US" sz="1200" kern="1200" dirty="0">
                <a:solidFill>
                  <a:schemeClr val="tx1"/>
                </a:solidFill>
                <a:effectLst/>
                <a:latin typeface="+mn-lt"/>
                <a:ea typeface="+mn-ea"/>
                <a:cs typeface="+mn-cs"/>
              </a:rPr>
              <a:t>Finally, for analyzing drop-out rates, Baseline characteristics between participants with complete measurements and those missing Year 2 were compared using non-parametric tests and I also fit a logistic regression model using baseline outcome and covariate measures as predictors of dropout</a:t>
            </a:r>
            <a:endParaRPr lang="en-US" dirty="0"/>
          </a:p>
        </p:txBody>
      </p:sp>
      <p:sp>
        <p:nvSpPr>
          <p:cNvPr id="4" name="Slide Number Placeholder 3"/>
          <p:cNvSpPr>
            <a:spLocks noGrp="1"/>
          </p:cNvSpPr>
          <p:nvPr>
            <p:ph type="sldNum" sz="quarter" idx="5"/>
          </p:nvPr>
        </p:nvSpPr>
        <p:spPr/>
        <p:txBody>
          <a:bodyPr/>
          <a:lstStyle/>
          <a:p>
            <a:fld id="{8055A014-AA40-5B4A-A5FD-4F58A1D7AE4A}" type="slidenum">
              <a:rPr lang="en-US" smtClean="0"/>
              <a:t>5</a:t>
            </a:fld>
            <a:endParaRPr lang="en-US"/>
          </a:p>
        </p:txBody>
      </p:sp>
    </p:spTree>
    <p:extLst>
      <p:ext uri="{BB962C8B-B14F-4D97-AF65-F5344CB8AC3E}">
        <p14:creationId xmlns:p14="http://schemas.microsoft.com/office/powerpoint/2010/main" val="1144915537"/>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kern="1200" dirty="0">
                <a:solidFill>
                  <a:schemeClr val="tx1"/>
                </a:solidFill>
                <a:effectLst/>
                <a:latin typeface="+mn-lt"/>
                <a:ea typeface="+mn-ea"/>
                <a:cs typeface="+mn-cs"/>
              </a:rPr>
              <a:t>On average, hard drug users had approximately 164 fewer CD4 cells compared with non-users with a </a:t>
            </a:r>
            <a:br>
              <a:rPr lang="en-US" sz="1200" kern="1200" dirty="0">
                <a:solidFill>
                  <a:schemeClr val="tx1"/>
                </a:solidFill>
                <a:effectLst/>
                <a:latin typeface="+mn-lt"/>
                <a:ea typeface="+mn-ea"/>
                <a:cs typeface="+mn-cs"/>
              </a:rPr>
            </a:br>
            <a:r>
              <a:rPr lang="en-US" sz="1200" kern="1200" dirty="0">
                <a:solidFill>
                  <a:schemeClr val="tx1"/>
                </a:solidFill>
                <a:effectLst/>
                <a:latin typeface="+mn-lt"/>
                <a:ea typeface="+mn-ea"/>
                <a:cs typeface="+mn-cs"/>
              </a:rPr>
              <a:t>posterior probability of 99.5% that this difference exceeded the clinically meaningful threshold of 50 cells</a:t>
            </a:r>
          </a:p>
          <a:p>
            <a:br>
              <a:rPr lang="en-US" sz="1200" kern="1200" dirty="0">
                <a:solidFill>
                  <a:schemeClr val="tx1"/>
                </a:solidFill>
                <a:effectLst/>
                <a:latin typeface="+mn-lt"/>
                <a:ea typeface="+mn-ea"/>
                <a:cs typeface="+mn-cs"/>
              </a:rPr>
            </a:br>
            <a:r>
              <a:rPr lang="en-US" sz="1200" kern="1200" dirty="0">
                <a:solidFill>
                  <a:schemeClr val="tx1"/>
                </a:solidFill>
                <a:effectLst/>
                <a:latin typeface="+mn-lt"/>
                <a:ea typeface="+mn-ea"/>
                <a:cs typeface="+mn-cs"/>
              </a:rPr>
              <a:t>In contrast, we found no significant difference in viral or mental QOL scores between groups.</a:t>
            </a:r>
          </a:p>
          <a:p>
            <a:br>
              <a:rPr lang="en-US" sz="1200" kern="1200" dirty="0">
                <a:solidFill>
                  <a:schemeClr val="tx1"/>
                </a:solidFill>
                <a:effectLst/>
                <a:latin typeface="+mn-lt"/>
                <a:ea typeface="+mn-ea"/>
                <a:cs typeface="+mn-cs"/>
              </a:rPr>
            </a:br>
            <a:r>
              <a:rPr lang="en-US" sz="1200" kern="1200" dirty="0">
                <a:solidFill>
                  <a:schemeClr val="tx1"/>
                </a:solidFill>
                <a:effectLst/>
                <a:latin typeface="+mn-lt"/>
                <a:ea typeface="+mn-ea"/>
                <a:cs typeface="+mn-cs"/>
              </a:rPr>
              <a:t>Physical quality of life was also lower among hard drug users by approximately 3.3 points, and had a posterior probability of 83% that the difference exceeded the clinical threshold of 2 points</a:t>
            </a:r>
          </a:p>
          <a:p>
            <a:br>
              <a:rPr lang="en-US" sz="1200" kern="1200" dirty="0">
                <a:solidFill>
                  <a:schemeClr val="tx1"/>
                </a:solidFill>
                <a:effectLst/>
                <a:latin typeface="+mn-lt"/>
                <a:ea typeface="+mn-ea"/>
                <a:cs typeface="+mn-cs"/>
              </a:rPr>
            </a:br>
            <a:endParaRPr lang="en-US" sz="1200" kern="1200" dirty="0">
              <a:solidFill>
                <a:schemeClr val="tx1"/>
              </a:solidFill>
              <a:effectLst/>
              <a:latin typeface="+mn-lt"/>
              <a:ea typeface="+mn-ea"/>
              <a:cs typeface="+mn-cs"/>
            </a:endParaRPr>
          </a:p>
          <a:p>
            <a:endParaRPr lang="en-US" sz="1200" kern="1200" dirty="0">
              <a:solidFill>
                <a:schemeClr val="tx1"/>
              </a:solidFill>
              <a:effectLst/>
              <a:latin typeface="+mn-lt"/>
              <a:ea typeface="+mn-ea"/>
              <a:cs typeface="+mn-cs"/>
            </a:endParaRPr>
          </a:p>
        </p:txBody>
      </p:sp>
      <p:sp>
        <p:nvSpPr>
          <p:cNvPr id="4" name="Slide Number Placeholder 3"/>
          <p:cNvSpPr>
            <a:spLocks noGrp="1"/>
          </p:cNvSpPr>
          <p:nvPr>
            <p:ph type="sldNum" sz="quarter" idx="5"/>
          </p:nvPr>
        </p:nvSpPr>
        <p:spPr/>
        <p:txBody>
          <a:bodyPr/>
          <a:lstStyle/>
          <a:p>
            <a:fld id="{8055A014-AA40-5B4A-A5FD-4F58A1D7AE4A}" type="slidenum">
              <a:rPr lang="en-US" smtClean="0"/>
              <a:t>6</a:t>
            </a:fld>
            <a:endParaRPr lang="en-US"/>
          </a:p>
        </p:txBody>
      </p:sp>
    </p:spTree>
    <p:extLst>
      <p:ext uri="{BB962C8B-B14F-4D97-AF65-F5344CB8AC3E}">
        <p14:creationId xmlns:p14="http://schemas.microsoft.com/office/powerpoint/2010/main" val="826435084"/>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kern="1200" dirty="0">
                <a:solidFill>
                  <a:schemeClr val="tx1"/>
                </a:solidFill>
                <a:effectLst/>
                <a:latin typeface="+mn-lt"/>
                <a:ea typeface="+mn-ea"/>
                <a:cs typeface="+mn-cs"/>
              </a:rPr>
              <a:t>To evaluate adherence, two models were fit – one with and without the binary adherence variable</a:t>
            </a:r>
          </a:p>
          <a:p>
            <a:endParaRPr lang="en-US" sz="1200" kern="1200" dirty="0">
              <a:solidFill>
                <a:schemeClr val="tx1"/>
              </a:solidFill>
              <a:effectLst/>
              <a:latin typeface="+mn-lt"/>
              <a:ea typeface="+mn-ea"/>
              <a:cs typeface="+mn-cs"/>
            </a:endParaRPr>
          </a:p>
          <a:p>
            <a:r>
              <a:rPr lang="en-US" sz="1200" kern="1200" dirty="0">
                <a:solidFill>
                  <a:schemeClr val="tx1"/>
                </a:solidFill>
                <a:effectLst/>
                <a:latin typeface="+mn-lt"/>
                <a:ea typeface="+mn-ea"/>
                <a:cs typeface="+mn-cs"/>
              </a:rPr>
              <a:t>When adherence was included in the models, the hard drug coefficient slightly increased in magnitude across all outcomes</a:t>
            </a:r>
          </a:p>
          <a:p>
            <a:endParaRPr lang="en-US" sz="1200" kern="1200" dirty="0">
              <a:solidFill>
                <a:schemeClr val="tx1"/>
              </a:solidFill>
              <a:effectLst/>
              <a:latin typeface="+mn-lt"/>
              <a:ea typeface="+mn-ea"/>
              <a:cs typeface="+mn-cs"/>
            </a:endParaRPr>
          </a:p>
          <a:p>
            <a:r>
              <a:rPr lang="en-US" sz="1200" kern="1200" dirty="0">
                <a:solidFill>
                  <a:schemeClr val="tx1"/>
                </a:solidFill>
                <a:effectLst/>
                <a:latin typeface="+mn-lt"/>
                <a:ea typeface="+mn-ea"/>
                <a:cs typeface="+mn-cs"/>
              </a:rPr>
              <a:t>Which resulted in negative proportion mediated estimates and ultimately inconsistent mediation.  This was likely due to sparse data in the adherence category.</a:t>
            </a:r>
          </a:p>
          <a:p>
            <a:pPr marL="171450" indent="-171450">
              <a:buFont typeface="Arial" panose="020B0604020202020204" pitchFamily="34" charset="0"/>
              <a:buChar char="•"/>
            </a:pPr>
            <a:r>
              <a:rPr lang="en-US" sz="1200" kern="1200" dirty="0">
                <a:solidFill>
                  <a:schemeClr val="tx1"/>
                </a:solidFill>
                <a:effectLst/>
                <a:latin typeface="+mn-lt"/>
                <a:ea typeface="+mn-ea"/>
                <a:cs typeface="+mn-cs"/>
              </a:rPr>
              <a:t>Only </a:t>
            </a:r>
            <a:r>
              <a:rPr lang="en-US" sz="1200" kern="1200">
                <a:solidFill>
                  <a:schemeClr val="tx1"/>
                </a:solidFill>
                <a:effectLst/>
                <a:latin typeface="+mn-lt"/>
                <a:ea typeface="+mn-ea"/>
                <a:cs typeface="+mn-cs"/>
              </a:rPr>
              <a:t>one subject was in the less than 95% grouping</a:t>
            </a:r>
            <a:endParaRPr lang="en-US" sz="1200" kern="1200" dirty="0">
              <a:solidFill>
                <a:schemeClr val="tx1"/>
              </a:solidFill>
              <a:effectLst/>
              <a:latin typeface="+mn-lt"/>
              <a:ea typeface="+mn-ea"/>
              <a:cs typeface="+mn-cs"/>
            </a:endParaRPr>
          </a:p>
          <a:p>
            <a:endParaRPr lang="en-US" sz="1200" kern="1200" dirty="0">
              <a:solidFill>
                <a:schemeClr val="tx1"/>
              </a:solidFill>
              <a:effectLst/>
              <a:latin typeface="+mn-lt"/>
              <a:ea typeface="+mn-ea"/>
              <a:cs typeface="+mn-cs"/>
            </a:endParaRPr>
          </a:p>
          <a:p>
            <a:r>
              <a:rPr lang="en-US" sz="1200" kern="1200" dirty="0">
                <a:solidFill>
                  <a:schemeClr val="tx1"/>
                </a:solidFill>
                <a:effectLst/>
                <a:latin typeface="+mn-lt"/>
                <a:ea typeface="+mn-ea"/>
                <a:cs typeface="+mn-cs"/>
              </a:rPr>
              <a:t>Overall, there was little evidence that adherence explained the association.</a:t>
            </a:r>
          </a:p>
        </p:txBody>
      </p:sp>
      <p:sp>
        <p:nvSpPr>
          <p:cNvPr id="4" name="Slide Number Placeholder 3"/>
          <p:cNvSpPr>
            <a:spLocks noGrp="1"/>
          </p:cNvSpPr>
          <p:nvPr>
            <p:ph type="sldNum" sz="quarter" idx="5"/>
          </p:nvPr>
        </p:nvSpPr>
        <p:spPr/>
        <p:txBody>
          <a:bodyPr/>
          <a:lstStyle/>
          <a:p>
            <a:fld id="{8055A014-AA40-5B4A-A5FD-4F58A1D7AE4A}" type="slidenum">
              <a:rPr lang="en-US" smtClean="0"/>
              <a:t>7</a:t>
            </a:fld>
            <a:endParaRPr lang="en-US"/>
          </a:p>
        </p:txBody>
      </p:sp>
    </p:spTree>
    <p:extLst>
      <p:ext uri="{BB962C8B-B14F-4D97-AF65-F5344CB8AC3E}">
        <p14:creationId xmlns:p14="http://schemas.microsoft.com/office/powerpoint/2010/main" val="3152127465"/>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3272795-C7C6-4CFF-FB8D-74FB9212DD2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C7F8C60-3717-8C63-2521-FF787C81373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CB63FB7-7ADD-CDBA-2977-663E8B4F44BE}"/>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en-US" sz="1200" kern="1200" dirty="0">
                <a:solidFill>
                  <a:schemeClr val="tx1"/>
                </a:solidFill>
                <a:effectLst/>
                <a:latin typeface="+mn-lt"/>
                <a:ea typeface="+mn-ea"/>
                <a:cs typeface="+mn-cs"/>
              </a:rPr>
              <a:t>Of the 715 participants, 252 were missing Year 2 data or 35%.</a:t>
            </a:r>
          </a:p>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endParaRPr lang="en-US" sz="1200" kern="1200" dirty="0">
              <a:solidFill>
                <a:schemeClr val="tx1"/>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en-US" sz="1200" kern="1200" dirty="0">
                <a:solidFill>
                  <a:schemeClr val="tx1"/>
                </a:solidFill>
                <a:effectLst/>
                <a:latin typeface="+mn-lt"/>
                <a:ea typeface="+mn-ea"/>
                <a:cs typeface="+mn-cs"/>
              </a:rPr>
              <a:t>Baseline physical QOL scores were shown to be significantly lower among participants lost to follow-up for both hard drug users and non-users. It was particularly  noticeable in the drug users' group that was 5x lower than the clinically meaningful difference of 2 points</a:t>
            </a:r>
          </a:p>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endParaRPr lang="en-US" sz="1200" kern="1200" dirty="0">
              <a:solidFill>
                <a:schemeClr val="tx1"/>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en-US" sz="1200" kern="1200" dirty="0">
                <a:solidFill>
                  <a:schemeClr val="tx1"/>
                </a:solidFill>
                <a:effectLst/>
                <a:latin typeface="+mn-lt"/>
                <a:ea typeface="+mn-ea"/>
                <a:cs typeface="+mn-cs"/>
              </a:rPr>
              <a:t>Logistic regression modelling confirmed that lower baseline physical QOL scores and younger age were associated with lower odds of dropout.</a:t>
            </a:r>
          </a:p>
          <a:p>
            <a:pPr marL="171450" indent="-171450">
              <a:buFont typeface="Arial" panose="020B0604020202020204" pitchFamily="34" charset="0"/>
              <a:buChar char="•"/>
            </a:pPr>
            <a:r>
              <a:rPr lang="en-US" sz="1200" i="0" kern="1200" dirty="0">
                <a:solidFill>
                  <a:schemeClr val="tx1"/>
                </a:solidFill>
                <a:effectLst/>
                <a:latin typeface="+mn-lt"/>
                <a:ea typeface="+mn-ea"/>
                <a:cs typeface="+mn-cs"/>
              </a:rPr>
              <a:t>For each additional year there was an approximate 3.4% reduction in the odds and for each one-point increase in baseline physical QOL there was 4.4% reduction in the odds of dropout. </a:t>
            </a:r>
            <a:endParaRPr lang="en-US" i="0" dirty="0"/>
          </a:p>
          <a:p>
            <a:pPr marL="171450" indent="-171450">
              <a:buFont typeface="Arial" panose="020B0604020202020204" pitchFamily="34" charset="0"/>
              <a:buChar char="•"/>
            </a:pPr>
            <a:endParaRPr lang="en-US" dirty="0"/>
          </a:p>
          <a:p>
            <a:pPr marL="171450" indent="-171450">
              <a:buFont typeface="Arial" panose="020B0604020202020204" pitchFamily="34" charset="0"/>
              <a:buChar char="•"/>
            </a:pPr>
            <a:r>
              <a:rPr lang="en-US" dirty="0"/>
              <a:t>Younger age -&gt; higher odds of dropping out</a:t>
            </a:r>
          </a:p>
          <a:p>
            <a:pPr marL="171450" indent="-171450">
              <a:buFont typeface="Arial" panose="020B0604020202020204" pitchFamily="34" charset="0"/>
              <a:buChar char="•"/>
            </a:pPr>
            <a:r>
              <a:rPr lang="en-US" dirty="0"/>
              <a:t>Lower physical QOL = higher odds of dropping out</a:t>
            </a:r>
          </a:p>
        </p:txBody>
      </p:sp>
      <p:sp>
        <p:nvSpPr>
          <p:cNvPr id="4" name="Slide Number Placeholder 3">
            <a:extLst>
              <a:ext uri="{FF2B5EF4-FFF2-40B4-BE49-F238E27FC236}">
                <a16:creationId xmlns:a16="http://schemas.microsoft.com/office/drawing/2014/main" id="{4BF687E7-EE41-77F6-A19D-4CEC4F60E66B}"/>
              </a:ext>
            </a:extLst>
          </p:cNvPr>
          <p:cNvSpPr>
            <a:spLocks noGrp="1"/>
          </p:cNvSpPr>
          <p:nvPr>
            <p:ph type="sldNum" sz="quarter" idx="5"/>
          </p:nvPr>
        </p:nvSpPr>
        <p:spPr/>
        <p:txBody>
          <a:bodyPr/>
          <a:lstStyle/>
          <a:p>
            <a:fld id="{8055A014-AA40-5B4A-A5FD-4F58A1D7AE4A}" type="slidenum">
              <a:rPr lang="en-US" smtClean="0"/>
              <a:t>8</a:t>
            </a:fld>
            <a:endParaRPr lang="en-US"/>
          </a:p>
        </p:txBody>
      </p:sp>
    </p:spTree>
    <p:extLst>
      <p:ext uri="{BB962C8B-B14F-4D97-AF65-F5344CB8AC3E}">
        <p14:creationId xmlns:p14="http://schemas.microsoft.com/office/powerpoint/2010/main" val="3777470123"/>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kern="1200" dirty="0">
                <a:solidFill>
                  <a:schemeClr val="tx1"/>
                </a:solidFill>
                <a:effectLst/>
                <a:latin typeface="+mn-lt"/>
                <a:ea typeface="+mn-ea"/>
                <a:cs typeface="+mn-cs"/>
              </a:rPr>
              <a:t>Overall, these findings suggest that baseline hard drug use is associated with poorer immunologic recovery and lower physical QOL following HAART initiation, but adherence does not appear to meaningfully mediate these associations. Loss to follow-up indicated the age and physical health was associated with dropout</a:t>
            </a:r>
          </a:p>
          <a:p>
            <a:endParaRPr lang="en-US" sz="1200" kern="1200" dirty="0">
              <a:solidFill>
                <a:schemeClr val="tx1"/>
              </a:solidFill>
              <a:effectLst/>
              <a:latin typeface="+mn-lt"/>
              <a:ea typeface="+mn-ea"/>
              <a:cs typeface="+mn-cs"/>
            </a:endParaRPr>
          </a:p>
          <a:p>
            <a:r>
              <a:rPr lang="en-US" dirty="0"/>
              <a:t>Limitations:</a:t>
            </a:r>
          </a:p>
          <a:p>
            <a:pPr marL="171450" indent="-171450">
              <a:buFont typeface="Arial" panose="020B0604020202020204" pitchFamily="34" charset="0"/>
              <a:buChar char="•"/>
            </a:pPr>
            <a:r>
              <a:rPr lang="en-US" dirty="0"/>
              <a:t>Observational studies typically suffer bias from lack of randomization and unmeasured variables</a:t>
            </a:r>
          </a:p>
          <a:p>
            <a:pPr marL="171450" indent="-171450">
              <a:buFont typeface="Arial" panose="020B0604020202020204" pitchFamily="34" charset="0"/>
              <a:buChar char="•"/>
            </a:pPr>
            <a:r>
              <a:rPr lang="en-US" dirty="0"/>
              <a:t>Adherence was coded as binary and only had one observation for hard drug user with less than 95% this was likely a reason for the negative proportion mediated, so Adherence could not be reliably estimated.</a:t>
            </a:r>
          </a:p>
          <a:p>
            <a:pPr marL="171450" indent="-171450">
              <a:buFont typeface="Arial" panose="020B0604020202020204" pitchFamily="34" charset="0"/>
              <a:buChar char="•"/>
            </a:pPr>
            <a:r>
              <a:rPr lang="en-US" dirty="0"/>
              <a:t>Hard drug user group was relatively small so we may not have had enough to power to make precise comparisons</a:t>
            </a:r>
          </a:p>
          <a:p>
            <a:pPr marL="171450" indent="-171450">
              <a:buFont typeface="Arial" panose="020B0604020202020204" pitchFamily="34" charset="0"/>
              <a:buChar char="•"/>
            </a:pPr>
            <a:r>
              <a:rPr lang="en-US" dirty="0"/>
              <a:t>SF-36 scores are limited in interpretation because it typically requires comparisons matched on </a:t>
            </a:r>
            <a:r>
              <a:rPr lang="en-US" dirty="0" err="1"/>
              <a:t>Age,Sex</a:t>
            </a:r>
            <a:r>
              <a:rPr lang="en-US" dirty="0"/>
              <a:t>, or other demographics, which was not done here</a:t>
            </a:r>
          </a:p>
          <a:p>
            <a:pPr marL="171450" indent="-171450">
              <a:buFont typeface="Arial" panose="020B0604020202020204" pitchFamily="34" charset="0"/>
              <a:buChar char="•"/>
            </a:pPr>
            <a:r>
              <a:rPr lang="en-US" dirty="0"/>
              <a:t>Lastly, missingness appeared to be associated with age and physical health, which were observed, but it may depend on some unmeasured factor that we did not model. So it suggests MAR but doesn’t prove it</a:t>
            </a:r>
          </a:p>
        </p:txBody>
      </p:sp>
      <p:sp>
        <p:nvSpPr>
          <p:cNvPr id="4" name="Slide Number Placeholder 3"/>
          <p:cNvSpPr>
            <a:spLocks noGrp="1"/>
          </p:cNvSpPr>
          <p:nvPr>
            <p:ph type="sldNum" sz="quarter" idx="5"/>
          </p:nvPr>
        </p:nvSpPr>
        <p:spPr/>
        <p:txBody>
          <a:bodyPr/>
          <a:lstStyle/>
          <a:p>
            <a:fld id="{8055A014-AA40-5B4A-A5FD-4F58A1D7AE4A}" type="slidenum">
              <a:rPr lang="en-US" smtClean="0"/>
              <a:t>9</a:t>
            </a:fld>
            <a:endParaRPr lang="en-US"/>
          </a:p>
        </p:txBody>
      </p:sp>
    </p:spTree>
    <p:extLst>
      <p:ext uri="{BB962C8B-B14F-4D97-AF65-F5344CB8AC3E}">
        <p14:creationId xmlns:p14="http://schemas.microsoft.com/office/powerpoint/2010/main" val="400297823"/>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x">
  <p:cSld>
    <p:spTree>
      <p:nvGrpSpPr>
        <p:cNvPr id="1" name=""/>
        <p:cNvGrpSpPr/>
        <p:nvPr/>
      </p:nvGrpSpPr>
      <p:grpSpPr>
        <a:xfrm>
          <a:off x="0" y="0"/>
          <a:ext cx="0" cy="0"/>
          <a:chOff x="0" y="0"/>
          <a:chExt cx="0" cy="0"/>
        </a:xfrm>
      </p:grpSpPr>
      <p:sp>
        <p:nvSpPr>
          <p:cNvPr id="2" name="Header 1"/>
          <p:cNvSpPr>
            <a:spLocks noGrp="1"/>
          </p:cNvSpPr>
          <p:nvPr>
            <p:ph type="title"/>
          </p:nvPr>
        </p:nvSpPr>
        <p:spPr/>
        <p:txBody>
          <a:bodyPr/>
          <a:lstStyle/>
          <a:p>
            <a:r>
              <a:rPr lang="en-US"/>
              <a:t>Title</a:t>
            </a:r>
          </a:p>
        </p:txBody>
      </p:sp>
      <p:sp>
        <p:nvSpPr>
          <p:cNvPr id="3" name="Text 2"/>
          <p:cNvSpPr>
            <a:spLocks noGrp="1"/>
          </p:cNvSpPr>
          <p:nvPr>
            <p:ph type="body" idx="1"/>
          </p:nvPr>
        </p:nvSpPr>
        <p:spPr/>
        <p:txBody>
          <a:bodyPr/>
          <a:lstStyle/>
          <a:p>
            <a:pPr lvl="0"/>
            <a:r>
              <a:rPr lang="en-US"/>
              <a:t>Text</a:t>
            </a:r>
          </a:p>
          <a:p>
            <a:pPr lvl="1"/>
            <a:r>
              <a:rPr lang="en-US"/>
              <a:t>Second level</a:t>
            </a:r>
          </a:p>
          <a:p>
            <a:pPr lvl="2"/>
            <a:r>
              <a:rPr lang="en-US"/>
              <a:t>Third level</a:t>
            </a:r>
          </a:p>
          <a:p>
            <a:pPr lvl="3"/>
            <a:r>
              <a:rPr lang="en-US"/>
              <a:t>Fourth level</a:t>
            </a:r>
          </a:p>
          <a:p>
            <a:pPr lvl="4"/>
            <a:r>
              <a:rPr lang="en-US"/>
              <a:t>Fifth level</a:t>
            </a:r>
          </a:p>
        </p:txBody>
      </p:sp>
      <p:sp>
        <p:nvSpPr>
          <p:cNvPr id="4" name="Date 3"/>
          <p:cNvSpPr>
            <a:spLocks noGrp="1"/>
          </p:cNvSpPr>
          <p:nvPr>
            <p:ph type="dt" sz="half" idx="10"/>
          </p:nvPr>
        </p:nvSpPr>
        <p:spPr/>
        <p:txBody>
          <a:bodyPr/>
          <a:lstStyle/>
          <a:p>
            <a:fld id="{C16525B2-4347-4F72-BAF7-76B19438D329}" type="datetimeFigureOut">
              <a:rPr lang="en-US" smtClean="0"/>
              <a:t>2/27/26</a:t>
            </a:fld>
            <a:endParaRPr lang="en-US"/>
          </a:p>
        </p:txBody>
      </p:sp>
      <p:sp>
        <p:nvSpPr>
          <p:cNvPr id="5" name="Footer 4"/>
          <p:cNvSpPr>
            <a:spLocks noGrp="1"/>
          </p:cNvSpPr>
          <p:nvPr>
            <p:ph type="ftr" sz="quarter" idx="11"/>
          </p:nvPr>
        </p:nvSpPr>
        <p:spPr/>
        <p:txBody>
          <a:bodyPr/>
          <a:lstStyle/>
          <a:p>
            <a:endParaRPr lang="en-US"/>
          </a:p>
        </p:txBody>
      </p:sp>
      <p:sp>
        <p:nvSpPr>
          <p:cNvPr id="6" name="Slide number 5"/>
          <p:cNvSpPr>
            <a:spLocks noGrp="1"/>
          </p:cNvSpPr>
          <p:nvPr>
            <p:ph type="sldNum" sz="quarter" idx="12"/>
          </p:nvPr>
        </p:nvSpPr>
        <p:spPr/>
        <p:txBody>
          <a:bodyPr/>
          <a:lstStyle/>
          <a:p>
            <a:fld id="{80F073CC-40D5-4B23-8DF0-9BD0A0C12F2C}"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Holder 2"/>
          <p:cNvSpPr>
            <a:spLocks noGrp="1"/>
          </p:cNvSpPr>
          <p:nvPr>
            <p:ph type="title"/>
          </p:nvPr>
        </p:nvSpPr>
        <p:spPr>
          <a:xfrm>
            <a:off x="377666" y="427735"/>
            <a:ext cx="6797992" cy="1710943"/>
          </a:xfrm>
          <a:prstGeom prst="rect">
            <a:avLst/>
          </a:prstGeom>
        </p:spPr>
        <p:txBody>
          <a:bodyPr wrap="square" lIns="0" tIns="0" rIns="0" bIns="0">
            <a:spAutoFit/>
          </a:bodyPr>
          <a:lstStyle>
            <a:lvl1pPr>
              <a:defRPr/>
            </a:lvl1pPr>
          </a:lstStyle>
          <a:p>
            <a:endParaRPr/>
          </a:p>
        </p:txBody>
      </p:sp>
      <p:sp>
        <p:nvSpPr>
          <p:cNvPr id="3" name="Holder 3"/>
          <p:cNvSpPr>
            <a:spLocks noGrp="1"/>
          </p:cNvSpPr>
          <p:nvPr>
            <p:ph type="body" idx="1"/>
          </p:nvPr>
        </p:nvSpPr>
        <p:spPr>
          <a:xfrm>
            <a:off x="377666" y="2459482"/>
            <a:ext cx="6797992" cy="7057644"/>
          </a:xfrm>
          <a:prstGeom prst="rect">
            <a:avLst/>
          </a:prstGeom>
        </p:spPr>
        <p:txBody>
          <a:bodyPr wrap="square" lIns="0" tIns="0" rIns="0" bIns="0">
            <a:spAutoFit/>
          </a:bodyPr>
          <a:lstStyle>
            <a:lvl1pPr>
              <a:defRPr/>
            </a:lvl1pPr>
          </a:lstStyle>
          <a:p>
            <a:endParaRPr/>
          </a:p>
        </p:txBody>
      </p:sp>
      <p:sp>
        <p:nvSpPr>
          <p:cNvPr id="4" name="Holder 4"/>
          <p:cNvSpPr>
            <a:spLocks noGrp="1"/>
          </p:cNvSpPr>
          <p:nvPr>
            <p:ph type="ftr" sz="quarter" idx="5"/>
          </p:nvPr>
        </p:nvSpPr>
        <p:spPr>
          <a:xfrm>
            <a:off x="2568130" y="9944862"/>
            <a:ext cx="2417063" cy="534670"/>
          </a:xfrm>
          <a:prstGeom prst="rect">
            <a:avLst/>
          </a:prstGeom>
        </p:spPr>
        <p:txBody>
          <a:bodyPr wrap="square" lIns="0" tIns="0" rIns="0" bIns="0">
            <a:spAutoFit/>
          </a:bodyPr>
          <a:lstStyle>
            <a:lvl1pPr algn="ctr">
              <a:defRPr>
                <a:solidFill>
                  <a:schemeClr val="tx1">
                    <a:tint val="75000"/>
                  </a:schemeClr>
                </a:solidFill>
              </a:defRPr>
            </a:lvl1pPr>
          </a:lstStyle>
          <a:p>
            <a:endParaRPr/>
          </a:p>
        </p:txBody>
      </p:sp>
      <p:sp>
        <p:nvSpPr>
          <p:cNvPr id="5" name="Holder 5"/>
          <p:cNvSpPr>
            <a:spLocks noGrp="1"/>
          </p:cNvSpPr>
          <p:nvPr>
            <p:ph type="dt" sz="half" idx="6"/>
          </p:nvPr>
        </p:nvSpPr>
        <p:spPr>
          <a:xfrm>
            <a:off x="377666" y="9944862"/>
            <a:ext cx="1737264" cy="534670"/>
          </a:xfrm>
          <a:prstGeom prst="rect">
            <a:avLst/>
          </a:prstGeom>
        </p:spPr>
        <p:txBody>
          <a:bodyPr wrap="square" lIns="0" tIns="0" rIns="0" bIns="0">
            <a:spAutoFit/>
          </a:bodyPr>
          <a:lstStyle>
            <a:lvl1pPr algn="l">
              <a:defRPr>
                <a:solidFill>
                  <a:schemeClr val="tx1">
                    <a:tint val="75000"/>
                  </a:schemeClr>
                </a:solidFill>
              </a:defRPr>
            </a:lvl1pPr>
          </a:lstStyle>
          <a:p>
            <a:fld id="{1D8BD707-D9CF-40AE-B4C6-C98DA3205C09}" type="datetimeFigureOut">
              <a:rPr lang="en-US"/>
              <a:t>2/27/26</a:t>
            </a:fld>
            <a:endParaRPr lang="en-US"/>
          </a:p>
        </p:txBody>
      </p:sp>
      <p:sp>
        <p:nvSpPr>
          <p:cNvPr id="6" name="Holder 6"/>
          <p:cNvSpPr>
            <a:spLocks noGrp="1"/>
          </p:cNvSpPr>
          <p:nvPr>
            <p:ph type="sldNum" sz="quarter" idx="7"/>
          </p:nvPr>
        </p:nvSpPr>
        <p:spPr>
          <a:xfrm>
            <a:off x="5438394" y="9944862"/>
            <a:ext cx="1737264" cy="534670"/>
          </a:xfrm>
          <a:prstGeom prst="rect">
            <a:avLst/>
          </a:prstGeom>
        </p:spPr>
        <p:txBody>
          <a:bodyPr wrap="square" lIns="0" tIns="0" rIns="0" bIns="0">
            <a:spAutoFit/>
          </a:bodyPr>
          <a:lstStyle>
            <a:lvl1pPr algn="r">
              <a:defRPr>
                <a:solidFill>
                  <a:schemeClr val="tx1">
                    <a:tint val="75000"/>
                  </a:schemeClr>
                </a:solidFill>
              </a:defRPr>
            </a:lvl1pPr>
          </a:lstStyle>
          <a:p>
            <a:fld id="{B6F15528-21DE-4FAA-801E-634DDDAF4B2B}" type="slidenum">
              <a:t>‹#›</a:t>
            </a:fld>
            <a:endParaRPr/>
          </a:p>
        </p:txBody>
      </p:sp>
    </p:spTree>
  </p:cSld>
  <p:clrMap bg1="lt1" tx1="dk1" bg2="lt2" tx2="dk2" accent1="accent1" accent2="accent2" accent3="accent3" accent4="accent4" accent5="accent5" accent6="accent6" hlink="hlink" folHlink="folHlink"/>
  <p:sldLayoutIdLst>
    <p:sldLayoutId id="2147483649" r:id="rId1"/>
  </p:sldLayoutIdLst>
  <p:txStyles>
    <p:titleStyle>
      <a:lvl1pPr>
        <a:defRPr>
          <a:latin typeface="+mj-lt"/>
          <a:ea typeface="+mj-ea"/>
          <a:cs typeface="+mj-cs"/>
        </a:defRPr>
      </a:lvl1pPr>
    </p:titleStyle>
    <p:body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p:bodyStyle>
    <p:other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5.xml"/><Relationship Id="rId1" Type="http://schemas.openxmlformats.org/officeDocument/2006/relationships/slideLayout" Target="../slideLayouts/slideLayout1.xml"/><Relationship Id="rId4" Type="http://schemas.openxmlformats.org/officeDocument/2006/relationships/image" Target="../media/image4.png"/></Relationships>
</file>

<file path=ppt/slides/_rels/slide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6.xml"/><Relationship Id="rId1" Type="http://schemas.openxmlformats.org/officeDocument/2006/relationships/slideLayout" Target="../slideLayouts/slideLayout1.xml"/><Relationship Id="rId4" Type="http://schemas.openxmlformats.org/officeDocument/2006/relationships/image" Target="../media/image5.png"/></Relationships>
</file>

<file path=ppt/slides/_rels/slide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7.xml"/><Relationship Id="rId1" Type="http://schemas.openxmlformats.org/officeDocument/2006/relationships/slideLayout" Target="../slideLayouts/slideLayout1.xml"/><Relationship Id="rId4" Type="http://schemas.openxmlformats.org/officeDocument/2006/relationships/image" Target="../media/image6.png"/></Relationships>
</file>

<file path=ppt/slides/_rels/slide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8.xml"/><Relationship Id="rId1" Type="http://schemas.openxmlformats.org/officeDocument/2006/relationships/slideLayout" Target="../slideLayouts/slideLayout1.xml"/><Relationship Id="rId5" Type="http://schemas.openxmlformats.org/officeDocument/2006/relationships/image" Target="../media/image8.png"/><Relationship Id="rId4" Type="http://schemas.openxmlformats.org/officeDocument/2006/relationships/image" Target="../media/image7.png"/></Relationships>
</file>

<file path=ppt/slides/_rels/slide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object 1"/>
          <p:cNvSpPr/>
          <p:nvPr/>
        </p:nvSpPr>
        <p:spPr>
          <a:xfrm>
            <a:off x="0" y="0"/>
            <a:ext cx="12192000" cy="6858000"/>
          </a:xfrm>
          <a:prstGeom prst="rect">
            <a:avLst/>
          </a:prstGeom>
          <a:blipFill>
            <a:blip r:embed="rId3" cstate="print"/>
            <a:stretch>
              <a:fillRect/>
            </a:stretch>
          </a:blipFill>
        </p:spPr>
        <p:txBody>
          <a:bodyPr wrap="square" lIns="0" tIns="0" rIns="0" bIns="0" rtlCol="0">
            <a:spAutoFit/>
          </a:bodyPr>
          <a:lstStyle/>
          <a:p>
            <a:endParaRPr/>
          </a:p>
        </p:txBody>
      </p:sp>
      <p:sp>
        <p:nvSpPr>
          <p:cNvPr id="3" name="object 3"/>
          <p:cNvSpPr txBox="1"/>
          <p:nvPr/>
        </p:nvSpPr>
        <p:spPr>
          <a:xfrm>
            <a:off x="-240704" y="1453331"/>
            <a:ext cx="10729192" cy="1958678"/>
          </a:xfrm>
          <a:prstGeom prst="rect">
            <a:avLst/>
          </a:prstGeom>
        </p:spPr>
        <p:txBody>
          <a:bodyPr vert="horz" wrap="square" lIns="0" tIns="0" rIns="0" bIns="0" rtlCol="0">
            <a:spAutoFit/>
          </a:bodyPr>
          <a:lstStyle/>
          <a:p>
            <a:pPr marL="1816354" marR="0" algn="ctr">
              <a:lnSpc>
                <a:spcPts val="8163"/>
              </a:lnSpc>
              <a:spcBef>
                <a:spcPts val="0"/>
              </a:spcBef>
              <a:spcAft>
                <a:spcPts val="0"/>
              </a:spcAft>
            </a:pPr>
            <a:r>
              <a:rPr lang="en-US" sz="3500" dirty="0">
                <a:solidFill>
                  <a:srgbClr val="181A0D"/>
                </a:solidFill>
                <a:cs typeface="GEHAIV+FranklinGothic-Book"/>
              </a:rPr>
              <a:t>Evaluating Two-Year HAART Treatment Response Among Hard Drug Users and Non-Users</a:t>
            </a:r>
            <a:endParaRPr sz="3500" spc="-75" dirty="0">
              <a:solidFill>
                <a:srgbClr val="181A0D"/>
              </a:solidFill>
              <a:cs typeface="GEHAIV+FranklinGothic-Book"/>
            </a:endParaRPr>
          </a:p>
        </p:txBody>
      </p:sp>
      <p:sp>
        <p:nvSpPr>
          <p:cNvPr id="4" name="object 4"/>
          <p:cNvSpPr txBox="1"/>
          <p:nvPr/>
        </p:nvSpPr>
        <p:spPr>
          <a:xfrm>
            <a:off x="4507565" y="3861048"/>
            <a:ext cx="3176870" cy="730969"/>
          </a:xfrm>
          <a:prstGeom prst="rect">
            <a:avLst/>
          </a:prstGeom>
        </p:spPr>
        <p:txBody>
          <a:bodyPr vert="horz" wrap="square" lIns="0" tIns="0" rIns="0" bIns="0" rtlCol="0">
            <a:spAutoFit/>
          </a:bodyPr>
          <a:lstStyle/>
          <a:p>
            <a:pPr marL="0" marR="0" algn="ctr">
              <a:lnSpc>
                <a:spcPts val="2612"/>
              </a:lnSpc>
              <a:spcBef>
                <a:spcPts val="0"/>
              </a:spcBef>
              <a:spcAft>
                <a:spcPts val="0"/>
              </a:spcAft>
            </a:pPr>
            <a:r>
              <a:rPr lang="en-US" sz="2300" dirty="0">
                <a:solidFill>
                  <a:srgbClr val="181A0D"/>
                </a:solidFill>
                <a:cs typeface="GEHAIV+FranklinGothic-Book"/>
              </a:rPr>
              <a:t>Ryan Summers</a:t>
            </a:r>
            <a:endParaRPr sz="2300" dirty="0">
              <a:solidFill>
                <a:srgbClr val="181A0D"/>
              </a:solidFill>
              <a:cs typeface="GEHAIV+FranklinGothic-Book"/>
            </a:endParaRPr>
          </a:p>
          <a:p>
            <a:pPr marL="77914" marR="0" algn="ctr">
              <a:lnSpc>
                <a:spcPts val="2612"/>
              </a:lnSpc>
              <a:spcBef>
                <a:spcPts val="459"/>
              </a:spcBef>
              <a:spcAft>
                <a:spcPts val="0"/>
              </a:spcAft>
            </a:pPr>
            <a:r>
              <a:rPr lang="en-US" sz="2300" spc="-13" dirty="0">
                <a:solidFill>
                  <a:srgbClr val="181A0D"/>
                </a:solidFill>
                <a:cs typeface="GEHAIV+FranklinGothic-Book"/>
              </a:rPr>
              <a:t>3/2/26</a:t>
            </a:r>
            <a:endParaRPr sz="2300" spc="-13" dirty="0">
              <a:solidFill>
                <a:srgbClr val="181A0D"/>
              </a:solidFill>
              <a:cs typeface="GEHAIV+FranklinGothic-Book"/>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object 1"/>
          <p:cNvSpPr/>
          <p:nvPr/>
        </p:nvSpPr>
        <p:spPr>
          <a:xfrm>
            <a:off x="0" y="-9309"/>
            <a:ext cx="12192000" cy="6858000"/>
          </a:xfrm>
          <a:prstGeom prst="rect">
            <a:avLst/>
          </a:prstGeom>
          <a:blipFill>
            <a:blip r:embed="rId3" cstate="print"/>
            <a:stretch>
              <a:fillRect/>
            </a:stretch>
          </a:blipFill>
        </p:spPr>
        <p:txBody>
          <a:bodyPr wrap="square" lIns="0" tIns="0" rIns="0" bIns="0" rtlCol="0">
            <a:spAutoFit/>
          </a:bodyPr>
          <a:lstStyle/>
          <a:p>
            <a:endParaRPr dirty="0"/>
          </a:p>
        </p:txBody>
      </p:sp>
      <p:sp>
        <p:nvSpPr>
          <p:cNvPr id="3" name="object 3"/>
          <p:cNvSpPr txBox="1"/>
          <p:nvPr/>
        </p:nvSpPr>
        <p:spPr>
          <a:xfrm>
            <a:off x="1199456" y="181814"/>
            <a:ext cx="5065008" cy="641201"/>
          </a:xfrm>
          <a:prstGeom prst="rect">
            <a:avLst/>
          </a:prstGeom>
        </p:spPr>
        <p:txBody>
          <a:bodyPr vert="horz" wrap="square" lIns="0" tIns="0" rIns="0" bIns="0" rtlCol="0">
            <a:spAutoFit/>
          </a:bodyPr>
          <a:lstStyle/>
          <a:p>
            <a:pPr marL="0" marR="0">
              <a:lnSpc>
                <a:spcPts val="4979"/>
              </a:lnSpc>
              <a:spcBef>
                <a:spcPts val="0"/>
              </a:spcBef>
              <a:spcAft>
                <a:spcPts val="0"/>
              </a:spcAft>
            </a:pPr>
            <a:r>
              <a:rPr sz="4400" spc="-21" dirty="0">
                <a:solidFill>
                  <a:srgbClr val="181A0D"/>
                </a:solidFill>
                <a:cs typeface="KDMFEK+FranklinGothic-Book"/>
              </a:rPr>
              <a:t>Research</a:t>
            </a:r>
            <a:r>
              <a:rPr sz="4400" spc="21" dirty="0">
                <a:solidFill>
                  <a:srgbClr val="181A0D"/>
                </a:solidFill>
                <a:cs typeface="KDMFEK+FranklinGothic-Book"/>
              </a:rPr>
              <a:t> </a:t>
            </a:r>
            <a:r>
              <a:rPr sz="4400" dirty="0">
                <a:solidFill>
                  <a:srgbClr val="181A0D"/>
                </a:solidFill>
                <a:cs typeface="KDMFEK+FranklinGothic-Book"/>
              </a:rPr>
              <a:t>Question</a:t>
            </a:r>
            <a:r>
              <a:rPr lang="en-US" sz="4400" dirty="0">
                <a:solidFill>
                  <a:srgbClr val="181A0D"/>
                </a:solidFill>
                <a:cs typeface="KDMFEK+FranklinGothic-Book"/>
              </a:rPr>
              <a:t>s</a:t>
            </a:r>
            <a:endParaRPr sz="4400" dirty="0">
              <a:solidFill>
                <a:srgbClr val="181A0D"/>
              </a:solidFill>
              <a:cs typeface="KDMFEK+FranklinGothic-Book"/>
            </a:endParaRPr>
          </a:p>
        </p:txBody>
      </p:sp>
      <p:sp>
        <p:nvSpPr>
          <p:cNvPr id="6" name="TextBox 5">
            <a:extLst>
              <a:ext uri="{FF2B5EF4-FFF2-40B4-BE49-F238E27FC236}">
                <a16:creationId xmlns:a16="http://schemas.microsoft.com/office/drawing/2014/main" id="{8701BA5A-512C-C680-9EBD-36CA578908FA}"/>
              </a:ext>
            </a:extLst>
          </p:cNvPr>
          <p:cNvSpPr txBox="1"/>
          <p:nvPr/>
        </p:nvSpPr>
        <p:spPr>
          <a:xfrm>
            <a:off x="1055440" y="971873"/>
            <a:ext cx="10801200" cy="6088846"/>
          </a:xfrm>
          <a:prstGeom prst="rect">
            <a:avLst/>
          </a:prstGeom>
          <a:noFill/>
        </p:spPr>
        <p:txBody>
          <a:bodyPr wrap="square">
            <a:spAutoFit/>
          </a:bodyPr>
          <a:lstStyle/>
          <a:p>
            <a:pPr marL="285750" indent="-285750">
              <a:lnSpc>
                <a:spcPts val="2258"/>
              </a:lnSpc>
              <a:buFont typeface="Wingdings" pitchFamily="2" charset="2"/>
              <a:buChar char="q"/>
            </a:pPr>
            <a:r>
              <a:rPr lang="en-US" sz="2000" b="1" dirty="0">
                <a:solidFill>
                  <a:srgbClr val="181A0D"/>
                </a:solidFill>
              </a:rPr>
              <a:t>Once HAART is initiated, is there a decrease in viral load (HIV copies per mL) and an increase in CD4+ T counts (cells/mm³)</a:t>
            </a:r>
            <a:r>
              <a:rPr lang="en-US" sz="2000" b="1" dirty="0"/>
              <a:t>?</a:t>
            </a:r>
            <a:endParaRPr lang="en-US" sz="2000" b="1" dirty="0">
              <a:solidFill>
                <a:srgbClr val="181A0D"/>
              </a:solidFill>
            </a:endParaRPr>
          </a:p>
          <a:p>
            <a:pPr marL="742950" lvl="1" indent="-285750">
              <a:lnSpc>
                <a:spcPts val="2258"/>
              </a:lnSpc>
              <a:buFont typeface="Wingdings" pitchFamily="2" charset="2"/>
              <a:buChar char="Ø"/>
            </a:pPr>
            <a:r>
              <a:rPr lang="en-US" sz="2000" i="1" dirty="0">
                <a:solidFill>
                  <a:srgbClr val="181A0D"/>
                </a:solidFill>
                <a:cs typeface="OAGDQN+FranklinGothic-BookItalic"/>
              </a:rPr>
              <a:t>Hypothesis</a:t>
            </a:r>
            <a:r>
              <a:rPr lang="en-US" sz="2000" dirty="0">
                <a:solidFill>
                  <a:srgbClr val="181A0D"/>
                </a:solidFill>
                <a:cs typeface="OAGDQN+FranklinGothic-BookItalic"/>
              </a:rPr>
              <a:t>: Year-2 viral load will be higher among homosexual and bisexual men with HIV-1, who reported baseline hard drug use as compared with non-users</a:t>
            </a:r>
          </a:p>
          <a:p>
            <a:pPr marL="742950" lvl="1" indent="-285750">
              <a:lnSpc>
                <a:spcPts val="2258"/>
              </a:lnSpc>
              <a:buFont typeface="Wingdings" pitchFamily="2" charset="2"/>
              <a:buChar char="Ø"/>
            </a:pPr>
            <a:r>
              <a:rPr lang="en-US" sz="2000" i="1" dirty="0">
                <a:solidFill>
                  <a:srgbClr val="181A0D"/>
                </a:solidFill>
                <a:cs typeface="OAGDQN+FranklinGothic-BookItalic"/>
              </a:rPr>
              <a:t>Hypothesis</a:t>
            </a:r>
            <a:r>
              <a:rPr lang="en-US" sz="2000" dirty="0">
                <a:solidFill>
                  <a:srgbClr val="181A0D"/>
                </a:solidFill>
                <a:cs typeface="OAGDQN+FranklinGothic-BookItalic"/>
              </a:rPr>
              <a:t>: Year-2 CD4+ T-cell counts will be lower among homosexual and bisexual men with HIV-1, who reported baseline hard drug use as compared with non-users</a:t>
            </a:r>
          </a:p>
          <a:p>
            <a:pPr lvl="1">
              <a:lnSpc>
                <a:spcPts val="2258"/>
              </a:lnSpc>
            </a:pPr>
            <a:endParaRPr lang="en-US" sz="2000" dirty="0">
              <a:solidFill>
                <a:srgbClr val="181A0D"/>
              </a:solidFill>
              <a:cs typeface="OAGDQN+FranklinGothic-BookItalic"/>
            </a:endParaRPr>
          </a:p>
          <a:p>
            <a:pPr marL="285750" indent="-285750">
              <a:buFont typeface="Wingdings" pitchFamily="2" charset="2"/>
              <a:buChar char="q"/>
            </a:pPr>
            <a:r>
              <a:rPr lang="en-US" sz="2000" b="1" dirty="0"/>
              <a:t>What happens to physical and mental quality-of-life (QOL) scores after HAART initiation?</a:t>
            </a:r>
          </a:p>
          <a:p>
            <a:pPr marL="742950" lvl="1" indent="-285750">
              <a:lnSpc>
                <a:spcPts val="2258"/>
              </a:lnSpc>
              <a:buFont typeface="Wingdings" pitchFamily="2" charset="2"/>
              <a:buChar char="Ø"/>
            </a:pPr>
            <a:r>
              <a:rPr lang="en-US" sz="2000" i="1" dirty="0">
                <a:solidFill>
                  <a:srgbClr val="181A0D"/>
                </a:solidFill>
                <a:cs typeface="OAGDQN+FranklinGothic-BookItalic"/>
              </a:rPr>
              <a:t>Hypothesis</a:t>
            </a:r>
            <a:r>
              <a:rPr lang="en-US" sz="2000" dirty="0">
                <a:solidFill>
                  <a:srgbClr val="181A0D"/>
                </a:solidFill>
                <a:cs typeface="OAGDQN+FranklinGothic-BookItalic"/>
              </a:rPr>
              <a:t>: Year-2 physical QOL will differ between hard drug users and non-users</a:t>
            </a:r>
          </a:p>
          <a:p>
            <a:pPr marL="742950" lvl="1" indent="-285750">
              <a:lnSpc>
                <a:spcPts val="2258"/>
              </a:lnSpc>
              <a:buFont typeface="Wingdings" pitchFamily="2" charset="2"/>
              <a:buChar char="Ø"/>
            </a:pPr>
            <a:r>
              <a:rPr lang="en-US" sz="2000" i="1" dirty="0">
                <a:solidFill>
                  <a:srgbClr val="181A0D"/>
                </a:solidFill>
                <a:cs typeface="OAGDQN+FranklinGothic-BookItalic"/>
              </a:rPr>
              <a:t>Hypothesis</a:t>
            </a:r>
            <a:r>
              <a:rPr lang="en-US" sz="2000" dirty="0">
                <a:solidFill>
                  <a:srgbClr val="181A0D"/>
                </a:solidFill>
                <a:cs typeface="OAGDQN+FranklinGothic-BookItalic"/>
              </a:rPr>
              <a:t>: Year-2 mental QOL will differ between hard drug users and non-users</a:t>
            </a:r>
          </a:p>
          <a:p>
            <a:pPr marL="742950" lvl="1" indent="-285750">
              <a:lnSpc>
                <a:spcPts val="2258"/>
              </a:lnSpc>
              <a:buFont typeface="Wingdings" pitchFamily="2" charset="2"/>
              <a:buChar char="Ø"/>
            </a:pPr>
            <a:endParaRPr lang="en-US" sz="2000" b="1" dirty="0">
              <a:solidFill>
                <a:srgbClr val="181A0D"/>
              </a:solidFill>
            </a:endParaRPr>
          </a:p>
          <a:p>
            <a:pPr marL="285750" indent="-285750">
              <a:buFont typeface="Wingdings" pitchFamily="2" charset="2"/>
              <a:buChar char="q"/>
            </a:pPr>
            <a:r>
              <a:rPr lang="en-US" sz="2000" b="1" dirty="0">
                <a:solidFill>
                  <a:srgbClr val="181A0D"/>
                </a:solidFill>
              </a:rPr>
              <a:t>Does adherence mediate the association between hard drug use and year-2 outcomes?</a:t>
            </a:r>
          </a:p>
          <a:p>
            <a:pPr marL="742950" lvl="1" indent="-285750">
              <a:buFont typeface="Wingdings" pitchFamily="2" charset="2"/>
              <a:buChar char="Ø"/>
            </a:pPr>
            <a:r>
              <a:rPr lang="en-US" sz="2000" i="1" dirty="0"/>
              <a:t>Hypothesis</a:t>
            </a:r>
            <a:r>
              <a:rPr lang="en-US" sz="2000" dirty="0"/>
              <a:t>: The association between hard drug use and treatment response will be weaker after accounting for adherence.</a:t>
            </a:r>
          </a:p>
          <a:p>
            <a:pPr lvl="1"/>
            <a:endParaRPr lang="en-US" sz="2000" dirty="0"/>
          </a:p>
          <a:p>
            <a:pPr marL="285750" indent="-285750">
              <a:buFont typeface="Wingdings" pitchFamily="2" charset="2"/>
              <a:buChar char="q"/>
            </a:pPr>
            <a:r>
              <a:rPr lang="en-US" sz="2000" b="1" dirty="0"/>
              <a:t>What are the dropout rates between hard drug users and non-users and how does that affect results?</a:t>
            </a:r>
          </a:p>
          <a:p>
            <a:pPr marL="742950" lvl="1" indent="-285750">
              <a:buFont typeface="Wingdings" pitchFamily="2" charset="2"/>
              <a:buChar char="Ø"/>
            </a:pPr>
            <a:r>
              <a:rPr lang="en-US" sz="2000" i="1" dirty="0"/>
              <a:t>Hypothesis</a:t>
            </a:r>
            <a:r>
              <a:rPr lang="en-US" sz="2000" dirty="0"/>
              <a:t>: Baseline outcomes differ between participants with complete and incomplete cases</a:t>
            </a:r>
            <a:endParaRPr lang="en-US" dirty="0">
              <a:solidFill>
                <a:srgbClr val="181A0D"/>
              </a:solidFill>
              <a:cs typeface="OAGDQN+FranklinGothic-BookItalic"/>
            </a:endParaRPr>
          </a:p>
          <a:p>
            <a:pPr marL="285750" indent="-285750">
              <a:buFont typeface="Wingdings" pitchFamily="2" charset="2"/>
              <a:buChar char="§"/>
            </a:pPr>
            <a:endParaRPr lang="en-US"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DE9220A-E907-696F-E178-950E13497494}"/>
            </a:ext>
          </a:extLst>
        </p:cNvPr>
        <p:cNvGrpSpPr/>
        <p:nvPr/>
      </p:nvGrpSpPr>
      <p:grpSpPr>
        <a:xfrm>
          <a:off x="0" y="0"/>
          <a:ext cx="0" cy="0"/>
          <a:chOff x="0" y="0"/>
          <a:chExt cx="0" cy="0"/>
        </a:xfrm>
      </p:grpSpPr>
      <p:sp>
        <p:nvSpPr>
          <p:cNvPr id="2" name="object 1">
            <a:extLst>
              <a:ext uri="{FF2B5EF4-FFF2-40B4-BE49-F238E27FC236}">
                <a16:creationId xmlns:a16="http://schemas.microsoft.com/office/drawing/2014/main" id="{1DE5CAE3-8C9D-5530-AE7E-1A8DEBA08D3C}"/>
              </a:ext>
            </a:extLst>
          </p:cNvPr>
          <p:cNvSpPr/>
          <p:nvPr/>
        </p:nvSpPr>
        <p:spPr>
          <a:xfrm>
            <a:off x="-17029" y="16706"/>
            <a:ext cx="12192000" cy="6858000"/>
          </a:xfrm>
          <a:prstGeom prst="rect">
            <a:avLst/>
          </a:prstGeom>
          <a:blipFill>
            <a:blip r:embed="rId3" cstate="print"/>
            <a:stretch>
              <a:fillRect/>
            </a:stretch>
          </a:blipFill>
        </p:spPr>
        <p:txBody>
          <a:bodyPr wrap="square" lIns="0" tIns="0" rIns="0" bIns="0" rtlCol="0">
            <a:spAutoFit/>
          </a:bodyPr>
          <a:lstStyle/>
          <a:p>
            <a:endParaRPr dirty="0"/>
          </a:p>
        </p:txBody>
      </p:sp>
      <p:sp>
        <p:nvSpPr>
          <p:cNvPr id="3" name="object 3">
            <a:extLst>
              <a:ext uri="{FF2B5EF4-FFF2-40B4-BE49-F238E27FC236}">
                <a16:creationId xmlns:a16="http://schemas.microsoft.com/office/drawing/2014/main" id="{DD84BD69-C59D-462F-793D-BE03654A65BC}"/>
              </a:ext>
            </a:extLst>
          </p:cNvPr>
          <p:cNvSpPr txBox="1"/>
          <p:nvPr/>
        </p:nvSpPr>
        <p:spPr>
          <a:xfrm>
            <a:off x="1199456" y="181814"/>
            <a:ext cx="5065008" cy="641201"/>
          </a:xfrm>
          <a:prstGeom prst="rect">
            <a:avLst/>
          </a:prstGeom>
        </p:spPr>
        <p:txBody>
          <a:bodyPr vert="horz" wrap="square" lIns="0" tIns="0" rIns="0" bIns="0" rtlCol="0">
            <a:spAutoFit/>
          </a:bodyPr>
          <a:lstStyle/>
          <a:p>
            <a:pPr marL="0" marR="0">
              <a:lnSpc>
                <a:spcPts val="4979"/>
              </a:lnSpc>
              <a:spcBef>
                <a:spcPts val="0"/>
              </a:spcBef>
              <a:spcAft>
                <a:spcPts val="0"/>
              </a:spcAft>
            </a:pPr>
            <a:r>
              <a:rPr sz="4400" spc="-21" dirty="0">
                <a:solidFill>
                  <a:srgbClr val="181A0D"/>
                </a:solidFill>
                <a:cs typeface="KDMFEK+FranklinGothic-Book"/>
              </a:rPr>
              <a:t>Research</a:t>
            </a:r>
            <a:r>
              <a:rPr sz="4400" spc="21" dirty="0">
                <a:solidFill>
                  <a:srgbClr val="181A0D"/>
                </a:solidFill>
                <a:cs typeface="KDMFEK+FranklinGothic-Book"/>
              </a:rPr>
              <a:t> </a:t>
            </a:r>
            <a:r>
              <a:rPr sz="4400" dirty="0">
                <a:solidFill>
                  <a:srgbClr val="181A0D"/>
                </a:solidFill>
                <a:cs typeface="KDMFEK+FranklinGothic-Book"/>
              </a:rPr>
              <a:t>Question</a:t>
            </a:r>
            <a:r>
              <a:rPr lang="en-US" sz="4400" dirty="0">
                <a:solidFill>
                  <a:srgbClr val="181A0D"/>
                </a:solidFill>
                <a:cs typeface="KDMFEK+FranklinGothic-Book"/>
              </a:rPr>
              <a:t>s</a:t>
            </a:r>
            <a:endParaRPr sz="4400" dirty="0">
              <a:solidFill>
                <a:srgbClr val="181A0D"/>
              </a:solidFill>
              <a:cs typeface="KDMFEK+FranklinGothic-Book"/>
            </a:endParaRPr>
          </a:p>
        </p:txBody>
      </p:sp>
      <p:sp>
        <p:nvSpPr>
          <p:cNvPr id="6" name="TextBox 5">
            <a:extLst>
              <a:ext uri="{FF2B5EF4-FFF2-40B4-BE49-F238E27FC236}">
                <a16:creationId xmlns:a16="http://schemas.microsoft.com/office/drawing/2014/main" id="{47E80CB9-394E-7C5A-F83C-EFCE2F949673}"/>
              </a:ext>
            </a:extLst>
          </p:cNvPr>
          <p:cNvSpPr txBox="1"/>
          <p:nvPr/>
        </p:nvSpPr>
        <p:spPr>
          <a:xfrm>
            <a:off x="1055440" y="1122180"/>
            <a:ext cx="10801200" cy="5539978"/>
          </a:xfrm>
          <a:prstGeom prst="rect">
            <a:avLst/>
          </a:prstGeom>
          <a:noFill/>
        </p:spPr>
        <p:txBody>
          <a:bodyPr wrap="square">
            <a:spAutoFit/>
          </a:bodyPr>
          <a:lstStyle/>
          <a:p>
            <a:pPr marL="342900" indent="-342900">
              <a:buFont typeface="Wingdings" pitchFamily="2" charset="2"/>
              <a:buChar char="q"/>
            </a:pPr>
            <a:r>
              <a:rPr lang="en-US" sz="2000" b="1" dirty="0"/>
              <a:t>Does baseline hard drug use affect treatment response two years after initiating HAART?</a:t>
            </a:r>
            <a:endParaRPr lang="en-US" sz="2000" b="1" dirty="0">
              <a:solidFill>
                <a:srgbClr val="181A0D"/>
              </a:solidFill>
            </a:endParaRPr>
          </a:p>
          <a:p>
            <a:pPr marL="742950" lvl="1" indent="-285750">
              <a:buFont typeface="Wingdings" pitchFamily="2" charset="2"/>
              <a:buChar char="Ø"/>
            </a:pPr>
            <a:r>
              <a:rPr lang="en-US" sz="2000" dirty="0"/>
              <a:t>Viral load (HIV RNA copies/mL)</a:t>
            </a:r>
          </a:p>
          <a:p>
            <a:pPr marL="742950" lvl="1" indent="-285750">
              <a:buFont typeface="Wingdings" pitchFamily="2" charset="2"/>
              <a:buChar char="Ø"/>
            </a:pPr>
            <a:r>
              <a:rPr lang="en-US" sz="2000" dirty="0"/>
              <a:t>CD4 T-cell count</a:t>
            </a:r>
          </a:p>
          <a:p>
            <a:pPr marL="742950" lvl="1" indent="-285750">
              <a:buFont typeface="Wingdings" pitchFamily="2" charset="2"/>
              <a:buChar char="Ø"/>
            </a:pPr>
            <a:r>
              <a:rPr lang="en-US" sz="2000" dirty="0"/>
              <a:t>Physical QOL (0-100)</a:t>
            </a:r>
          </a:p>
          <a:p>
            <a:pPr marL="742950" lvl="1" indent="-285750">
              <a:buFont typeface="Wingdings" pitchFamily="2" charset="2"/>
              <a:buChar char="Ø"/>
            </a:pPr>
            <a:r>
              <a:rPr lang="en-US" sz="2000" dirty="0"/>
              <a:t>Mental QOL (0-100)</a:t>
            </a:r>
          </a:p>
          <a:p>
            <a:pPr marL="742950" lvl="1" indent="-285750">
              <a:buFont typeface="Wingdings" pitchFamily="2" charset="2"/>
              <a:buChar char="Ø"/>
            </a:pPr>
            <a:r>
              <a:rPr lang="en-US" sz="2000" i="1" dirty="0"/>
              <a:t>Hypotheses: </a:t>
            </a:r>
            <a:r>
              <a:rPr lang="en-US" sz="2000" dirty="0"/>
              <a:t>Year-2 outcomes differ between baseline hard drug users and non-users</a:t>
            </a:r>
          </a:p>
          <a:p>
            <a:pPr lvl="1"/>
            <a:endParaRPr lang="en-US" dirty="0"/>
          </a:p>
          <a:p>
            <a:pPr lvl="1"/>
            <a:endParaRPr lang="en-US" dirty="0"/>
          </a:p>
          <a:p>
            <a:pPr marL="285750" indent="-285750">
              <a:buFont typeface="Wingdings" pitchFamily="2" charset="2"/>
              <a:buChar char="q"/>
            </a:pPr>
            <a:r>
              <a:rPr lang="en-US" sz="2000" b="1" dirty="0">
                <a:solidFill>
                  <a:srgbClr val="181A0D"/>
                </a:solidFill>
              </a:rPr>
              <a:t>Does adherence mediate the association between hard drug use and year-2 outcomes?</a:t>
            </a:r>
          </a:p>
          <a:p>
            <a:pPr marL="800100" lvl="1" indent="-342900">
              <a:buFont typeface="Wingdings" pitchFamily="2" charset="2"/>
              <a:buChar char="Ø"/>
            </a:pPr>
            <a:r>
              <a:rPr lang="en-US" sz="2000" i="1" dirty="0"/>
              <a:t>Hypothesis</a:t>
            </a:r>
            <a:r>
              <a:rPr lang="en-US" sz="2000" dirty="0"/>
              <a:t>: The association between hard drug use and treatment response will be weaker after accounting for adherence.</a:t>
            </a:r>
          </a:p>
          <a:p>
            <a:pPr lvl="0"/>
            <a:endParaRPr lang="en-US" sz="2000" b="1" dirty="0">
              <a:solidFill>
                <a:srgbClr val="181A0D"/>
              </a:solidFill>
            </a:endParaRPr>
          </a:p>
          <a:p>
            <a:pPr lvl="0"/>
            <a:endParaRPr lang="en-US" sz="2000" b="1" dirty="0">
              <a:solidFill>
                <a:srgbClr val="181A0D"/>
              </a:solidFill>
            </a:endParaRPr>
          </a:p>
          <a:p>
            <a:pPr marL="285750" indent="-285750">
              <a:buFont typeface="Wingdings" pitchFamily="2" charset="2"/>
              <a:buChar char="q"/>
            </a:pPr>
            <a:r>
              <a:rPr lang="en-US" sz="2000" b="1" dirty="0"/>
              <a:t>What are the dropout rates between hard drug users and non-users?</a:t>
            </a:r>
          </a:p>
          <a:p>
            <a:pPr marL="742950" lvl="1" indent="-285750">
              <a:buFont typeface="Wingdings" pitchFamily="2" charset="2"/>
              <a:buChar char="Ø"/>
            </a:pPr>
            <a:r>
              <a:rPr lang="en-US" sz="2000" i="1" dirty="0"/>
              <a:t>Hypothesis</a:t>
            </a:r>
            <a:r>
              <a:rPr lang="en-US" sz="2000" dirty="0"/>
              <a:t>: Baseline outcomes differ between participants with complete and incomplete cases</a:t>
            </a:r>
            <a:endParaRPr lang="en-US" dirty="0">
              <a:solidFill>
                <a:srgbClr val="181A0D"/>
              </a:solidFill>
              <a:cs typeface="OAGDQN+FranklinGothic-BookItalic"/>
            </a:endParaRPr>
          </a:p>
          <a:p>
            <a:pPr marL="285750" lvl="0" indent="-285750">
              <a:buFont typeface="Wingdings" pitchFamily="2" charset="2"/>
              <a:buChar char="q"/>
            </a:pPr>
            <a:endParaRPr lang="en-US" sz="2000" b="1" dirty="0">
              <a:solidFill>
                <a:srgbClr val="181A0D"/>
              </a:solidFill>
            </a:endParaRPr>
          </a:p>
          <a:p>
            <a:pPr marL="285750" indent="-285750">
              <a:buFont typeface="Wingdings" pitchFamily="2" charset="2"/>
              <a:buChar char="q"/>
            </a:pPr>
            <a:endParaRPr lang="en-US" dirty="0"/>
          </a:p>
        </p:txBody>
      </p:sp>
    </p:spTree>
    <p:extLst>
      <p:ext uri="{BB962C8B-B14F-4D97-AF65-F5344CB8AC3E}">
        <p14:creationId xmlns:p14="http://schemas.microsoft.com/office/powerpoint/2010/main" val="1544130030"/>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object 1"/>
          <p:cNvSpPr/>
          <p:nvPr/>
        </p:nvSpPr>
        <p:spPr>
          <a:xfrm>
            <a:off x="0" y="3713"/>
            <a:ext cx="12192000" cy="6858000"/>
          </a:xfrm>
          <a:prstGeom prst="rect">
            <a:avLst/>
          </a:prstGeom>
          <a:blipFill>
            <a:blip r:embed="rId3" cstate="print"/>
            <a:stretch>
              <a:fillRect/>
            </a:stretch>
          </a:blipFill>
        </p:spPr>
        <p:txBody>
          <a:bodyPr wrap="square" lIns="0" tIns="0" rIns="0" bIns="0" rtlCol="0">
            <a:spAutoFit/>
          </a:bodyPr>
          <a:lstStyle/>
          <a:p>
            <a:endParaRPr dirty="0"/>
          </a:p>
        </p:txBody>
      </p:sp>
      <p:sp>
        <p:nvSpPr>
          <p:cNvPr id="3" name="object 3"/>
          <p:cNvSpPr txBox="1"/>
          <p:nvPr/>
        </p:nvSpPr>
        <p:spPr>
          <a:xfrm>
            <a:off x="1199456" y="133760"/>
            <a:ext cx="3530821" cy="641201"/>
          </a:xfrm>
          <a:prstGeom prst="rect">
            <a:avLst/>
          </a:prstGeom>
        </p:spPr>
        <p:txBody>
          <a:bodyPr vert="horz" wrap="square" lIns="0" tIns="0" rIns="0" bIns="0" rtlCol="0">
            <a:spAutoFit/>
          </a:bodyPr>
          <a:lstStyle/>
          <a:p>
            <a:pPr marL="0" marR="0">
              <a:lnSpc>
                <a:spcPts val="4979"/>
              </a:lnSpc>
              <a:spcBef>
                <a:spcPts val="0"/>
              </a:spcBef>
              <a:spcAft>
                <a:spcPts val="0"/>
              </a:spcAft>
            </a:pPr>
            <a:r>
              <a:rPr sz="4400" dirty="0">
                <a:solidFill>
                  <a:srgbClr val="181A0D"/>
                </a:solidFill>
                <a:cs typeface="NOOILK+FranklinGothic-Book"/>
              </a:rPr>
              <a:t>Data </a:t>
            </a:r>
            <a:r>
              <a:rPr lang="en-US" sz="4400" spc="-18" dirty="0">
                <a:solidFill>
                  <a:srgbClr val="181A0D"/>
                </a:solidFill>
                <a:cs typeface="NOOILK+FranklinGothic-Book"/>
              </a:rPr>
              <a:t>Overview</a:t>
            </a:r>
            <a:endParaRPr sz="4400" spc="-19" dirty="0">
              <a:solidFill>
                <a:srgbClr val="181A0D"/>
              </a:solidFill>
              <a:cs typeface="NOOILK+FranklinGothic-Book"/>
            </a:endParaRPr>
          </a:p>
        </p:txBody>
      </p:sp>
      <p:sp>
        <p:nvSpPr>
          <p:cNvPr id="13" name="TextBox 12">
            <a:extLst>
              <a:ext uri="{FF2B5EF4-FFF2-40B4-BE49-F238E27FC236}">
                <a16:creationId xmlns:a16="http://schemas.microsoft.com/office/drawing/2014/main" id="{2F490F4B-F9EE-36A8-DC87-2A09F4C4F2EF}"/>
              </a:ext>
            </a:extLst>
          </p:cNvPr>
          <p:cNvSpPr txBox="1"/>
          <p:nvPr/>
        </p:nvSpPr>
        <p:spPr>
          <a:xfrm>
            <a:off x="899653" y="905008"/>
            <a:ext cx="3672408" cy="6955750"/>
          </a:xfrm>
          <a:prstGeom prst="rect">
            <a:avLst/>
          </a:prstGeom>
          <a:noFill/>
        </p:spPr>
        <p:txBody>
          <a:bodyPr wrap="square">
            <a:spAutoFit/>
          </a:bodyPr>
          <a:lstStyle/>
          <a:p>
            <a:pPr marL="285750" indent="-285750">
              <a:lnSpc>
                <a:spcPts val="2258"/>
              </a:lnSpc>
              <a:buFont typeface="Wingdings" pitchFamily="2" charset="2"/>
              <a:buChar char="q"/>
            </a:pPr>
            <a:r>
              <a:rPr lang="en-US" b="1" dirty="0">
                <a:solidFill>
                  <a:srgbClr val="181A0D"/>
                </a:solidFill>
              </a:rPr>
              <a:t>Multicenter AIDS Cohort Study (MACS)</a:t>
            </a:r>
          </a:p>
          <a:p>
            <a:pPr marL="742950" lvl="1" indent="-285750">
              <a:lnSpc>
                <a:spcPts val="2258"/>
              </a:lnSpc>
              <a:buFont typeface="Wingdings" pitchFamily="2" charset="2"/>
              <a:buChar char="Ø"/>
            </a:pPr>
            <a:r>
              <a:rPr lang="en-US" dirty="0">
                <a:solidFill>
                  <a:srgbClr val="181A0D"/>
                </a:solidFill>
              </a:rPr>
              <a:t>Prospective study of HIV-1 in homosexual/bisexual men in four major cities</a:t>
            </a:r>
          </a:p>
          <a:p>
            <a:pPr marL="285750" indent="-285750">
              <a:lnSpc>
                <a:spcPts val="2258"/>
              </a:lnSpc>
              <a:buFont typeface="Wingdings" pitchFamily="2" charset="2"/>
              <a:buChar char="q"/>
            </a:pPr>
            <a:endParaRPr lang="en-US" b="1" dirty="0">
              <a:solidFill>
                <a:srgbClr val="181A0D"/>
              </a:solidFill>
            </a:endParaRPr>
          </a:p>
          <a:p>
            <a:pPr marL="285750" indent="-285750">
              <a:lnSpc>
                <a:spcPts val="2258"/>
              </a:lnSpc>
              <a:buFont typeface="Wingdings" pitchFamily="2" charset="2"/>
              <a:buChar char="q"/>
            </a:pPr>
            <a:r>
              <a:rPr lang="en-US" b="1" dirty="0">
                <a:solidFill>
                  <a:srgbClr val="181A0D"/>
                </a:solidFill>
              </a:rPr>
              <a:t>715 subjects in initial dataset</a:t>
            </a:r>
          </a:p>
          <a:p>
            <a:pPr marL="742950" lvl="1" indent="-285750">
              <a:lnSpc>
                <a:spcPts val="2258"/>
              </a:lnSpc>
              <a:buFont typeface="Wingdings" pitchFamily="2" charset="2"/>
              <a:buChar char="Ø"/>
            </a:pPr>
            <a:r>
              <a:rPr lang="en-US" dirty="0">
                <a:solidFill>
                  <a:srgbClr val="181A0D"/>
                </a:solidFill>
              </a:rPr>
              <a:t>Implausible BMI values labeled as missing</a:t>
            </a:r>
          </a:p>
          <a:p>
            <a:pPr marL="742950" lvl="1" indent="-285750">
              <a:lnSpc>
                <a:spcPts val="2258"/>
              </a:lnSpc>
              <a:buFont typeface="Wingdings" pitchFamily="2" charset="2"/>
              <a:buChar char="Ø"/>
            </a:pPr>
            <a:r>
              <a:rPr lang="en-US" dirty="0">
                <a:solidFill>
                  <a:srgbClr val="181A0D"/>
                </a:solidFill>
              </a:rPr>
              <a:t>Complete-case analysis</a:t>
            </a:r>
          </a:p>
          <a:p>
            <a:pPr marL="1200150" lvl="2" indent="-285750">
              <a:lnSpc>
                <a:spcPts val="2258"/>
              </a:lnSpc>
              <a:buFont typeface="Arial" panose="020B0604020202020204" pitchFamily="34" charset="0"/>
              <a:buChar char="•"/>
            </a:pPr>
            <a:r>
              <a:rPr lang="en-US" dirty="0">
                <a:solidFill>
                  <a:srgbClr val="181A0D"/>
                </a:solidFill>
              </a:rPr>
              <a:t>463 subjects used</a:t>
            </a:r>
          </a:p>
          <a:p>
            <a:pPr lvl="1">
              <a:lnSpc>
                <a:spcPts val="2258"/>
              </a:lnSpc>
            </a:pPr>
            <a:endParaRPr lang="en-US" dirty="0">
              <a:solidFill>
                <a:srgbClr val="181A0D"/>
              </a:solidFill>
              <a:cs typeface="OAGDQN+FranklinGothic-BookItalic"/>
            </a:endParaRPr>
          </a:p>
          <a:p>
            <a:pPr marL="285750" indent="-285750">
              <a:buFont typeface="Wingdings" pitchFamily="2" charset="2"/>
              <a:buChar char="q"/>
            </a:pPr>
            <a:r>
              <a:rPr lang="en-US" b="1" dirty="0"/>
              <a:t>Transformations</a:t>
            </a:r>
          </a:p>
          <a:p>
            <a:pPr marL="742950" lvl="1" indent="-285750">
              <a:buFont typeface="Wingdings" pitchFamily="2" charset="2"/>
              <a:buChar char="Ø"/>
            </a:pPr>
            <a:r>
              <a:rPr lang="en-US" dirty="0"/>
              <a:t>Log10 transformed viral load</a:t>
            </a:r>
          </a:p>
          <a:p>
            <a:pPr marL="742950" lvl="1" indent="-285750">
              <a:buFont typeface="Wingdings" pitchFamily="2" charset="2"/>
              <a:buChar char="Ø"/>
            </a:pPr>
            <a:r>
              <a:rPr lang="en-US" dirty="0"/>
              <a:t>All other variables kept on original scale</a:t>
            </a:r>
          </a:p>
          <a:p>
            <a:pPr marL="742950" lvl="1" indent="-285750">
              <a:buFont typeface="Wingdings" pitchFamily="2" charset="2"/>
              <a:buChar char="Ø"/>
            </a:pPr>
            <a:endParaRPr lang="en-US" dirty="0"/>
          </a:p>
          <a:p>
            <a:pPr marL="285750" indent="-285750">
              <a:buFont typeface="Wingdings" pitchFamily="2" charset="2"/>
              <a:buChar char="q"/>
            </a:pPr>
            <a:r>
              <a:rPr lang="en-US" b="1" dirty="0"/>
              <a:t>Hard drug use and adherence coded as binary</a:t>
            </a:r>
            <a:endParaRPr lang="en-US" dirty="0"/>
          </a:p>
          <a:p>
            <a:pPr marL="742950" lvl="1" indent="-285750">
              <a:buFont typeface="Wingdings" pitchFamily="2" charset="2"/>
              <a:buChar char="Ø"/>
            </a:pPr>
            <a:endParaRPr lang="en-US" dirty="0"/>
          </a:p>
          <a:p>
            <a:pPr marL="285750" indent="-285750">
              <a:buFont typeface="Wingdings" pitchFamily="2" charset="2"/>
              <a:buChar char="Ø"/>
            </a:pPr>
            <a:endParaRPr lang="en-US" dirty="0"/>
          </a:p>
          <a:p>
            <a:pPr marL="285750" indent="-285750">
              <a:buFont typeface="Wingdings" pitchFamily="2" charset="2"/>
              <a:buChar char="Ø"/>
            </a:pPr>
            <a:endParaRPr lang="en-US" dirty="0"/>
          </a:p>
          <a:p>
            <a:endParaRPr lang="en-US" dirty="0">
              <a:solidFill>
                <a:srgbClr val="181A0D"/>
              </a:solidFill>
              <a:cs typeface="OAGDQN+FranklinGothic-BookItalic"/>
            </a:endParaRPr>
          </a:p>
          <a:p>
            <a:pPr marL="285750" indent="-285750">
              <a:buFont typeface="Wingdings" pitchFamily="2" charset="2"/>
              <a:buChar char="§"/>
            </a:pPr>
            <a:endParaRPr lang="en-US" dirty="0"/>
          </a:p>
        </p:txBody>
      </p:sp>
      <p:pic>
        <p:nvPicPr>
          <p:cNvPr id="5" name="Picture 4">
            <a:extLst>
              <a:ext uri="{FF2B5EF4-FFF2-40B4-BE49-F238E27FC236}">
                <a16:creationId xmlns:a16="http://schemas.microsoft.com/office/drawing/2014/main" id="{34F9E3E6-3B52-9F5B-7D2C-EEA89A8243B3}"/>
              </a:ext>
            </a:extLst>
          </p:cNvPr>
          <p:cNvPicPr>
            <a:picLocks noChangeAspect="1"/>
          </p:cNvPicPr>
          <p:nvPr/>
        </p:nvPicPr>
        <p:blipFill>
          <a:blip r:embed="rId4"/>
          <a:stretch>
            <a:fillRect/>
          </a:stretch>
        </p:blipFill>
        <p:spPr>
          <a:xfrm>
            <a:off x="6581716" y="0"/>
            <a:ext cx="4710631" cy="6858000"/>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object 1"/>
          <p:cNvSpPr/>
          <p:nvPr/>
        </p:nvSpPr>
        <p:spPr>
          <a:xfrm>
            <a:off x="0" y="0"/>
            <a:ext cx="12192000" cy="6858000"/>
          </a:xfrm>
          <a:prstGeom prst="rect">
            <a:avLst/>
          </a:prstGeom>
          <a:blipFill>
            <a:blip r:embed="rId3" cstate="print"/>
            <a:stretch>
              <a:fillRect/>
            </a:stretch>
          </a:blipFill>
        </p:spPr>
        <p:txBody>
          <a:bodyPr wrap="square" lIns="0" tIns="0" rIns="0" bIns="0" rtlCol="0">
            <a:spAutoFit/>
          </a:bodyPr>
          <a:lstStyle/>
          <a:p>
            <a:endParaRPr dirty="0"/>
          </a:p>
        </p:txBody>
      </p:sp>
      <p:sp>
        <p:nvSpPr>
          <p:cNvPr id="3" name="object 3"/>
          <p:cNvSpPr txBox="1"/>
          <p:nvPr/>
        </p:nvSpPr>
        <p:spPr>
          <a:xfrm>
            <a:off x="1463040" y="206635"/>
            <a:ext cx="2057883" cy="641201"/>
          </a:xfrm>
          <a:prstGeom prst="rect">
            <a:avLst/>
          </a:prstGeom>
        </p:spPr>
        <p:txBody>
          <a:bodyPr vert="horz" wrap="square" lIns="0" tIns="0" rIns="0" bIns="0" rtlCol="0">
            <a:spAutoFit/>
          </a:bodyPr>
          <a:lstStyle/>
          <a:p>
            <a:pPr marL="0" marR="0">
              <a:lnSpc>
                <a:spcPts val="4979"/>
              </a:lnSpc>
              <a:spcBef>
                <a:spcPts val="0"/>
              </a:spcBef>
              <a:spcAft>
                <a:spcPts val="0"/>
              </a:spcAft>
            </a:pPr>
            <a:r>
              <a:rPr sz="4400" dirty="0">
                <a:solidFill>
                  <a:srgbClr val="181A0D"/>
                </a:solidFill>
                <a:cs typeface="VTCKGD+FranklinGothic-Book"/>
              </a:rPr>
              <a:t>Analysis</a:t>
            </a:r>
          </a:p>
        </p:txBody>
      </p:sp>
      <mc:AlternateContent xmlns:mc="http://schemas.openxmlformats.org/markup-compatibility/2006">
        <mc:Choice xmlns:a14="http://schemas.microsoft.com/office/drawing/2010/main" Requires="a14">
          <p:sp>
            <p:nvSpPr>
              <p:cNvPr id="4" name="object 4"/>
              <p:cNvSpPr txBox="1"/>
              <p:nvPr/>
            </p:nvSpPr>
            <p:spPr>
              <a:xfrm>
                <a:off x="1092464" y="1054471"/>
                <a:ext cx="11089232" cy="6783908"/>
              </a:xfrm>
              <a:prstGeom prst="rect">
                <a:avLst/>
              </a:prstGeom>
            </p:spPr>
            <p:txBody>
              <a:bodyPr vert="horz" wrap="square" lIns="0" tIns="0" rIns="0" bIns="0" rtlCol="0">
                <a:spAutoFit/>
              </a:bodyPr>
              <a:lstStyle/>
              <a:p>
                <a:pPr marL="342900" marR="0" indent="-342900">
                  <a:lnSpc>
                    <a:spcPts val="2258"/>
                  </a:lnSpc>
                  <a:spcBef>
                    <a:spcPts val="0"/>
                  </a:spcBef>
                  <a:spcAft>
                    <a:spcPts val="0"/>
                  </a:spcAft>
                  <a:buFont typeface="Wingdings" pitchFamily="2" charset="2"/>
                  <a:buChar char="q"/>
                </a:pPr>
                <a:r>
                  <a:rPr lang="en-US" sz="2400" b="1" spc="-25" dirty="0">
                    <a:solidFill>
                      <a:srgbClr val="181A0D"/>
                    </a:solidFill>
                    <a:cs typeface="OAGDQN+FranklinGothic-BookItalic"/>
                  </a:rPr>
                  <a:t>Primary: Year-2 Response</a:t>
                </a:r>
                <a:endParaRPr lang="en-US" sz="2000" spc="-25" dirty="0">
                  <a:solidFill>
                    <a:srgbClr val="181A0D"/>
                  </a:solidFill>
                  <a:cs typeface="OAGDQN+FranklinGothic-BookItalic"/>
                </a:endParaRPr>
              </a:p>
              <a:p>
                <a:pPr marL="800100" lvl="1" indent="-342900">
                  <a:lnSpc>
                    <a:spcPts val="2258"/>
                  </a:lnSpc>
                  <a:buFont typeface="Wingdings" pitchFamily="2" charset="2"/>
                  <a:buChar char="Ø"/>
                </a:pPr>
                <a:r>
                  <a:rPr lang="en-US" sz="2000" spc="-25" dirty="0">
                    <a:solidFill>
                      <a:srgbClr val="181A0D"/>
                    </a:solidFill>
                    <a:cs typeface="OAGDQN+FranklinGothic-BookItalic"/>
                  </a:rPr>
                  <a:t>Bayesian </a:t>
                </a:r>
                <a:r>
                  <a:rPr lang="en-US" sz="2000" spc="-25" dirty="0">
                    <a:solidFill>
                      <a:srgbClr val="181A0D"/>
                    </a:solidFill>
                  </a:rPr>
                  <a:t>regression (brms, HMC-NUTS) + parallel Frequentist regression</a:t>
                </a:r>
              </a:p>
              <a:p>
                <a:pPr marL="800100" lvl="1" indent="-342900">
                  <a:lnSpc>
                    <a:spcPts val="2258"/>
                  </a:lnSpc>
                  <a:buFont typeface="Wingdings" pitchFamily="2" charset="2"/>
                  <a:buChar char="Ø"/>
                </a:pPr>
                <a:r>
                  <a:rPr lang="en-US" sz="2000" spc="-25" dirty="0">
                    <a:solidFill>
                      <a:srgbClr val="181A0D"/>
                    </a:solidFill>
                    <a:cs typeface="OAGDQN+FranklinGothic-BookItalic"/>
                  </a:rPr>
                  <a:t>Priors: weakly(vague)-informative </a:t>
                </a:r>
              </a:p>
              <a:p>
                <a:pPr marL="1714500" lvl="3" indent="-342900">
                  <a:lnSpc>
                    <a:spcPts val="2258"/>
                  </a:lnSpc>
                  <a:buFont typeface="Arial" panose="020B0604020202020204" pitchFamily="34" charset="0"/>
                  <a:buChar char="•"/>
                </a:pPr>
                <a:r>
                  <a:rPr lang="en-US" sz="2000" spc="-25" dirty="0">
                    <a:solidFill>
                      <a:srgbClr val="181A0D"/>
                    </a:solidFill>
                    <a:cs typeface="OAGDQN+FranklinGothic-BookItalic"/>
                  </a:rPr>
                  <a:t>N(0,</a:t>
                </a:r>
                <a14:m>
                  <m:oMath xmlns:m="http://schemas.openxmlformats.org/officeDocument/2006/math">
                    <m:sSup>
                      <m:sSupPr>
                        <m:ctrlPr>
                          <a:rPr lang="en-US" sz="2000" i="1" spc="-25" smtClean="0">
                            <a:solidFill>
                              <a:srgbClr val="181A0D"/>
                            </a:solidFill>
                            <a:latin typeface="Cambria Math" panose="02040503050406030204" pitchFamily="18" charset="0"/>
                          </a:rPr>
                        </m:ctrlPr>
                      </m:sSupPr>
                      <m:e>
                        <m:r>
                          <a:rPr lang="en-US" sz="2000" b="0" i="1" spc="-25" smtClean="0">
                            <a:solidFill>
                              <a:srgbClr val="181A0D"/>
                            </a:solidFill>
                            <a:latin typeface="Cambria Math" panose="02040503050406030204" pitchFamily="18" charset="0"/>
                          </a:rPr>
                          <m:t>100</m:t>
                        </m:r>
                      </m:e>
                      <m:sup>
                        <m:r>
                          <a:rPr lang="en-US" sz="2000" b="0" i="1" spc="-25" smtClean="0">
                            <a:solidFill>
                              <a:srgbClr val="181A0D"/>
                            </a:solidFill>
                            <a:latin typeface="Cambria Math" panose="02040503050406030204" pitchFamily="18" charset="0"/>
                          </a:rPr>
                          <m:t>2</m:t>
                        </m:r>
                      </m:sup>
                    </m:sSup>
                  </m:oMath>
                </a14:m>
                <a:r>
                  <a:rPr lang="en-US" sz="2000" spc="-25" dirty="0">
                    <a:solidFill>
                      <a:srgbClr val="181A0D"/>
                    </a:solidFill>
                    <a:cs typeface="OAGDQN+FranklinGothic-BookItalic"/>
                  </a:rPr>
                  <a:t>) on regression coefficients </a:t>
                </a:r>
              </a:p>
              <a:p>
                <a:pPr marL="1714500" lvl="3" indent="-342900">
                  <a:lnSpc>
                    <a:spcPts val="2258"/>
                  </a:lnSpc>
                  <a:buFont typeface="Arial" panose="020B0604020202020204" pitchFamily="34" charset="0"/>
                  <a:buChar char="•"/>
                </a:pPr>
                <a:r>
                  <a:rPr lang="en-US" sz="2000" spc="-25" dirty="0">
                    <a:solidFill>
                      <a:srgbClr val="181A0D"/>
                    </a:solidFill>
                    <a:cs typeface="OAGDQN+FranklinGothic-BookItalic"/>
                  </a:rPr>
                  <a:t>Half-t(3,0,</a:t>
                </a:r>
                <a:r>
                  <a:rPr lang="en-US" sz="2000" spc="-25" dirty="0">
                    <a:solidFill>
                      <a:srgbClr val="181A0D"/>
                    </a:solidFill>
                  </a:rPr>
                  <a:t> </a:t>
                </a:r>
                <a14:m>
                  <m:oMath xmlns:m="http://schemas.openxmlformats.org/officeDocument/2006/math">
                    <m:sSup>
                      <m:sSupPr>
                        <m:ctrlPr>
                          <a:rPr lang="en-US" sz="2000" i="1" spc="-25">
                            <a:solidFill>
                              <a:srgbClr val="181A0D"/>
                            </a:solidFill>
                            <a:latin typeface="Cambria Math" panose="02040503050406030204" pitchFamily="18" charset="0"/>
                          </a:rPr>
                        </m:ctrlPr>
                      </m:sSupPr>
                      <m:e>
                        <m:r>
                          <a:rPr lang="en-US" sz="2000" i="1" spc="-25">
                            <a:solidFill>
                              <a:srgbClr val="181A0D"/>
                            </a:solidFill>
                            <a:latin typeface="Cambria Math" panose="02040503050406030204" pitchFamily="18" charset="0"/>
                          </a:rPr>
                          <m:t>100</m:t>
                        </m:r>
                      </m:e>
                      <m:sup>
                        <m:r>
                          <a:rPr lang="en-US" sz="2000" i="1" spc="-25">
                            <a:solidFill>
                              <a:srgbClr val="181A0D"/>
                            </a:solidFill>
                            <a:latin typeface="Cambria Math" panose="02040503050406030204" pitchFamily="18" charset="0"/>
                          </a:rPr>
                          <m:t>2</m:t>
                        </m:r>
                      </m:sup>
                    </m:sSup>
                    <m:r>
                      <a:rPr lang="en-US" sz="2000" b="0" i="1" spc="-25" smtClean="0">
                        <a:solidFill>
                          <a:srgbClr val="181A0D"/>
                        </a:solidFill>
                        <a:latin typeface="Cambria Math" panose="02040503050406030204" pitchFamily="18" charset="0"/>
                      </a:rPr>
                      <m:t>)</m:t>
                    </m:r>
                  </m:oMath>
                </a14:m>
                <a:r>
                  <a:rPr lang="en-US" sz="2000" spc="-25" dirty="0">
                    <a:solidFill>
                      <a:srgbClr val="181A0D"/>
                    </a:solidFill>
                    <a:cs typeface="OAGDQN+FranklinGothic-BookItalic"/>
                  </a:rPr>
                  <a:t> on residual variance</a:t>
                </a:r>
              </a:p>
              <a:p>
                <a:pPr marL="800100" lvl="1" indent="-342900">
                  <a:lnSpc>
                    <a:spcPts val="2258"/>
                  </a:lnSpc>
                  <a:buFont typeface="Wingdings" pitchFamily="2" charset="2"/>
                  <a:buChar char="Ø"/>
                </a:pPr>
                <a:r>
                  <a:rPr lang="en-US" sz="2000" spc="-25" dirty="0">
                    <a:solidFill>
                      <a:srgbClr val="181A0D"/>
                    </a:solidFill>
                    <a:cs typeface="OAGDQN+FranklinGothic-BookItalic"/>
                  </a:rPr>
                  <a:t>Adjusted for:</a:t>
                </a:r>
              </a:p>
              <a:p>
                <a:pPr marL="1257300" lvl="2" indent="-342900">
                  <a:lnSpc>
                    <a:spcPts val="2258"/>
                  </a:lnSpc>
                  <a:buFont typeface="Courier New" panose="02070309020205020404" pitchFamily="49" charset="0"/>
                  <a:buChar char="o"/>
                </a:pPr>
                <a:r>
                  <a:rPr lang="en-US" sz="2000" dirty="0"/>
                  <a:t>Baseline outcome value, Age, BMI, smoking status, education, race/ethnicity </a:t>
                </a:r>
                <a:endParaRPr lang="en-US" sz="2000" spc="-25" dirty="0">
                  <a:solidFill>
                    <a:srgbClr val="181A0D"/>
                  </a:solidFill>
                  <a:cs typeface="OAGDQN+FranklinGothic-BookItalic"/>
                </a:endParaRPr>
              </a:p>
              <a:p>
                <a:pPr lvl="1">
                  <a:lnSpc>
                    <a:spcPts val="2258"/>
                  </a:lnSpc>
                </a:pPr>
                <a:endParaRPr lang="en-US" sz="2000" spc="-25" dirty="0">
                  <a:solidFill>
                    <a:srgbClr val="181A0D"/>
                  </a:solidFill>
                  <a:cs typeface="OAGDQN+FranklinGothic-BookItalic"/>
                </a:endParaRPr>
              </a:p>
              <a:p>
                <a:pPr lvl="1">
                  <a:lnSpc>
                    <a:spcPts val="2258"/>
                  </a:lnSpc>
                </a:pPr>
                <a:endParaRPr lang="en-US" sz="2000" spc="-25" dirty="0">
                  <a:solidFill>
                    <a:srgbClr val="181A0D"/>
                  </a:solidFill>
                  <a:cs typeface="OAGDQN+FranklinGothic-BookItalic"/>
                </a:endParaRPr>
              </a:p>
              <a:p>
                <a:pPr marL="342900" marR="0" indent="-342900">
                  <a:lnSpc>
                    <a:spcPts val="2258"/>
                  </a:lnSpc>
                  <a:spcBef>
                    <a:spcPts val="0"/>
                  </a:spcBef>
                  <a:spcAft>
                    <a:spcPts val="0"/>
                  </a:spcAft>
                  <a:buFont typeface="Wingdings" pitchFamily="2" charset="2"/>
                  <a:buChar char="q"/>
                </a:pPr>
                <a:r>
                  <a:rPr lang="en-US" sz="2400" b="1" spc="-25" dirty="0">
                    <a:solidFill>
                      <a:srgbClr val="181A0D"/>
                    </a:solidFill>
                    <a:cs typeface="OAGDQN+FranklinGothic-BookItalic"/>
                  </a:rPr>
                  <a:t>Secondary: Adherence</a:t>
                </a:r>
                <a:r>
                  <a:rPr lang="en-US" sz="2000" spc="-25" dirty="0">
                    <a:solidFill>
                      <a:srgbClr val="181A0D"/>
                    </a:solidFill>
                    <a:cs typeface="OAGDQN+FranklinGothic-BookItalic"/>
                  </a:rPr>
                  <a:t> </a:t>
                </a:r>
              </a:p>
              <a:p>
                <a:pPr marL="800100" lvl="1" indent="-342900">
                  <a:lnSpc>
                    <a:spcPts val="2258"/>
                  </a:lnSpc>
                  <a:buFont typeface="Wingdings" pitchFamily="2" charset="2"/>
                  <a:buChar char="Ø"/>
                </a:pPr>
                <a:r>
                  <a:rPr lang="en-US" sz="2000" spc="-25" dirty="0">
                    <a:solidFill>
                      <a:srgbClr val="181A0D"/>
                    </a:solidFill>
                    <a:cs typeface="OAGDQN+FranklinGothic-BookItalic"/>
                  </a:rPr>
                  <a:t>Adherence dichotomized (&lt;95%, ≥95%) used to test association between hard drug users and response</a:t>
                </a:r>
              </a:p>
              <a:p>
                <a:pPr marL="800100" lvl="1" indent="-342900">
                  <a:lnSpc>
                    <a:spcPts val="2258"/>
                  </a:lnSpc>
                  <a:buFont typeface="Wingdings" pitchFamily="2" charset="2"/>
                  <a:buChar char="Ø"/>
                </a:pPr>
                <a:endParaRPr lang="en-US" sz="2000" spc="-25" dirty="0">
                  <a:solidFill>
                    <a:srgbClr val="181A0D"/>
                  </a:solidFill>
                  <a:cs typeface="OAGDQN+FranklinGothic-BookItalic"/>
                </a:endParaRPr>
              </a:p>
              <a:p>
                <a:pPr marL="342900" marR="0" indent="-342900">
                  <a:lnSpc>
                    <a:spcPts val="2258"/>
                  </a:lnSpc>
                  <a:spcBef>
                    <a:spcPts val="0"/>
                  </a:spcBef>
                  <a:spcAft>
                    <a:spcPts val="0"/>
                  </a:spcAft>
                  <a:buFont typeface="Wingdings" pitchFamily="2" charset="2"/>
                  <a:buChar char="q"/>
                </a:pPr>
                <a:endParaRPr lang="en-US" sz="2000" spc="-25" dirty="0">
                  <a:solidFill>
                    <a:srgbClr val="181A0D"/>
                  </a:solidFill>
                  <a:cs typeface="OAGDQN+FranklinGothic-BookItalic"/>
                </a:endParaRPr>
              </a:p>
              <a:p>
                <a:pPr marL="342900" marR="0" indent="-342900">
                  <a:lnSpc>
                    <a:spcPts val="2258"/>
                  </a:lnSpc>
                  <a:spcBef>
                    <a:spcPts val="0"/>
                  </a:spcBef>
                  <a:spcAft>
                    <a:spcPts val="0"/>
                  </a:spcAft>
                  <a:buFont typeface="Wingdings" pitchFamily="2" charset="2"/>
                  <a:buChar char="q"/>
                </a:pPr>
                <a:r>
                  <a:rPr lang="en-US" sz="2400" b="1" spc="-25" dirty="0">
                    <a:solidFill>
                      <a:srgbClr val="181A0D"/>
                    </a:solidFill>
                    <a:cs typeface="OAGDQN+FranklinGothic-BookItalic"/>
                  </a:rPr>
                  <a:t>Secondary: Dropout Rates</a:t>
                </a:r>
                <a:r>
                  <a:rPr lang="en-US" sz="2000" spc="-25" dirty="0">
                    <a:solidFill>
                      <a:srgbClr val="181A0D"/>
                    </a:solidFill>
                    <a:cs typeface="OAGDQN+FranklinGothic-BookItalic"/>
                  </a:rPr>
                  <a:t> </a:t>
                </a:r>
              </a:p>
              <a:p>
                <a:pPr marL="800100" lvl="1" indent="-342900">
                  <a:lnSpc>
                    <a:spcPts val="2258"/>
                  </a:lnSpc>
                  <a:buFont typeface="Wingdings" pitchFamily="2" charset="2"/>
                  <a:buChar char="Ø"/>
                </a:pPr>
                <a:r>
                  <a:rPr lang="en-US" sz="2000" spc="-25" dirty="0">
                    <a:solidFill>
                      <a:srgbClr val="181A0D"/>
                    </a:solidFill>
                    <a:cs typeface="OAGDQN+FranklinGothic-BookItalic"/>
                  </a:rPr>
                  <a:t>Complete (Baseline+Year-2) vs Missing Year-2</a:t>
                </a:r>
              </a:p>
              <a:p>
                <a:pPr marL="1257300" lvl="2" indent="-342900">
                  <a:lnSpc>
                    <a:spcPts val="2258"/>
                  </a:lnSpc>
                  <a:buFont typeface="Courier New" panose="02070309020205020404" pitchFamily="49" charset="0"/>
                  <a:buChar char="o"/>
                </a:pPr>
                <a:r>
                  <a:rPr lang="en-US" sz="2000" spc="-25" dirty="0">
                    <a:solidFill>
                      <a:srgbClr val="181A0D"/>
                    </a:solidFill>
                    <a:cs typeface="OAGDQN+FranklinGothic-BookItalic"/>
                  </a:rPr>
                  <a:t>Nonparametric (Wilcoxon)</a:t>
                </a:r>
              </a:p>
              <a:p>
                <a:pPr marL="800100" lvl="1" indent="-342900">
                  <a:lnSpc>
                    <a:spcPts val="2258"/>
                  </a:lnSpc>
                  <a:buFont typeface="Wingdings" pitchFamily="2" charset="2"/>
                  <a:buChar char="Ø"/>
                </a:pPr>
                <a:r>
                  <a:rPr lang="en-US" sz="2000" spc="-25" dirty="0">
                    <a:solidFill>
                      <a:srgbClr val="181A0D"/>
                    </a:solidFill>
                    <a:cs typeface="OAGDQN+FranklinGothic-BookItalic"/>
                  </a:rPr>
                  <a:t>Logistic regression: </a:t>
                </a:r>
                <a:r>
                  <a:rPr lang="en-US" sz="2000" dirty="0"/>
                  <a:t> Follow-up Status (Missing Year 2 = 1 vs complete = 0)</a:t>
                </a:r>
              </a:p>
              <a:p>
                <a:pPr marL="1257300" lvl="2" indent="-342900">
                  <a:lnSpc>
                    <a:spcPts val="2258"/>
                  </a:lnSpc>
                  <a:buFont typeface="Courier New" panose="02070309020205020404" pitchFamily="49" charset="0"/>
                  <a:buChar char="o"/>
                </a:pPr>
                <a:r>
                  <a:rPr lang="en-US" sz="2000" dirty="0"/>
                  <a:t>Function of baseline outcome and covariate measures</a:t>
                </a:r>
              </a:p>
              <a:p>
                <a:pPr lvl="1">
                  <a:lnSpc>
                    <a:spcPts val="2258"/>
                  </a:lnSpc>
                </a:pPr>
                <a:endParaRPr lang="en-US" sz="2000" spc="-25" dirty="0">
                  <a:solidFill>
                    <a:srgbClr val="181A0D"/>
                  </a:solidFill>
                  <a:cs typeface="OAGDQN+FranklinGothic-BookItalic"/>
                </a:endParaRPr>
              </a:p>
              <a:p>
                <a:pPr marL="342900" marR="0" indent="-342900">
                  <a:lnSpc>
                    <a:spcPts val="2258"/>
                  </a:lnSpc>
                  <a:spcBef>
                    <a:spcPts val="0"/>
                  </a:spcBef>
                  <a:spcAft>
                    <a:spcPts val="0"/>
                  </a:spcAft>
                  <a:buFont typeface="Wingdings" pitchFamily="2" charset="2"/>
                  <a:buChar char="q"/>
                </a:pPr>
                <a:endParaRPr lang="en-US" sz="2000" spc="-25" dirty="0">
                  <a:solidFill>
                    <a:srgbClr val="181A0D"/>
                  </a:solidFill>
                  <a:cs typeface="OAGDQN+FranklinGothic-BookItalic"/>
                </a:endParaRPr>
              </a:p>
              <a:p>
                <a:pPr marL="342900" marR="0" indent="-342900">
                  <a:lnSpc>
                    <a:spcPts val="2258"/>
                  </a:lnSpc>
                  <a:spcBef>
                    <a:spcPts val="0"/>
                  </a:spcBef>
                  <a:spcAft>
                    <a:spcPts val="0"/>
                  </a:spcAft>
                  <a:buFont typeface="Wingdings" pitchFamily="2" charset="2"/>
                  <a:buChar char="q"/>
                </a:pPr>
                <a:endParaRPr lang="en-US" sz="2000" spc="-25" dirty="0">
                  <a:solidFill>
                    <a:srgbClr val="181A0D"/>
                  </a:solidFill>
                  <a:cs typeface="OAGDQN+FranklinGothic-BookItalic"/>
                </a:endParaRPr>
              </a:p>
              <a:p>
                <a:pPr marL="342900" marR="0" indent="-342900">
                  <a:lnSpc>
                    <a:spcPts val="2258"/>
                  </a:lnSpc>
                  <a:spcBef>
                    <a:spcPts val="0"/>
                  </a:spcBef>
                  <a:spcAft>
                    <a:spcPts val="0"/>
                  </a:spcAft>
                  <a:buFont typeface="Wingdings" pitchFamily="2" charset="2"/>
                  <a:buChar char="q"/>
                </a:pPr>
                <a:endParaRPr sz="2000" spc="-25" dirty="0">
                  <a:solidFill>
                    <a:srgbClr val="181A0D"/>
                  </a:solidFill>
                  <a:cs typeface="OAGDQN+FranklinGothic-BookItalic"/>
                </a:endParaRPr>
              </a:p>
            </p:txBody>
          </p:sp>
        </mc:Choice>
        <mc:Fallback>
          <p:sp>
            <p:nvSpPr>
              <p:cNvPr id="4" name="object 4"/>
              <p:cNvSpPr txBox="1">
                <a:spLocks noRot="1" noChangeAspect="1" noMove="1" noResize="1" noEditPoints="1" noAdjustHandles="1" noChangeArrowheads="1" noChangeShapeType="1" noTextEdit="1"/>
              </p:cNvSpPr>
              <p:nvPr/>
            </p:nvSpPr>
            <p:spPr>
              <a:xfrm>
                <a:off x="1092464" y="1054471"/>
                <a:ext cx="11089232" cy="6783908"/>
              </a:xfrm>
              <a:prstGeom prst="rect">
                <a:avLst/>
              </a:prstGeom>
              <a:blipFill>
                <a:blip r:embed="rId4"/>
                <a:stretch>
                  <a:fillRect l="-1486" t="-2430"/>
                </a:stretch>
              </a:blipFill>
            </p:spPr>
            <p:txBody>
              <a:bodyPr/>
              <a:lstStyle/>
              <a:p>
                <a:r>
                  <a:rPr lang="en-US">
                    <a:noFill/>
                  </a:rPr>
                  <a:t> </a:t>
                </a:r>
              </a:p>
            </p:txBody>
          </p:sp>
        </mc:Fallback>
      </mc:AlternateContent>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object 1"/>
          <p:cNvSpPr/>
          <p:nvPr/>
        </p:nvSpPr>
        <p:spPr>
          <a:xfrm>
            <a:off x="0" y="0"/>
            <a:ext cx="12192000" cy="6858000"/>
          </a:xfrm>
          <a:prstGeom prst="rect">
            <a:avLst/>
          </a:prstGeom>
          <a:blipFill>
            <a:blip r:embed="rId3" cstate="print"/>
            <a:stretch>
              <a:fillRect/>
            </a:stretch>
          </a:blipFill>
        </p:spPr>
        <p:txBody>
          <a:bodyPr wrap="square" lIns="0" tIns="0" rIns="0" bIns="0" rtlCol="0">
            <a:spAutoFit/>
          </a:bodyPr>
          <a:lstStyle/>
          <a:p>
            <a:endParaRPr dirty="0"/>
          </a:p>
        </p:txBody>
      </p:sp>
      <p:sp>
        <p:nvSpPr>
          <p:cNvPr id="3" name="object 3"/>
          <p:cNvSpPr txBox="1"/>
          <p:nvPr/>
        </p:nvSpPr>
        <p:spPr>
          <a:xfrm>
            <a:off x="1463069" y="173199"/>
            <a:ext cx="7657267" cy="641201"/>
          </a:xfrm>
          <a:prstGeom prst="rect">
            <a:avLst/>
          </a:prstGeom>
        </p:spPr>
        <p:txBody>
          <a:bodyPr vert="horz" wrap="square" lIns="0" tIns="0" rIns="0" bIns="0" rtlCol="0">
            <a:spAutoFit/>
          </a:bodyPr>
          <a:lstStyle/>
          <a:p>
            <a:pPr marL="0" marR="0">
              <a:lnSpc>
                <a:spcPts val="4979"/>
              </a:lnSpc>
              <a:spcBef>
                <a:spcPts val="0"/>
              </a:spcBef>
              <a:spcAft>
                <a:spcPts val="0"/>
              </a:spcAft>
            </a:pPr>
            <a:r>
              <a:rPr sz="4400" spc="-12" dirty="0">
                <a:solidFill>
                  <a:srgbClr val="181A0D"/>
                </a:solidFill>
                <a:cs typeface="MPIRPG+FranklinGothic-Book"/>
              </a:rPr>
              <a:t>Results</a:t>
            </a:r>
            <a:r>
              <a:rPr lang="en-US" sz="4400" spc="-12" dirty="0">
                <a:solidFill>
                  <a:srgbClr val="181A0D"/>
                </a:solidFill>
                <a:cs typeface="MPIRPG+FranklinGothic-Book"/>
              </a:rPr>
              <a:t> - treatment response</a:t>
            </a:r>
            <a:endParaRPr sz="4400" spc="-12" dirty="0">
              <a:solidFill>
                <a:srgbClr val="181A0D"/>
              </a:solidFill>
              <a:cs typeface="MPIRPG+FranklinGothic-Book"/>
            </a:endParaRPr>
          </a:p>
        </p:txBody>
      </p:sp>
      <p:sp>
        <p:nvSpPr>
          <p:cNvPr id="12" name="object 4">
            <a:extLst>
              <a:ext uri="{FF2B5EF4-FFF2-40B4-BE49-F238E27FC236}">
                <a16:creationId xmlns:a16="http://schemas.microsoft.com/office/drawing/2014/main" id="{2FF3022D-87F7-BF6A-4366-54D58B6DC952}"/>
              </a:ext>
            </a:extLst>
          </p:cNvPr>
          <p:cNvSpPr txBox="1"/>
          <p:nvPr/>
        </p:nvSpPr>
        <p:spPr>
          <a:xfrm>
            <a:off x="911424" y="814400"/>
            <a:ext cx="3960440" cy="7086555"/>
          </a:xfrm>
          <a:prstGeom prst="rect">
            <a:avLst/>
          </a:prstGeom>
        </p:spPr>
        <p:txBody>
          <a:bodyPr vert="horz" wrap="square" lIns="0" tIns="0" rIns="0" bIns="0" rtlCol="0">
            <a:spAutoFit/>
          </a:bodyPr>
          <a:lstStyle/>
          <a:p>
            <a:pPr marL="800100" lvl="1" indent="-342900">
              <a:lnSpc>
                <a:spcPts val="2258"/>
              </a:lnSpc>
              <a:buFont typeface="Wingdings" pitchFamily="2" charset="2"/>
              <a:buChar char="Ø"/>
            </a:pPr>
            <a:endParaRPr lang="en-US" sz="2000" spc="-25" dirty="0">
              <a:solidFill>
                <a:srgbClr val="181A0D"/>
              </a:solidFill>
              <a:cs typeface="OAGDQN+FranklinGothic-BookItalic"/>
            </a:endParaRPr>
          </a:p>
          <a:p>
            <a:pPr marL="285750" indent="-285750">
              <a:buFont typeface="Wingdings" pitchFamily="2" charset="2"/>
              <a:buChar char="q"/>
            </a:pPr>
            <a:r>
              <a:rPr lang="en-US" b="1" dirty="0"/>
              <a:t>CD4</a:t>
            </a:r>
            <a:endParaRPr lang="en-US" dirty="0"/>
          </a:p>
          <a:p>
            <a:pPr marL="285750" lvl="0" indent="-285750">
              <a:buFont typeface="Wingdings" pitchFamily="2" charset="2"/>
              <a:buChar char="Ø"/>
            </a:pPr>
            <a:r>
              <a:rPr lang="en-US" dirty="0"/>
              <a:t>−164 cells/mm³ (95% HDI: −263 to −103)</a:t>
            </a:r>
          </a:p>
          <a:p>
            <a:pPr marL="285750" lvl="0" indent="-285750">
              <a:buFont typeface="Wingdings" pitchFamily="2" charset="2"/>
              <a:buChar char="Ø"/>
            </a:pPr>
            <a:r>
              <a:rPr lang="en-US" dirty="0"/>
              <a:t>99.5% probability exceeds 50-cell clinical threshold</a:t>
            </a:r>
          </a:p>
          <a:p>
            <a:pPr marL="800100" lvl="1" indent="-342900">
              <a:lnSpc>
                <a:spcPts val="2258"/>
              </a:lnSpc>
              <a:buFont typeface="Arial" panose="020B0604020202020204" pitchFamily="34" charset="0"/>
              <a:buChar char="•"/>
            </a:pPr>
            <a:endParaRPr lang="en-US" sz="2000" spc="-25" dirty="0">
              <a:solidFill>
                <a:srgbClr val="181A0D"/>
              </a:solidFill>
              <a:cs typeface="OAGDQN+FranklinGothic-BookItalic"/>
            </a:endParaRPr>
          </a:p>
          <a:p>
            <a:pPr marL="285750" indent="-285750">
              <a:buFont typeface="Wingdings" pitchFamily="2" charset="2"/>
              <a:buChar char="q"/>
            </a:pPr>
            <a:r>
              <a:rPr lang="en-US" b="1" dirty="0"/>
              <a:t>Viral Load</a:t>
            </a:r>
            <a:endParaRPr lang="en-US" dirty="0"/>
          </a:p>
          <a:p>
            <a:pPr marL="285750" lvl="0" indent="-285750">
              <a:buFont typeface="Wingdings" pitchFamily="2" charset="2"/>
              <a:buChar char="Ø"/>
            </a:pPr>
            <a:r>
              <a:rPr lang="en-US" dirty="0"/>
              <a:t>No meaningful difference</a:t>
            </a:r>
          </a:p>
          <a:p>
            <a:pPr marL="285750" lvl="0" indent="-285750">
              <a:buFont typeface="Wingdings" pitchFamily="2" charset="2"/>
              <a:buChar char="Ø"/>
            </a:pPr>
            <a:r>
              <a:rPr lang="en-US" dirty="0"/>
              <a:t>2.3% probability exceeds 0.5 log threshold</a:t>
            </a:r>
          </a:p>
          <a:p>
            <a:pPr marL="342900" indent="-342900">
              <a:lnSpc>
                <a:spcPts val="2258"/>
              </a:lnSpc>
              <a:buFont typeface="Wingdings" pitchFamily="2" charset="2"/>
              <a:buChar char="q"/>
            </a:pPr>
            <a:endParaRPr lang="en-US" sz="2000" spc="-25" dirty="0">
              <a:solidFill>
                <a:srgbClr val="181A0D"/>
              </a:solidFill>
              <a:cs typeface="OAGDQN+FranklinGothic-BookItalic"/>
            </a:endParaRPr>
          </a:p>
          <a:p>
            <a:pPr marL="285750" indent="-285750">
              <a:buFont typeface="Wingdings" pitchFamily="2" charset="2"/>
              <a:buChar char="q"/>
            </a:pPr>
            <a:r>
              <a:rPr lang="en-US" b="1" dirty="0"/>
              <a:t>Physical QOL</a:t>
            </a:r>
            <a:endParaRPr lang="en-US" dirty="0"/>
          </a:p>
          <a:p>
            <a:pPr marL="285750" lvl="0" indent="-285750">
              <a:buFont typeface="Wingdings" pitchFamily="2" charset="2"/>
              <a:buChar char="Ø"/>
            </a:pPr>
            <a:r>
              <a:rPr lang="en-US" dirty="0"/>
              <a:t>−3.3 points</a:t>
            </a:r>
          </a:p>
          <a:p>
            <a:pPr marL="285750" lvl="0" indent="-285750">
              <a:buFont typeface="Wingdings" pitchFamily="2" charset="2"/>
              <a:buChar char="Ø"/>
            </a:pPr>
            <a:r>
              <a:rPr lang="en-US" dirty="0"/>
              <a:t>83% probability exceeds 2-point threshold</a:t>
            </a:r>
          </a:p>
          <a:p>
            <a:r>
              <a:rPr lang="en-US" dirty="0"/>
              <a:t> </a:t>
            </a:r>
          </a:p>
          <a:p>
            <a:pPr marL="285750" indent="-285750">
              <a:buFont typeface="Wingdings" pitchFamily="2" charset="2"/>
              <a:buChar char="q"/>
            </a:pPr>
            <a:r>
              <a:rPr lang="en-US" b="1" dirty="0"/>
              <a:t>Mental QOL</a:t>
            </a:r>
            <a:endParaRPr lang="en-US" dirty="0"/>
          </a:p>
          <a:p>
            <a:pPr marL="285750" lvl="0" indent="-285750">
              <a:buFont typeface="Wingdings" pitchFamily="2" charset="2"/>
              <a:buChar char="Ø"/>
            </a:pPr>
            <a:r>
              <a:rPr lang="en-US" dirty="0"/>
              <a:t>No meaningful difference</a:t>
            </a:r>
          </a:p>
          <a:p>
            <a:pPr marL="342900" indent="-342900">
              <a:lnSpc>
                <a:spcPts val="2258"/>
              </a:lnSpc>
              <a:buFont typeface="Wingdings" pitchFamily="2" charset="2"/>
              <a:buChar char="q"/>
            </a:pPr>
            <a:endParaRPr lang="en-US" sz="2000" spc="-25" dirty="0">
              <a:solidFill>
                <a:srgbClr val="181A0D"/>
              </a:solidFill>
              <a:cs typeface="OAGDQN+FranklinGothic-BookItalic"/>
            </a:endParaRPr>
          </a:p>
          <a:p>
            <a:pPr marL="342900" indent="-342900">
              <a:lnSpc>
                <a:spcPts val="2258"/>
              </a:lnSpc>
              <a:buFont typeface="Wingdings" pitchFamily="2" charset="2"/>
              <a:buChar char="Ø"/>
            </a:pPr>
            <a:endParaRPr lang="en-US" sz="2000" spc="-25" dirty="0">
              <a:solidFill>
                <a:srgbClr val="181A0D"/>
              </a:solidFill>
              <a:cs typeface="OAGDQN+FranklinGothic-BookItalic"/>
            </a:endParaRPr>
          </a:p>
          <a:p>
            <a:pPr marL="342900" marR="0" indent="-342900">
              <a:lnSpc>
                <a:spcPts val="2258"/>
              </a:lnSpc>
              <a:spcBef>
                <a:spcPts val="0"/>
              </a:spcBef>
              <a:spcAft>
                <a:spcPts val="0"/>
              </a:spcAft>
              <a:buFont typeface="Wingdings" pitchFamily="2" charset="2"/>
              <a:buChar char="q"/>
            </a:pPr>
            <a:endParaRPr lang="en-US" sz="2000" spc="-25" dirty="0">
              <a:solidFill>
                <a:srgbClr val="181A0D"/>
              </a:solidFill>
              <a:cs typeface="OAGDQN+FranklinGothic-BookItalic"/>
            </a:endParaRPr>
          </a:p>
          <a:p>
            <a:pPr marL="342900" marR="0" indent="-342900">
              <a:lnSpc>
                <a:spcPts val="2258"/>
              </a:lnSpc>
              <a:spcBef>
                <a:spcPts val="0"/>
              </a:spcBef>
              <a:spcAft>
                <a:spcPts val="0"/>
              </a:spcAft>
              <a:buFont typeface="Wingdings" pitchFamily="2" charset="2"/>
              <a:buChar char="q"/>
            </a:pPr>
            <a:endParaRPr lang="en-US" sz="2000" spc="-25" dirty="0">
              <a:solidFill>
                <a:srgbClr val="181A0D"/>
              </a:solidFill>
              <a:cs typeface="OAGDQN+FranklinGothic-BookItalic"/>
            </a:endParaRPr>
          </a:p>
          <a:p>
            <a:pPr marL="342900" marR="0" indent="-342900">
              <a:lnSpc>
                <a:spcPts val="2258"/>
              </a:lnSpc>
              <a:spcBef>
                <a:spcPts val="0"/>
              </a:spcBef>
              <a:spcAft>
                <a:spcPts val="0"/>
              </a:spcAft>
              <a:buFont typeface="Wingdings" pitchFamily="2" charset="2"/>
              <a:buChar char="q"/>
            </a:pPr>
            <a:endParaRPr lang="en-US" sz="2000" spc="-25" dirty="0">
              <a:solidFill>
                <a:srgbClr val="181A0D"/>
              </a:solidFill>
              <a:cs typeface="OAGDQN+FranklinGothic-BookItalic"/>
            </a:endParaRPr>
          </a:p>
          <a:p>
            <a:pPr marL="342900" marR="0" indent="-342900">
              <a:lnSpc>
                <a:spcPts val="2258"/>
              </a:lnSpc>
              <a:spcBef>
                <a:spcPts val="0"/>
              </a:spcBef>
              <a:spcAft>
                <a:spcPts val="0"/>
              </a:spcAft>
              <a:buFont typeface="Wingdings" pitchFamily="2" charset="2"/>
              <a:buChar char="q"/>
            </a:pPr>
            <a:endParaRPr sz="2000" spc="-25" dirty="0">
              <a:solidFill>
                <a:srgbClr val="181A0D"/>
              </a:solidFill>
              <a:cs typeface="OAGDQN+FranklinGothic-BookItalic"/>
            </a:endParaRPr>
          </a:p>
        </p:txBody>
      </p:sp>
      <p:pic>
        <p:nvPicPr>
          <p:cNvPr id="10" name="Picture 9" descr="A screenshot of a computer&#10;&#10;AI-generated content may be incorrect.">
            <a:extLst>
              <a:ext uri="{FF2B5EF4-FFF2-40B4-BE49-F238E27FC236}">
                <a16:creationId xmlns:a16="http://schemas.microsoft.com/office/drawing/2014/main" id="{83C7B31D-2D4F-03C6-A0AB-6D2DB7691526}"/>
              </a:ext>
            </a:extLst>
          </p:cNvPr>
          <p:cNvPicPr>
            <a:picLocks noChangeAspect="1"/>
          </p:cNvPicPr>
          <p:nvPr/>
        </p:nvPicPr>
        <p:blipFill>
          <a:blip r:embed="rId4"/>
          <a:stretch>
            <a:fillRect/>
          </a:stretch>
        </p:blipFill>
        <p:spPr>
          <a:xfrm>
            <a:off x="4511824" y="2132856"/>
            <a:ext cx="7490643" cy="3312368"/>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object 1"/>
          <p:cNvSpPr/>
          <p:nvPr/>
        </p:nvSpPr>
        <p:spPr>
          <a:xfrm>
            <a:off x="0" y="14166"/>
            <a:ext cx="12192000" cy="6858000"/>
          </a:xfrm>
          <a:prstGeom prst="rect">
            <a:avLst/>
          </a:prstGeom>
          <a:blipFill>
            <a:blip r:embed="rId3" cstate="print"/>
            <a:stretch>
              <a:fillRect/>
            </a:stretch>
          </a:blipFill>
        </p:spPr>
        <p:txBody>
          <a:bodyPr wrap="square" lIns="0" tIns="0" rIns="0" bIns="0" rtlCol="0">
            <a:spAutoFit/>
          </a:bodyPr>
          <a:lstStyle/>
          <a:p>
            <a:endParaRPr dirty="0"/>
          </a:p>
        </p:txBody>
      </p:sp>
      <p:sp>
        <p:nvSpPr>
          <p:cNvPr id="3" name="object 3"/>
          <p:cNvSpPr txBox="1"/>
          <p:nvPr/>
        </p:nvSpPr>
        <p:spPr>
          <a:xfrm>
            <a:off x="1415480" y="188640"/>
            <a:ext cx="4528479" cy="641201"/>
          </a:xfrm>
          <a:prstGeom prst="rect">
            <a:avLst/>
          </a:prstGeom>
        </p:spPr>
        <p:txBody>
          <a:bodyPr vert="horz" wrap="square" lIns="0" tIns="0" rIns="0" bIns="0" rtlCol="0">
            <a:spAutoFit/>
          </a:bodyPr>
          <a:lstStyle/>
          <a:p>
            <a:pPr marL="0" marR="0">
              <a:lnSpc>
                <a:spcPts val="4979"/>
              </a:lnSpc>
              <a:spcBef>
                <a:spcPts val="0"/>
              </a:spcBef>
              <a:spcAft>
                <a:spcPts val="0"/>
              </a:spcAft>
            </a:pPr>
            <a:r>
              <a:rPr sz="4400" spc="-11" dirty="0">
                <a:solidFill>
                  <a:srgbClr val="181A0D"/>
                </a:solidFill>
                <a:cs typeface="WPQCJM+FranklinGothic-Book"/>
              </a:rPr>
              <a:t>Results</a:t>
            </a:r>
            <a:r>
              <a:rPr lang="en-US" sz="4400" spc="-11" dirty="0">
                <a:solidFill>
                  <a:srgbClr val="181A0D"/>
                </a:solidFill>
                <a:cs typeface="WPQCJM+FranklinGothic-Book"/>
              </a:rPr>
              <a:t> - </a:t>
            </a:r>
            <a:r>
              <a:rPr lang="en-US" sz="4400" dirty="0">
                <a:solidFill>
                  <a:srgbClr val="181A0D"/>
                </a:solidFill>
                <a:cs typeface="WPQCJM+FranklinGothic-Book"/>
              </a:rPr>
              <a:t>mediation</a:t>
            </a:r>
            <a:endParaRPr sz="4400" dirty="0">
              <a:solidFill>
                <a:srgbClr val="181A0D"/>
              </a:solidFill>
              <a:cs typeface="WPQCJM+FranklinGothic-Book"/>
            </a:endParaRPr>
          </a:p>
        </p:txBody>
      </p:sp>
      <p:sp>
        <p:nvSpPr>
          <p:cNvPr id="8" name="object 4">
            <a:extLst>
              <a:ext uri="{FF2B5EF4-FFF2-40B4-BE49-F238E27FC236}">
                <a16:creationId xmlns:a16="http://schemas.microsoft.com/office/drawing/2014/main" id="{135D1CCA-C085-B968-1B22-01E31F3EE6DF}"/>
              </a:ext>
            </a:extLst>
          </p:cNvPr>
          <p:cNvSpPr txBox="1"/>
          <p:nvPr/>
        </p:nvSpPr>
        <p:spPr>
          <a:xfrm>
            <a:off x="875244" y="980779"/>
            <a:ext cx="4811155" cy="4424288"/>
          </a:xfrm>
          <a:prstGeom prst="rect">
            <a:avLst/>
          </a:prstGeom>
        </p:spPr>
        <p:txBody>
          <a:bodyPr vert="horz" wrap="square" lIns="0" tIns="0" rIns="0" bIns="0" rtlCol="0">
            <a:spAutoFit/>
          </a:bodyPr>
          <a:lstStyle/>
          <a:p>
            <a:pPr marL="342900" marR="0" indent="-342900">
              <a:lnSpc>
                <a:spcPts val="2258"/>
              </a:lnSpc>
              <a:spcBef>
                <a:spcPts val="0"/>
              </a:spcBef>
              <a:spcAft>
                <a:spcPts val="0"/>
              </a:spcAft>
              <a:buFont typeface="Wingdings" pitchFamily="2" charset="2"/>
              <a:buChar char="Ø"/>
            </a:pPr>
            <a:endParaRPr lang="en-US" sz="2000" spc="-25" dirty="0">
              <a:solidFill>
                <a:srgbClr val="181A0D"/>
              </a:solidFill>
              <a:cs typeface="OAGDQN+FranklinGothic-BookItalic"/>
            </a:endParaRPr>
          </a:p>
          <a:p>
            <a:pPr marL="342900" marR="0" indent="-342900">
              <a:lnSpc>
                <a:spcPts val="2258"/>
              </a:lnSpc>
              <a:spcBef>
                <a:spcPts val="0"/>
              </a:spcBef>
              <a:spcAft>
                <a:spcPts val="0"/>
              </a:spcAft>
              <a:buFont typeface="Wingdings" pitchFamily="2" charset="2"/>
              <a:buChar char="Ø"/>
            </a:pPr>
            <a:endParaRPr lang="en-US" sz="2000" spc="-25" dirty="0">
              <a:solidFill>
                <a:srgbClr val="181A0D"/>
              </a:solidFill>
              <a:cs typeface="OAGDQN+FranklinGothic-BookItalic"/>
            </a:endParaRPr>
          </a:p>
          <a:p>
            <a:pPr marL="342900" marR="0" indent="-342900">
              <a:lnSpc>
                <a:spcPts val="2258"/>
              </a:lnSpc>
              <a:spcBef>
                <a:spcPts val="0"/>
              </a:spcBef>
              <a:spcAft>
                <a:spcPts val="0"/>
              </a:spcAft>
              <a:buFont typeface="Wingdings" pitchFamily="2" charset="2"/>
              <a:buChar char="Ø"/>
            </a:pPr>
            <a:endParaRPr lang="en-US" sz="2000" spc="-25" dirty="0">
              <a:solidFill>
                <a:srgbClr val="181A0D"/>
              </a:solidFill>
              <a:cs typeface="OAGDQN+FranklinGothic-BookItalic"/>
            </a:endParaRPr>
          </a:p>
          <a:p>
            <a:pPr marL="342900" marR="0" indent="-342900">
              <a:lnSpc>
                <a:spcPts val="2258"/>
              </a:lnSpc>
              <a:spcBef>
                <a:spcPts val="0"/>
              </a:spcBef>
              <a:spcAft>
                <a:spcPts val="0"/>
              </a:spcAft>
              <a:buFont typeface="Wingdings" pitchFamily="2" charset="2"/>
              <a:buChar char="Ø"/>
            </a:pPr>
            <a:endParaRPr lang="en-US" sz="2000" spc="-25" dirty="0">
              <a:solidFill>
                <a:srgbClr val="181A0D"/>
              </a:solidFill>
              <a:cs typeface="OAGDQN+FranklinGothic-BookItalic"/>
            </a:endParaRPr>
          </a:p>
          <a:p>
            <a:pPr marL="342900" marR="0" indent="-342900">
              <a:lnSpc>
                <a:spcPts val="2258"/>
              </a:lnSpc>
              <a:spcBef>
                <a:spcPts val="0"/>
              </a:spcBef>
              <a:spcAft>
                <a:spcPts val="0"/>
              </a:spcAft>
              <a:buFont typeface="Wingdings" pitchFamily="2" charset="2"/>
              <a:buChar char="Ø"/>
            </a:pPr>
            <a:endParaRPr lang="en-US" sz="2000" b="1" spc="-25" dirty="0">
              <a:solidFill>
                <a:srgbClr val="181A0D"/>
              </a:solidFill>
              <a:cs typeface="OAGDQN+FranklinGothic-BookItalic"/>
            </a:endParaRPr>
          </a:p>
          <a:p>
            <a:pPr>
              <a:lnSpc>
                <a:spcPts val="2258"/>
              </a:lnSpc>
            </a:pPr>
            <a:endParaRPr lang="en-US" sz="2000" spc="-25" dirty="0">
              <a:solidFill>
                <a:srgbClr val="181A0D"/>
              </a:solidFill>
              <a:cs typeface="OAGDQN+FranklinGothic-BookItalic"/>
            </a:endParaRPr>
          </a:p>
          <a:p>
            <a:pPr marL="800100" lvl="1" indent="-342900">
              <a:lnSpc>
                <a:spcPts val="2258"/>
              </a:lnSpc>
              <a:buFont typeface="Wingdings" pitchFamily="2" charset="2"/>
              <a:buChar char="Ø"/>
            </a:pPr>
            <a:endParaRPr lang="en-US" sz="2000" spc="-25" dirty="0">
              <a:solidFill>
                <a:srgbClr val="181A0D"/>
              </a:solidFill>
              <a:cs typeface="OAGDQN+FranklinGothic-BookItalic"/>
            </a:endParaRPr>
          </a:p>
          <a:p>
            <a:pPr marL="342900" indent="-342900">
              <a:lnSpc>
                <a:spcPts val="2258"/>
              </a:lnSpc>
              <a:buFont typeface="Wingdings" pitchFamily="2" charset="2"/>
              <a:buChar char="Ø"/>
            </a:pPr>
            <a:endParaRPr lang="en-US" sz="2000" spc="-25" dirty="0">
              <a:solidFill>
                <a:srgbClr val="181A0D"/>
              </a:solidFill>
              <a:cs typeface="OAGDQN+FranklinGothic-BookItalic"/>
            </a:endParaRPr>
          </a:p>
          <a:p>
            <a:pPr marL="800100" lvl="1" indent="-342900">
              <a:lnSpc>
                <a:spcPts val="2258"/>
              </a:lnSpc>
              <a:buFont typeface="Arial" panose="020B0604020202020204" pitchFamily="34" charset="0"/>
              <a:buChar char="•"/>
            </a:pPr>
            <a:endParaRPr lang="en-US" sz="2000" spc="-25" dirty="0">
              <a:solidFill>
                <a:srgbClr val="181A0D"/>
              </a:solidFill>
              <a:cs typeface="OAGDQN+FranklinGothic-BookItalic"/>
            </a:endParaRPr>
          </a:p>
          <a:p>
            <a:pPr marL="342900" indent="-342900">
              <a:lnSpc>
                <a:spcPts val="2258"/>
              </a:lnSpc>
              <a:buFont typeface="Wingdings" pitchFamily="2" charset="2"/>
              <a:buChar char="q"/>
            </a:pPr>
            <a:endParaRPr lang="en-US" sz="2000" spc="-25" dirty="0">
              <a:solidFill>
                <a:srgbClr val="181A0D"/>
              </a:solidFill>
              <a:cs typeface="OAGDQN+FranklinGothic-BookItalic"/>
            </a:endParaRPr>
          </a:p>
          <a:p>
            <a:pPr marL="342900" indent="-342900">
              <a:lnSpc>
                <a:spcPts val="2258"/>
              </a:lnSpc>
              <a:buFont typeface="Wingdings" pitchFamily="2" charset="2"/>
              <a:buChar char="Ø"/>
            </a:pPr>
            <a:endParaRPr lang="en-US" sz="2000" spc="-25" dirty="0">
              <a:solidFill>
                <a:srgbClr val="181A0D"/>
              </a:solidFill>
              <a:cs typeface="OAGDQN+FranklinGothic-BookItalic"/>
            </a:endParaRPr>
          </a:p>
          <a:p>
            <a:pPr marL="342900" marR="0" indent="-342900">
              <a:lnSpc>
                <a:spcPts val="2258"/>
              </a:lnSpc>
              <a:spcBef>
                <a:spcPts val="0"/>
              </a:spcBef>
              <a:spcAft>
                <a:spcPts val="0"/>
              </a:spcAft>
              <a:buFont typeface="Wingdings" pitchFamily="2" charset="2"/>
              <a:buChar char="q"/>
            </a:pPr>
            <a:endParaRPr lang="en-US" sz="2000" spc="-25" dirty="0">
              <a:solidFill>
                <a:srgbClr val="181A0D"/>
              </a:solidFill>
              <a:cs typeface="OAGDQN+FranklinGothic-BookItalic"/>
            </a:endParaRPr>
          </a:p>
          <a:p>
            <a:pPr marL="342900" marR="0" indent="-342900">
              <a:lnSpc>
                <a:spcPts val="2258"/>
              </a:lnSpc>
              <a:spcBef>
                <a:spcPts val="0"/>
              </a:spcBef>
              <a:spcAft>
                <a:spcPts val="0"/>
              </a:spcAft>
              <a:buFont typeface="Wingdings" pitchFamily="2" charset="2"/>
              <a:buChar char="q"/>
            </a:pPr>
            <a:endParaRPr lang="en-US" sz="2000" spc="-25" dirty="0">
              <a:solidFill>
                <a:srgbClr val="181A0D"/>
              </a:solidFill>
              <a:cs typeface="OAGDQN+FranklinGothic-BookItalic"/>
            </a:endParaRPr>
          </a:p>
          <a:p>
            <a:pPr marL="342900" marR="0" indent="-342900">
              <a:lnSpc>
                <a:spcPts val="2258"/>
              </a:lnSpc>
              <a:spcBef>
                <a:spcPts val="0"/>
              </a:spcBef>
              <a:spcAft>
                <a:spcPts val="0"/>
              </a:spcAft>
              <a:buFont typeface="Wingdings" pitchFamily="2" charset="2"/>
              <a:buChar char="q"/>
            </a:pPr>
            <a:endParaRPr lang="en-US" sz="2000" spc="-25" dirty="0">
              <a:solidFill>
                <a:srgbClr val="181A0D"/>
              </a:solidFill>
              <a:cs typeface="OAGDQN+FranklinGothic-BookItalic"/>
            </a:endParaRPr>
          </a:p>
          <a:p>
            <a:pPr marL="342900" marR="0" indent="-342900">
              <a:lnSpc>
                <a:spcPts val="2258"/>
              </a:lnSpc>
              <a:spcBef>
                <a:spcPts val="0"/>
              </a:spcBef>
              <a:spcAft>
                <a:spcPts val="0"/>
              </a:spcAft>
              <a:buFont typeface="Wingdings" pitchFamily="2" charset="2"/>
              <a:buChar char="q"/>
            </a:pPr>
            <a:endParaRPr sz="2000" spc="-25" dirty="0">
              <a:solidFill>
                <a:srgbClr val="181A0D"/>
              </a:solidFill>
              <a:cs typeface="OAGDQN+FranklinGothic-BookItalic"/>
            </a:endParaRPr>
          </a:p>
        </p:txBody>
      </p:sp>
      <p:pic>
        <p:nvPicPr>
          <p:cNvPr id="5" name="Picture 4" descr="A screenshot of a computer&#10;&#10;AI-generated content may be incorrect.">
            <a:extLst>
              <a:ext uri="{FF2B5EF4-FFF2-40B4-BE49-F238E27FC236}">
                <a16:creationId xmlns:a16="http://schemas.microsoft.com/office/drawing/2014/main" id="{FC982772-C5EA-DA3E-6CBC-3ED39B55EF11}"/>
              </a:ext>
            </a:extLst>
          </p:cNvPr>
          <p:cNvPicPr>
            <a:picLocks noChangeAspect="1"/>
          </p:cNvPicPr>
          <p:nvPr/>
        </p:nvPicPr>
        <p:blipFill>
          <a:blip r:embed="rId4"/>
          <a:stretch>
            <a:fillRect/>
          </a:stretch>
        </p:blipFill>
        <p:spPr>
          <a:xfrm>
            <a:off x="3863752" y="1452933"/>
            <a:ext cx="8151671" cy="3779728"/>
          </a:xfrm>
          <a:prstGeom prst="rect">
            <a:avLst/>
          </a:prstGeom>
        </p:spPr>
      </p:pic>
      <p:sp>
        <p:nvSpPr>
          <p:cNvPr id="6" name="object 4">
            <a:extLst>
              <a:ext uri="{FF2B5EF4-FFF2-40B4-BE49-F238E27FC236}">
                <a16:creationId xmlns:a16="http://schemas.microsoft.com/office/drawing/2014/main" id="{3AB54E8C-A2D6-6F7F-7472-2EF4711E11D4}"/>
              </a:ext>
            </a:extLst>
          </p:cNvPr>
          <p:cNvSpPr txBox="1"/>
          <p:nvPr/>
        </p:nvSpPr>
        <p:spPr>
          <a:xfrm>
            <a:off x="867913" y="1212744"/>
            <a:ext cx="2973409" cy="6989093"/>
          </a:xfrm>
          <a:prstGeom prst="rect">
            <a:avLst/>
          </a:prstGeom>
        </p:spPr>
        <p:txBody>
          <a:bodyPr vert="horz" wrap="square" lIns="0" tIns="0" rIns="0" bIns="0" rtlCol="0">
            <a:spAutoFit/>
          </a:bodyPr>
          <a:lstStyle/>
          <a:p>
            <a:pPr marL="800100" lvl="1" indent="-342900">
              <a:lnSpc>
                <a:spcPts val="2258"/>
              </a:lnSpc>
              <a:buFont typeface="Wingdings" pitchFamily="2" charset="2"/>
              <a:buChar char="Ø"/>
            </a:pPr>
            <a:endParaRPr lang="en-US" sz="2000" spc="-25" dirty="0">
              <a:solidFill>
                <a:srgbClr val="181A0D"/>
              </a:solidFill>
              <a:cs typeface="OAGDQN+FranklinGothic-BookItalic"/>
            </a:endParaRPr>
          </a:p>
          <a:p>
            <a:pPr marL="342900" indent="-342900">
              <a:buFont typeface="Wingdings" pitchFamily="2" charset="2"/>
              <a:buChar char="q"/>
            </a:pPr>
            <a:r>
              <a:rPr lang="en-US" sz="2000" dirty="0"/>
              <a:t>Inclusion of adherence increased magnitude of hard drug coefficient</a:t>
            </a:r>
          </a:p>
          <a:p>
            <a:pPr marL="800100" lvl="1" indent="-342900">
              <a:buFont typeface="Wingdings" pitchFamily="2" charset="2"/>
              <a:buChar char="Ø"/>
            </a:pPr>
            <a:r>
              <a:rPr lang="en-US" sz="2000" dirty="0"/>
              <a:t>&lt;95% vs ≥95%</a:t>
            </a:r>
          </a:p>
          <a:p>
            <a:pPr marL="342900" indent="-342900">
              <a:buFont typeface="Wingdings" pitchFamily="2" charset="2"/>
              <a:buChar char="q"/>
            </a:pPr>
            <a:endParaRPr lang="en-US" sz="2000" dirty="0"/>
          </a:p>
          <a:p>
            <a:endParaRPr lang="en-US" sz="2000" dirty="0"/>
          </a:p>
          <a:p>
            <a:pPr marL="342900" indent="-342900">
              <a:buFont typeface="Wingdings" pitchFamily="2" charset="2"/>
              <a:buChar char="q"/>
            </a:pPr>
            <a:r>
              <a:rPr lang="en-US" sz="2000" dirty="0"/>
              <a:t>Proportion mediated negative</a:t>
            </a:r>
          </a:p>
          <a:p>
            <a:pPr marL="342900" indent="-342900">
              <a:buFont typeface="Wingdings" pitchFamily="2" charset="2"/>
              <a:buChar char="q"/>
            </a:pPr>
            <a:endParaRPr lang="en-US" sz="2000" dirty="0"/>
          </a:p>
          <a:p>
            <a:endParaRPr lang="en-US" sz="2000" dirty="0"/>
          </a:p>
          <a:p>
            <a:pPr marL="342900" indent="-342900">
              <a:buFont typeface="Wingdings" pitchFamily="2" charset="2"/>
              <a:buChar char="q"/>
            </a:pPr>
            <a:r>
              <a:rPr lang="en-US" sz="2000" dirty="0"/>
              <a:t>No evidence of meaningful mediation</a:t>
            </a:r>
          </a:p>
          <a:p>
            <a:pPr marL="342900" indent="-342900">
              <a:buFont typeface="Wingdings" pitchFamily="2" charset="2"/>
              <a:buChar char="q"/>
            </a:pPr>
            <a:endParaRPr lang="en-US" sz="2000" dirty="0"/>
          </a:p>
          <a:p>
            <a:pPr marL="342900" indent="-342900">
              <a:buFont typeface="Wingdings" pitchFamily="2" charset="2"/>
              <a:buChar char="q"/>
            </a:pPr>
            <a:r>
              <a:rPr lang="en-US" sz="2000" dirty="0"/>
              <a:t>Analysis limited by sparse data in adherence categories</a:t>
            </a:r>
          </a:p>
          <a:p>
            <a:pPr marL="342900" indent="-342900">
              <a:lnSpc>
                <a:spcPts val="2258"/>
              </a:lnSpc>
              <a:buFont typeface="Wingdings" pitchFamily="2" charset="2"/>
              <a:buChar char="q"/>
            </a:pPr>
            <a:endParaRPr lang="en-US" sz="2000" spc="-25" dirty="0">
              <a:solidFill>
                <a:srgbClr val="181A0D"/>
              </a:solidFill>
              <a:cs typeface="OAGDQN+FranklinGothic-BookItalic"/>
            </a:endParaRPr>
          </a:p>
          <a:p>
            <a:pPr marL="342900" indent="-342900">
              <a:lnSpc>
                <a:spcPts val="2258"/>
              </a:lnSpc>
              <a:buFont typeface="Wingdings" pitchFamily="2" charset="2"/>
              <a:buChar char="Ø"/>
            </a:pPr>
            <a:endParaRPr lang="en-US" sz="2000" spc="-25" dirty="0">
              <a:solidFill>
                <a:srgbClr val="181A0D"/>
              </a:solidFill>
              <a:cs typeface="OAGDQN+FranklinGothic-BookItalic"/>
            </a:endParaRPr>
          </a:p>
          <a:p>
            <a:pPr marL="342900" marR="0" indent="-342900">
              <a:lnSpc>
                <a:spcPts val="2258"/>
              </a:lnSpc>
              <a:spcBef>
                <a:spcPts val="0"/>
              </a:spcBef>
              <a:spcAft>
                <a:spcPts val="0"/>
              </a:spcAft>
              <a:buFont typeface="Wingdings" pitchFamily="2" charset="2"/>
              <a:buChar char="q"/>
            </a:pPr>
            <a:endParaRPr lang="en-US" sz="2000" spc="-25" dirty="0">
              <a:solidFill>
                <a:srgbClr val="181A0D"/>
              </a:solidFill>
              <a:cs typeface="OAGDQN+FranklinGothic-BookItalic"/>
            </a:endParaRPr>
          </a:p>
          <a:p>
            <a:pPr marL="342900" marR="0" indent="-342900">
              <a:lnSpc>
                <a:spcPts val="2258"/>
              </a:lnSpc>
              <a:spcBef>
                <a:spcPts val="0"/>
              </a:spcBef>
              <a:spcAft>
                <a:spcPts val="0"/>
              </a:spcAft>
              <a:buFont typeface="Wingdings" pitchFamily="2" charset="2"/>
              <a:buChar char="q"/>
            </a:pPr>
            <a:endParaRPr lang="en-US" sz="2000" spc="-25" dirty="0">
              <a:solidFill>
                <a:srgbClr val="181A0D"/>
              </a:solidFill>
              <a:cs typeface="OAGDQN+FranklinGothic-BookItalic"/>
            </a:endParaRPr>
          </a:p>
          <a:p>
            <a:pPr marL="342900" marR="0" indent="-342900">
              <a:lnSpc>
                <a:spcPts val="2258"/>
              </a:lnSpc>
              <a:spcBef>
                <a:spcPts val="0"/>
              </a:spcBef>
              <a:spcAft>
                <a:spcPts val="0"/>
              </a:spcAft>
              <a:buFont typeface="Wingdings" pitchFamily="2" charset="2"/>
              <a:buChar char="q"/>
            </a:pPr>
            <a:endParaRPr lang="en-US" sz="2000" spc="-25" dirty="0">
              <a:solidFill>
                <a:srgbClr val="181A0D"/>
              </a:solidFill>
              <a:cs typeface="OAGDQN+FranklinGothic-BookItalic"/>
            </a:endParaRPr>
          </a:p>
          <a:p>
            <a:pPr marL="342900" marR="0" indent="-342900">
              <a:lnSpc>
                <a:spcPts val="2258"/>
              </a:lnSpc>
              <a:spcBef>
                <a:spcPts val="0"/>
              </a:spcBef>
              <a:spcAft>
                <a:spcPts val="0"/>
              </a:spcAft>
              <a:buFont typeface="Wingdings" pitchFamily="2" charset="2"/>
              <a:buChar char="q"/>
            </a:pPr>
            <a:endParaRPr sz="2000" spc="-25" dirty="0">
              <a:solidFill>
                <a:srgbClr val="181A0D"/>
              </a:solidFill>
              <a:cs typeface="OAGDQN+FranklinGothic-BookItalic"/>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C67BFF8-83E8-1705-B857-C1662A4C399D}"/>
            </a:ext>
          </a:extLst>
        </p:cNvPr>
        <p:cNvGrpSpPr/>
        <p:nvPr/>
      </p:nvGrpSpPr>
      <p:grpSpPr>
        <a:xfrm>
          <a:off x="0" y="0"/>
          <a:ext cx="0" cy="0"/>
          <a:chOff x="0" y="0"/>
          <a:chExt cx="0" cy="0"/>
        </a:xfrm>
      </p:grpSpPr>
      <p:sp>
        <p:nvSpPr>
          <p:cNvPr id="2" name="object 1">
            <a:extLst>
              <a:ext uri="{FF2B5EF4-FFF2-40B4-BE49-F238E27FC236}">
                <a16:creationId xmlns:a16="http://schemas.microsoft.com/office/drawing/2014/main" id="{893EAD98-92CD-50E2-1499-119554E29617}"/>
              </a:ext>
            </a:extLst>
          </p:cNvPr>
          <p:cNvSpPr/>
          <p:nvPr/>
        </p:nvSpPr>
        <p:spPr>
          <a:xfrm>
            <a:off x="0" y="14166"/>
            <a:ext cx="12192000" cy="6858000"/>
          </a:xfrm>
          <a:prstGeom prst="rect">
            <a:avLst/>
          </a:prstGeom>
          <a:blipFill>
            <a:blip r:embed="rId3" cstate="print"/>
            <a:stretch>
              <a:fillRect/>
            </a:stretch>
          </a:blipFill>
        </p:spPr>
        <p:txBody>
          <a:bodyPr wrap="square" lIns="0" tIns="0" rIns="0" bIns="0" rtlCol="0">
            <a:spAutoFit/>
          </a:bodyPr>
          <a:lstStyle/>
          <a:p>
            <a:endParaRPr dirty="0"/>
          </a:p>
        </p:txBody>
      </p:sp>
      <p:sp>
        <p:nvSpPr>
          <p:cNvPr id="3" name="object 3">
            <a:extLst>
              <a:ext uri="{FF2B5EF4-FFF2-40B4-BE49-F238E27FC236}">
                <a16:creationId xmlns:a16="http://schemas.microsoft.com/office/drawing/2014/main" id="{918818CD-D913-2EBD-9985-7DE114355D85}"/>
              </a:ext>
            </a:extLst>
          </p:cNvPr>
          <p:cNvSpPr txBox="1"/>
          <p:nvPr/>
        </p:nvSpPr>
        <p:spPr>
          <a:xfrm>
            <a:off x="1415480" y="188640"/>
            <a:ext cx="4528479" cy="641201"/>
          </a:xfrm>
          <a:prstGeom prst="rect">
            <a:avLst/>
          </a:prstGeom>
        </p:spPr>
        <p:txBody>
          <a:bodyPr vert="horz" wrap="square" lIns="0" tIns="0" rIns="0" bIns="0" rtlCol="0">
            <a:spAutoFit/>
          </a:bodyPr>
          <a:lstStyle/>
          <a:p>
            <a:pPr marL="0" marR="0">
              <a:lnSpc>
                <a:spcPts val="4979"/>
              </a:lnSpc>
              <a:spcBef>
                <a:spcPts val="0"/>
              </a:spcBef>
              <a:spcAft>
                <a:spcPts val="0"/>
              </a:spcAft>
            </a:pPr>
            <a:r>
              <a:rPr sz="4400" spc="-11" dirty="0">
                <a:solidFill>
                  <a:srgbClr val="181A0D"/>
                </a:solidFill>
                <a:cs typeface="WPQCJM+FranklinGothic-Book"/>
              </a:rPr>
              <a:t>Results</a:t>
            </a:r>
            <a:r>
              <a:rPr lang="en-US" sz="4400" spc="-11" dirty="0">
                <a:solidFill>
                  <a:srgbClr val="181A0D"/>
                </a:solidFill>
                <a:cs typeface="WPQCJM+FranklinGothic-Book"/>
              </a:rPr>
              <a:t> – follow-up</a:t>
            </a:r>
            <a:endParaRPr sz="4400" dirty="0">
              <a:solidFill>
                <a:srgbClr val="181A0D"/>
              </a:solidFill>
              <a:cs typeface="WPQCJM+FranklinGothic-Book"/>
            </a:endParaRPr>
          </a:p>
        </p:txBody>
      </p:sp>
      <p:sp>
        <p:nvSpPr>
          <p:cNvPr id="8" name="object 4">
            <a:extLst>
              <a:ext uri="{FF2B5EF4-FFF2-40B4-BE49-F238E27FC236}">
                <a16:creationId xmlns:a16="http://schemas.microsoft.com/office/drawing/2014/main" id="{7A565ACD-C3A5-C6FF-175E-9FA2948A8278}"/>
              </a:ext>
            </a:extLst>
          </p:cNvPr>
          <p:cNvSpPr txBox="1"/>
          <p:nvPr/>
        </p:nvSpPr>
        <p:spPr>
          <a:xfrm>
            <a:off x="962944" y="1340768"/>
            <a:ext cx="2905849" cy="6783908"/>
          </a:xfrm>
          <a:prstGeom prst="rect">
            <a:avLst/>
          </a:prstGeom>
        </p:spPr>
        <p:txBody>
          <a:bodyPr vert="horz" wrap="square" lIns="0" tIns="0" rIns="0" bIns="0" rtlCol="0">
            <a:spAutoFit/>
          </a:bodyPr>
          <a:lstStyle/>
          <a:p>
            <a:pPr marL="342900" marR="0" indent="-342900">
              <a:lnSpc>
                <a:spcPts val="2258"/>
              </a:lnSpc>
              <a:spcBef>
                <a:spcPts val="0"/>
              </a:spcBef>
              <a:spcAft>
                <a:spcPts val="0"/>
              </a:spcAft>
              <a:buFont typeface="Wingdings" pitchFamily="2" charset="2"/>
              <a:buChar char="Ø"/>
            </a:pPr>
            <a:endParaRPr lang="en-US" sz="2000" spc="-25" dirty="0">
              <a:solidFill>
                <a:srgbClr val="181A0D"/>
              </a:solidFill>
              <a:cs typeface="OAGDQN+FranklinGothic-BookItalic"/>
            </a:endParaRPr>
          </a:p>
          <a:p>
            <a:pPr marL="342900" marR="0" indent="-342900">
              <a:lnSpc>
                <a:spcPts val="2258"/>
              </a:lnSpc>
              <a:spcBef>
                <a:spcPts val="0"/>
              </a:spcBef>
              <a:spcAft>
                <a:spcPts val="0"/>
              </a:spcAft>
              <a:buFont typeface="Wingdings" pitchFamily="2" charset="2"/>
              <a:buChar char="Ø"/>
            </a:pPr>
            <a:endParaRPr lang="en-US" sz="2000" spc="-25" dirty="0">
              <a:solidFill>
                <a:srgbClr val="181A0D"/>
              </a:solidFill>
              <a:cs typeface="OAGDQN+FranklinGothic-BookItalic"/>
            </a:endParaRPr>
          </a:p>
          <a:p>
            <a:pPr marL="342900" marR="0" indent="-342900">
              <a:lnSpc>
                <a:spcPts val="2258"/>
              </a:lnSpc>
              <a:spcBef>
                <a:spcPts val="0"/>
              </a:spcBef>
              <a:spcAft>
                <a:spcPts val="0"/>
              </a:spcAft>
              <a:buFont typeface="Wingdings" pitchFamily="2" charset="2"/>
              <a:buChar char="Ø"/>
            </a:pPr>
            <a:endParaRPr lang="en-US" sz="2000" spc="-25" dirty="0">
              <a:solidFill>
                <a:srgbClr val="181A0D"/>
              </a:solidFill>
              <a:cs typeface="OAGDQN+FranklinGothic-BookItalic"/>
            </a:endParaRPr>
          </a:p>
          <a:p>
            <a:pPr marL="342900" indent="-342900">
              <a:lnSpc>
                <a:spcPts val="2258"/>
              </a:lnSpc>
              <a:buFont typeface="Wingdings" pitchFamily="2" charset="2"/>
              <a:buChar char="q"/>
            </a:pPr>
            <a:r>
              <a:rPr lang="en-US" b="1" dirty="0"/>
              <a:t>252 participants were missing Year 2 data (≈35%)</a:t>
            </a:r>
            <a:endParaRPr lang="en-US" dirty="0"/>
          </a:p>
          <a:p>
            <a:pPr marL="342900" marR="0" indent="-342900">
              <a:lnSpc>
                <a:spcPts val="2258"/>
              </a:lnSpc>
              <a:spcBef>
                <a:spcPts val="0"/>
              </a:spcBef>
              <a:spcAft>
                <a:spcPts val="0"/>
              </a:spcAft>
              <a:buFont typeface="Wingdings" pitchFamily="2" charset="2"/>
              <a:buChar char="Ø"/>
            </a:pPr>
            <a:endParaRPr lang="en-US" sz="2000" spc="-25" dirty="0">
              <a:solidFill>
                <a:srgbClr val="181A0D"/>
              </a:solidFill>
              <a:cs typeface="OAGDQN+FranklinGothic-BookItalic"/>
            </a:endParaRPr>
          </a:p>
          <a:p>
            <a:pPr marL="342900" indent="-342900">
              <a:lnSpc>
                <a:spcPts val="2258"/>
              </a:lnSpc>
              <a:buFont typeface="Wingdings" pitchFamily="2" charset="2"/>
              <a:buChar char="q"/>
            </a:pPr>
            <a:r>
              <a:rPr lang="en-US" b="1" dirty="0"/>
              <a:t>Lower baseline physical QOL associated with dropout</a:t>
            </a:r>
          </a:p>
          <a:p>
            <a:pPr marL="342900" indent="-342900">
              <a:lnSpc>
                <a:spcPts val="2258"/>
              </a:lnSpc>
              <a:buFont typeface="Wingdings" pitchFamily="2" charset="2"/>
              <a:buChar char="q"/>
            </a:pPr>
            <a:endParaRPr lang="en-US" b="1" dirty="0"/>
          </a:p>
          <a:p>
            <a:pPr marL="342900" indent="-342900">
              <a:lnSpc>
                <a:spcPts val="2258"/>
              </a:lnSpc>
              <a:buFont typeface="Wingdings" pitchFamily="2" charset="2"/>
              <a:buChar char="q"/>
            </a:pPr>
            <a:r>
              <a:rPr lang="en-US" b="1" dirty="0"/>
              <a:t>Younger age also associated with dropout</a:t>
            </a:r>
          </a:p>
          <a:p>
            <a:pPr marL="342900" marR="0" indent="-342900">
              <a:lnSpc>
                <a:spcPts val="2258"/>
              </a:lnSpc>
              <a:spcBef>
                <a:spcPts val="0"/>
              </a:spcBef>
              <a:spcAft>
                <a:spcPts val="0"/>
              </a:spcAft>
              <a:buFont typeface="Wingdings" pitchFamily="2" charset="2"/>
              <a:buChar char="Ø"/>
            </a:pPr>
            <a:endParaRPr lang="en-US" sz="2000" b="1" spc="-25" dirty="0">
              <a:solidFill>
                <a:srgbClr val="181A0D"/>
              </a:solidFill>
              <a:cs typeface="OAGDQN+FranklinGothic-BookItalic"/>
            </a:endParaRPr>
          </a:p>
          <a:p>
            <a:pPr>
              <a:lnSpc>
                <a:spcPts val="2258"/>
              </a:lnSpc>
            </a:pPr>
            <a:endParaRPr lang="en-US" sz="2000" spc="-25" dirty="0">
              <a:solidFill>
                <a:srgbClr val="181A0D"/>
              </a:solidFill>
              <a:cs typeface="OAGDQN+FranklinGothic-BookItalic"/>
            </a:endParaRPr>
          </a:p>
          <a:p>
            <a:pPr marL="800100" lvl="1" indent="-342900">
              <a:lnSpc>
                <a:spcPts val="2258"/>
              </a:lnSpc>
              <a:buFont typeface="Wingdings" pitchFamily="2" charset="2"/>
              <a:buChar char="Ø"/>
            </a:pPr>
            <a:endParaRPr lang="en-US" sz="2000" spc="-25" dirty="0">
              <a:solidFill>
                <a:srgbClr val="181A0D"/>
              </a:solidFill>
              <a:cs typeface="OAGDQN+FranklinGothic-BookItalic"/>
            </a:endParaRPr>
          </a:p>
          <a:p>
            <a:pPr marL="342900" indent="-342900">
              <a:lnSpc>
                <a:spcPts val="2258"/>
              </a:lnSpc>
              <a:buFont typeface="Wingdings" pitchFamily="2" charset="2"/>
              <a:buChar char="Ø"/>
            </a:pPr>
            <a:endParaRPr lang="en-US" sz="2000" spc="-25" dirty="0">
              <a:solidFill>
                <a:srgbClr val="181A0D"/>
              </a:solidFill>
              <a:cs typeface="OAGDQN+FranklinGothic-BookItalic"/>
            </a:endParaRPr>
          </a:p>
          <a:p>
            <a:pPr marL="800100" lvl="1" indent="-342900">
              <a:lnSpc>
                <a:spcPts val="2258"/>
              </a:lnSpc>
              <a:buFont typeface="Arial" panose="020B0604020202020204" pitchFamily="34" charset="0"/>
              <a:buChar char="•"/>
            </a:pPr>
            <a:endParaRPr lang="en-US" sz="2000" spc="-25" dirty="0">
              <a:solidFill>
                <a:srgbClr val="181A0D"/>
              </a:solidFill>
              <a:cs typeface="OAGDQN+FranklinGothic-BookItalic"/>
            </a:endParaRPr>
          </a:p>
          <a:p>
            <a:pPr marL="342900" indent="-342900">
              <a:lnSpc>
                <a:spcPts val="2258"/>
              </a:lnSpc>
              <a:buFont typeface="Wingdings" pitchFamily="2" charset="2"/>
              <a:buChar char="q"/>
            </a:pPr>
            <a:endParaRPr lang="en-US" sz="2000" spc="-25" dirty="0">
              <a:solidFill>
                <a:srgbClr val="181A0D"/>
              </a:solidFill>
              <a:cs typeface="OAGDQN+FranklinGothic-BookItalic"/>
            </a:endParaRPr>
          </a:p>
          <a:p>
            <a:pPr marL="342900" indent="-342900">
              <a:lnSpc>
                <a:spcPts val="2258"/>
              </a:lnSpc>
              <a:buFont typeface="Wingdings" pitchFamily="2" charset="2"/>
              <a:buChar char="Ø"/>
            </a:pPr>
            <a:endParaRPr lang="en-US" sz="2000" spc="-25" dirty="0">
              <a:solidFill>
                <a:srgbClr val="181A0D"/>
              </a:solidFill>
              <a:cs typeface="OAGDQN+FranklinGothic-BookItalic"/>
            </a:endParaRPr>
          </a:p>
          <a:p>
            <a:pPr marL="342900" marR="0" indent="-342900">
              <a:lnSpc>
                <a:spcPts val="2258"/>
              </a:lnSpc>
              <a:spcBef>
                <a:spcPts val="0"/>
              </a:spcBef>
              <a:spcAft>
                <a:spcPts val="0"/>
              </a:spcAft>
              <a:buFont typeface="Wingdings" pitchFamily="2" charset="2"/>
              <a:buChar char="q"/>
            </a:pPr>
            <a:endParaRPr lang="en-US" sz="2000" spc="-25" dirty="0">
              <a:solidFill>
                <a:srgbClr val="181A0D"/>
              </a:solidFill>
              <a:cs typeface="OAGDQN+FranklinGothic-BookItalic"/>
            </a:endParaRPr>
          </a:p>
          <a:p>
            <a:pPr marL="342900" marR="0" indent="-342900">
              <a:lnSpc>
                <a:spcPts val="2258"/>
              </a:lnSpc>
              <a:spcBef>
                <a:spcPts val="0"/>
              </a:spcBef>
              <a:spcAft>
                <a:spcPts val="0"/>
              </a:spcAft>
              <a:buFont typeface="Wingdings" pitchFamily="2" charset="2"/>
              <a:buChar char="q"/>
            </a:pPr>
            <a:endParaRPr lang="en-US" sz="2000" spc="-25" dirty="0">
              <a:solidFill>
                <a:srgbClr val="181A0D"/>
              </a:solidFill>
              <a:cs typeface="OAGDQN+FranklinGothic-BookItalic"/>
            </a:endParaRPr>
          </a:p>
          <a:p>
            <a:pPr marL="342900" marR="0" indent="-342900">
              <a:lnSpc>
                <a:spcPts val="2258"/>
              </a:lnSpc>
              <a:spcBef>
                <a:spcPts val="0"/>
              </a:spcBef>
              <a:spcAft>
                <a:spcPts val="0"/>
              </a:spcAft>
              <a:buFont typeface="Wingdings" pitchFamily="2" charset="2"/>
              <a:buChar char="q"/>
            </a:pPr>
            <a:endParaRPr lang="en-US" sz="2000" spc="-25" dirty="0">
              <a:solidFill>
                <a:srgbClr val="181A0D"/>
              </a:solidFill>
              <a:cs typeface="OAGDQN+FranklinGothic-BookItalic"/>
            </a:endParaRPr>
          </a:p>
          <a:p>
            <a:pPr marL="342900" marR="0" indent="-342900">
              <a:lnSpc>
                <a:spcPts val="2258"/>
              </a:lnSpc>
              <a:spcBef>
                <a:spcPts val="0"/>
              </a:spcBef>
              <a:spcAft>
                <a:spcPts val="0"/>
              </a:spcAft>
              <a:buFont typeface="Wingdings" pitchFamily="2" charset="2"/>
              <a:buChar char="q"/>
            </a:pPr>
            <a:endParaRPr sz="2000" spc="-25" dirty="0">
              <a:solidFill>
                <a:srgbClr val="181A0D"/>
              </a:solidFill>
              <a:cs typeface="OAGDQN+FranklinGothic-BookItalic"/>
            </a:endParaRPr>
          </a:p>
        </p:txBody>
      </p:sp>
      <p:pic>
        <p:nvPicPr>
          <p:cNvPr id="5" name="Picture 4" descr="A screenshot of a computer&#10;&#10;AI-generated content may be incorrect.">
            <a:extLst>
              <a:ext uri="{FF2B5EF4-FFF2-40B4-BE49-F238E27FC236}">
                <a16:creationId xmlns:a16="http://schemas.microsoft.com/office/drawing/2014/main" id="{971385C0-40DF-79F0-D47A-5B1F28B42EAA}"/>
              </a:ext>
            </a:extLst>
          </p:cNvPr>
          <p:cNvPicPr>
            <a:picLocks noChangeAspect="1"/>
          </p:cNvPicPr>
          <p:nvPr/>
        </p:nvPicPr>
        <p:blipFill>
          <a:blip r:embed="rId4"/>
          <a:stretch>
            <a:fillRect/>
          </a:stretch>
        </p:blipFill>
        <p:spPr>
          <a:xfrm>
            <a:off x="4187660" y="826193"/>
            <a:ext cx="7923482" cy="4396008"/>
          </a:xfrm>
          <a:prstGeom prst="rect">
            <a:avLst/>
          </a:prstGeom>
        </p:spPr>
      </p:pic>
      <p:pic>
        <p:nvPicPr>
          <p:cNvPr id="7" name="Picture 6" descr="A screenshot of a computer&#10;&#10;AI-generated content may be incorrect.">
            <a:extLst>
              <a:ext uri="{FF2B5EF4-FFF2-40B4-BE49-F238E27FC236}">
                <a16:creationId xmlns:a16="http://schemas.microsoft.com/office/drawing/2014/main" id="{906C3A0D-869F-920A-2F61-71B4D8843D52}"/>
              </a:ext>
            </a:extLst>
          </p:cNvPr>
          <p:cNvPicPr>
            <a:picLocks noChangeAspect="1"/>
          </p:cNvPicPr>
          <p:nvPr/>
        </p:nvPicPr>
        <p:blipFill>
          <a:blip r:embed="rId5"/>
          <a:stretch>
            <a:fillRect/>
          </a:stretch>
        </p:blipFill>
        <p:spPr>
          <a:xfrm>
            <a:off x="4187660" y="5266454"/>
            <a:ext cx="7865278" cy="1418439"/>
          </a:xfrm>
          <a:prstGeom prst="rect">
            <a:avLst/>
          </a:prstGeom>
        </p:spPr>
      </p:pic>
    </p:spTree>
    <p:extLst>
      <p:ext uri="{BB962C8B-B14F-4D97-AF65-F5344CB8AC3E}">
        <p14:creationId xmlns:p14="http://schemas.microsoft.com/office/powerpoint/2010/main" val="360589244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object 1"/>
          <p:cNvSpPr/>
          <p:nvPr/>
        </p:nvSpPr>
        <p:spPr>
          <a:xfrm>
            <a:off x="0" y="0"/>
            <a:ext cx="12192000" cy="6858000"/>
          </a:xfrm>
          <a:prstGeom prst="rect">
            <a:avLst/>
          </a:prstGeom>
          <a:blipFill>
            <a:blip r:embed="rId3" cstate="print"/>
            <a:stretch>
              <a:fillRect/>
            </a:stretch>
          </a:blipFill>
        </p:spPr>
        <p:txBody>
          <a:bodyPr wrap="square" lIns="0" tIns="0" rIns="0" bIns="0" rtlCol="0">
            <a:spAutoFit/>
          </a:bodyPr>
          <a:lstStyle/>
          <a:p>
            <a:endParaRPr/>
          </a:p>
        </p:txBody>
      </p:sp>
      <p:sp>
        <p:nvSpPr>
          <p:cNvPr id="3" name="object 3"/>
          <p:cNvSpPr txBox="1"/>
          <p:nvPr/>
        </p:nvSpPr>
        <p:spPr>
          <a:xfrm>
            <a:off x="1343472" y="260648"/>
            <a:ext cx="2704871" cy="641201"/>
          </a:xfrm>
          <a:prstGeom prst="rect">
            <a:avLst/>
          </a:prstGeom>
        </p:spPr>
        <p:txBody>
          <a:bodyPr vert="horz" wrap="square" lIns="0" tIns="0" rIns="0" bIns="0" rtlCol="0">
            <a:spAutoFit/>
          </a:bodyPr>
          <a:lstStyle/>
          <a:p>
            <a:pPr marL="0" marR="0">
              <a:lnSpc>
                <a:spcPts val="4979"/>
              </a:lnSpc>
              <a:spcBef>
                <a:spcPts val="0"/>
              </a:spcBef>
              <a:spcAft>
                <a:spcPts val="0"/>
              </a:spcAft>
            </a:pPr>
            <a:r>
              <a:rPr lang="en-US" sz="4400" dirty="0">
                <a:solidFill>
                  <a:srgbClr val="181A0D"/>
                </a:solidFill>
                <a:cs typeface="LVLFDH+FranklinGothic-Book"/>
              </a:rPr>
              <a:t>Conclusions</a:t>
            </a:r>
            <a:endParaRPr sz="4400" dirty="0">
              <a:solidFill>
                <a:srgbClr val="181A0D"/>
              </a:solidFill>
              <a:cs typeface="LVLFDH+FranklinGothic-Book"/>
            </a:endParaRPr>
          </a:p>
        </p:txBody>
      </p:sp>
      <p:sp>
        <p:nvSpPr>
          <p:cNvPr id="5" name="object 4">
            <a:extLst>
              <a:ext uri="{FF2B5EF4-FFF2-40B4-BE49-F238E27FC236}">
                <a16:creationId xmlns:a16="http://schemas.microsoft.com/office/drawing/2014/main" id="{CAB99B72-60A9-3C59-378B-AECE9E804BCF}"/>
              </a:ext>
            </a:extLst>
          </p:cNvPr>
          <p:cNvSpPr txBox="1"/>
          <p:nvPr/>
        </p:nvSpPr>
        <p:spPr>
          <a:xfrm>
            <a:off x="1127448" y="1132209"/>
            <a:ext cx="10297144" cy="6194003"/>
          </a:xfrm>
          <a:prstGeom prst="rect">
            <a:avLst/>
          </a:prstGeom>
        </p:spPr>
        <p:txBody>
          <a:bodyPr vert="horz" wrap="square" lIns="0" tIns="0" rIns="0" bIns="0" rtlCol="0">
            <a:spAutoFit/>
          </a:bodyPr>
          <a:lstStyle/>
          <a:p>
            <a:pPr marL="342900" indent="-342900">
              <a:lnSpc>
                <a:spcPts val="2258"/>
              </a:lnSpc>
              <a:buFont typeface="Wingdings" pitchFamily="2" charset="2"/>
              <a:buChar char="q"/>
            </a:pPr>
            <a:r>
              <a:rPr lang="en-US" sz="2000" b="1" spc="-25" dirty="0">
                <a:solidFill>
                  <a:srgbClr val="181A0D"/>
                </a:solidFill>
                <a:cs typeface="OAGDQN+FranklinGothic-BookItalic"/>
              </a:rPr>
              <a:t>Findings:</a:t>
            </a:r>
          </a:p>
          <a:p>
            <a:pPr marL="800100" lvl="1" indent="-342900">
              <a:lnSpc>
                <a:spcPts val="2258"/>
              </a:lnSpc>
              <a:buFont typeface="Wingdings" pitchFamily="2" charset="2"/>
              <a:buChar char="Ø"/>
            </a:pPr>
            <a:r>
              <a:rPr lang="en-US" sz="2000" spc="-25" dirty="0">
                <a:solidFill>
                  <a:srgbClr val="181A0D"/>
                </a:solidFill>
                <a:cs typeface="OAGDQN+FranklinGothic-BookItalic"/>
              </a:rPr>
              <a:t>Lower CD4 T-cell counts among baseline hard drug users</a:t>
            </a:r>
          </a:p>
          <a:p>
            <a:pPr marL="800100" lvl="1" indent="-342900">
              <a:lnSpc>
                <a:spcPts val="2258"/>
              </a:lnSpc>
              <a:buFont typeface="Wingdings" pitchFamily="2" charset="2"/>
              <a:buChar char="Ø"/>
            </a:pPr>
            <a:r>
              <a:rPr lang="en-US" sz="2000" spc="-25" dirty="0">
                <a:solidFill>
                  <a:srgbClr val="181A0D"/>
                </a:solidFill>
                <a:cs typeface="OAGDQN+FranklinGothic-BookItalic"/>
              </a:rPr>
              <a:t>Lower physical QOL scores</a:t>
            </a:r>
          </a:p>
          <a:p>
            <a:pPr marL="800100" lvl="1" indent="-342900">
              <a:lnSpc>
                <a:spcPts val="2258"/>
              </a:lnSpc>
              <a:buFont typeface="Wingdings" pitchFamily="2" charset="2"/>
              <a:buChar char="Ø"/>
            </a:pPr>
            <a:r>
              <a:rPr lang="en-US" sz="2000" spc="-25" dirty="0">
                <a:solidFill>
                  <a:srgbClr val="181A0D"/>
                </a:solidFill>
                <a:cs typeface="OAGDQN+FranklinGothic-BookItalic"/>
              </a:rPr>
              <a:t>No meaningful differences in viral load or mental QOL</a:t>
            </a:r>
          </a:p>
          <a:p>
            <a:pPr marL="800100" lvl="1" indent="-342900">
              <a:lnSpc>
                <a:spcPts val="2258"/>
              </a:lnSpc>
              <a:buFont typeface="Wingdings" pitchFamily="2" charset="2"/>
              <a:buChar char="Ø"/>
            </a:pPr>
            <a:r>
              <a:rPr lang="en-US" sz="2000" spc="-25" dirty="0">
                <a:solidFill>
                  <a:srgbClr val="181A0D"/>
                </a:solidFill>
                <a:cs typeface="OAGDQN+FranklinGothic-BookItalic"/>
              </a:rPr>
              <a:t>Adherence wasn’t meaningful</a:t>
            </a:r>
          </a:p>
          <a:p>
            <a:pPr marL="800100" lvl="1" indent="-342900">
              <a:lnSpc>
                <a:spcPts val="2258"/>
              </a:lnSpc>
              <a:buFont typeface="Wingdings" pitchFamily="2" charset="2"/>
              <a:buChar char="Ø"/>
            </a:pPr>
            <a:r>
              <a:rPr lang="en-US" sz="2000" spc="-25" dirty="0">
                <a:solidFill>
                  <a:srgbClr val="181A0D"/>
                </a:solidFill>
                <a:cs typeface="OAGDQN+FranklinGothic-BookItalic"/>
              </a:rPr>
              <a:t>Younger age and physical QOL was associated with dropout</a:t>
            </a:r>
          </a:p>
          <a:p>
            <a:pPr marL="342900" indent="-342900">
              <a:lnSpc>
                <a:spcPts val="2258"/>
              </a:lnSpc>
              <a:buFont typeface="Wingdings" pitchFamily="2" charset="2"/>
              <a:buChar char="q"/>
            </a:pPr>
            <a:endParaRPr lang="en-US" sz="2000" spc="-25" dirty="0">
              <a:solidFill>
                <a:srgbClr val="181A0D"/>
              </a:solidFill>
              <a:cs typeface="OAGDQN+FranklinGothic-BookItalic"/>
            </a:endParaRPr>
          </a:p>
          <a:p>
            <a:pPr marL="342900" indent="-342900">
              <a:lnSpc>
                <a:spcPts val="2258"/>
              </a:lnSpc>
              <a:buFont typeface="Wingdings" pitchFamily="2" charset="2"/>
              <a:buChar char="q"/>
            </a:pPr>
            <a:endParaRPr lang="en-US" sz="2000" spc="-25" dirty="0">
              <a:solidFill>
                <a:srgbClr val="181A0D"/>
              </a:solidFill>
              <a:cs typeface="OAGDQN+FranklinGothic-BookItalic"/>
            </a:endParaRPr>
          </a:p>
          <a:p>
            <a:pPr marL="342900" indent="-342900">
              <a:lnSpc>
                <a:spcPts val="2258"/>
              </a:lnSpc>
              <a:buFont typeface="Wingdings" pitchFamily="2" charset="2"/>
              <a:buChar char="q"/>
            </a:pPr>
            <a:r>
              <a:rPr lang="en-US" sz="2000" b="1" spc="-25" dirty="0">
                <a:solidFill>
                  <a:srgbClr val="181A0D"/>
                </a:solidFill>
                <a:cs typeface="OAGDQN+FranklinGothic-BookItalic"/>
              </a:rPr>
              <a:t>Limitations:</a:t>
            </a:r>
          </a:p>
          <a:p>
            <a:pPr marL="800100" lvl="1" indent="-342900">
              <a:lnSpc>
                <a:spcPts val="2258"/>
              </a:lnSpc>
              <a:buFont typeface="Wingdings" pitchFamily="2" charset="2"/>
              <a:buChar char="Ø"/>
            </a:pPr>
            <a:r>
              <a:rPr lang="en-US" sz="2000" spc="-25" dirty="0">
                <a:solidFill>
                  <a:srgbClr val="181A0D"/>
                </a:solidFill>
                <a:cs typeface="OAGDQN+FranklinGothic-BookItalic"/>
              </a:rPr>
              <a:t>Observational study design</a:t>
            </a:r>
          </a:p>
          <a:p>
            <a:pPr marL="800100" lvl="1" indent="-342900">
              <a:lnSpc>
                <a:spcPts val="2258"/>
              </a:lnSpc>
              <a:buFont typeface="Wingdings" pitchFamily="2" charset="2"/>
              <a:buChar char="Ø"/>
            </a:pPr>
            <a:r>
              <a:rPr lang="en-US" sz="2000" spc="-25" dirty="0">
                <a:solidFill>
                  <a:srgbClr val="181A0D"/>
                </a:solidFill>
                <a:cs typeface="OAGDQN+FranklinGothic-BookItalic"/>
              </a:rPr>
              <a:t>Adherence coded as binary (&lt;95% vs ≥95%)</a:t>
            </a:r>
          </a:p>
          <a:p>
            <a:pPr marL="800100" lvl="1" indent="-342900">
              <a:lnSpc>
                <a:spcPts val="2258"/>
              </a:lnSpc>
              <a:buFont typeface="Wingdings" pitchFamily="2" charset="2"/>
              <a:buChar char="Ø"/>
            </a:pPr>
            <a:r>
              <a:rPr lang="en-US" sz="2000" spc="-25" dirty="0">
                <a:solidFill>
                  <a:srgbClr val="181A0D"/>
                </a:solidFill>
                <a:cs typeface="OAGDQN+FranklinGothic-BookItalic"/>
              </a:rPr>
              <a:t>Mediation = exploratory </a:t>
            </a:r>
          </a:p>
          <a:p>
            <a:pPr marL="800100" lvl="1" indent="-342900">
              <a:lnSpc>
                <a:spcPts val="2258"/>
              </a:lnSpc>
              <a:buFont typeface="Wingdings" pitchFamily="2" charset="2"/>
              <a:buChar char="Ø"/>
            </a:pPr>
            <a:r>
              <a:rPr lang="en-US" sz="2000" spc="-25" dirty="0">
                <a:solidFill>
                  <a:srgbClr val="181A0D"/>
                </a:solidFill>
                <a:cs typeface="OAGDQN+FranklinGothic-BookItalic"/>
              </a:rPr>
              <a:t>Hard drug user group was relatively small (36)</a:t>
            </a:r>
          </a:p>
          <a:p>
            <a:pPr marL="800100" lvl="1" indent="-342900">
              <a:lnSpc>
                <a:spcPts val="2258"/>
              </a:lnSpc>
              <a:buFont typeface="Wingdings" pitchFamily="2" charset="2"/>
              <a:buChar char="Ø"/>
            </a:pPr>
            <a:r>
              <a:rPr lang="en-US" sz="2000" spc="-25" dirty="0">
                <a:solidFill>
                  <a:srgbClr val="181A0D"/>
                </a:solidFill>
                <a:cs typeface="OAGDQN+FranklinGothic-BookItalic"/>
              </a:rPr>
              <a:t>SF-36 Scores comparisons are limited</a:t>
            </a:r>
          </a:p>
          <a:p>
            <a:pPr marL="800100" lvl="1" indent="-342900">
              <a:lnSpc>
                <a:spcPts val="2258"/>
              </a:lnSpc>
              <a:buFont typeface="Wingdings" pitchFamily="2" charset="2"/>
              <a:buChar char="Ø"/>
            </a:pPr>
            <a:r>
              <a:rPr lang="en-US" sz="2000" spc="-25" dirty="0">
                <a:solidFill>
                  <a:srgbClr val="181A0D"/>
                </a:solidFill>
                <a:cs typeface="OAGDQN+FranklinGothic-BookItalic"/>
              </a:rPr>
              <a:t>Missing data suggests MAR but not proven</a:t>
            </a:r>
          </a:p>
          <a:p>
            <a:pPr marL="342900" indent="-342900">
              <a:lnSpc>
                <a:spcPts val="2258"/>
              </a:lnSpc>
              <a:buFont typeface="Wingdings" pitchFamily="2" charset="2"/>
              <a:buChar char="q"/>
            </a:pPr>
            <a:endParaRPr lang="en-US" sz="2000" spc="-25" dirty="0">
              <a:solidFill>
                <a:srgbClr val="181A0D"/>
              </a:solidFill>
              <a:cs typeface="OAGDQN+FranklinGothic-BookItalic"/>
            </a:endParaRPr>
          </a:p>
          <a:p>
            <a:pPr marL="342900" indent="-342900">
              <a:lnSpc>
                <a:spcPts val="2258"/>
              </a:lnSpc>
              <a:buFont typeface="Wingdings" pitchFamily="2" charset="2"/>
              <a:buChar char="q"/>
            </a:pPr>
            <a:endParaRPr lang="en-US" sz="2000" spc="-25" dirty="0">
              <a:solidFill>
                <a:srgbClr val="181A0D"/>
              </a:solidFill>
              <a:cs typeface="OAGDQN+FranklinGothic-BookItalic"/>
            </a:endParaRPr>
          </a:p>
          <a:p>
            <a:pPr marL="342900" marR="0" indent="-342900">
              <a:lnSpc>
                <a:spcPts val="2258"/>
              </a:lnSpc>
              <a:spcBef>
                <a:spcPts val="0"/>
              </a:spcBef>
              <a:spcAft>
                <a:spcPts val="0"/>
              </a:spcAft>
              <a:buFont typeface="Wingdings" pitchFamily="2" charset="2"/>
              <a:buChar char="q"/>
            </a:pPr>
            <a:endParaRPr lang="en-US" sz="2000" spc="-25" dirty="0">
              <a:solidFill>
                <a:srgbClr val="181A0D"/>
              </a:solidFill>
              <a:cs typeface="OAGDQN+FranklinGothic-BookItalic"/>
            </a:endParaRPr>
          </a:p>
          <a:p>
            <a:pPr marL="342900" marR="0" indent="-342900">
              <a:lnSpc>
                <a:spcPts val="2258"/>
              </a:lnSpc>
              <a:spcBef>
                <a:spcPts val="0"/>
              </a:spcBef>
              <a:spcAft>
                <a:spcPts val="0"/>
              </a:spcAft>
              <a:buFont typeface="Wingdings" pitchFamily="2" charset="2"/>
              <a:buChar char="q"/>
            </a:pPr>
            <a:endParaRPr lang="en-US" sz="2000" spc="-25" dirty="0">
              <a:solidFill>
                <a:srgbClr val="181A0D"/>
              </a:solidFill>
              <a:cs typeface="OAGDQN+FranklinGothic-BookItalic"/>
            </a:endParaRPr>
          </a:p>
          <a:p>
            <a:pPr marL="342900" marR="0" indent="-342900">
              <a:lnSpc>
                <a:spcPts val="2258"/>
              </a:lnSpc>
              <a:spcBef>
                <a:spcPts val="0"/>
              </a:spcBef>
              <a:spcAft>
                <a:spcPts val="0"/>
              </a:spcAft>
              <a:buFont typeface="Wingdings" pitchFamily="2" charset="2"/>
              <a:buChar char="q"/>
            </a:pPr>
            <a:endParaRPr lang="en-US" sz="2000" spc="-25" dirty="0">
              <a:solidFill>
                <a:srgbClr val="181A0D"/>
              </a:solidFill>
              <a:cs typeface="OAGDQN+FranklinGothic-BookItalic"/>
            </a:endParaRPr>
          </a:p>
          <a:p>
            <a:pPr marL="342900" marR="0" indent="-342900">
              <a:lnSpc>
                <a:spcPts val="2258"/>
              </a:lnSpc>
              <a:spcBef>
                <a:spcPts val="0"/>
              </a:spcBef>
              <a:spcAft>
                <a:spcPts val="0"/>
              </a:spcAft>
              <a:buFont typeface="Wingdings" pitchFamily="2" charset="2"/>
              <a:buChar char="q"/>
            </a:pPr>
            <a:endParaRPr sz="2000" spc="-25" dirty="0">
              <a:solidFill>
                <a:srgbClr val="181A0D"/>
              </a:solidFill>
              <a:cs typeface="OAGDQN+FranklinGothic-BookItalic"/>
            </a:endParaRPr>
          </a:p>
        </p:txBody>
      </p:sp>
    </p:spTree>
  </p:cSld>
  <p:clrMapOvr>
    <a:masterClrMapping/>
  </p:clrMapOvr>
</p:sld>
</file>

<file path=ppt/theme/theme1.xml><?xml version="1.0" encoding="utf-8"?>
<a:theme xmlns:a="http://schemas.openxmlformats.org/drawingml/2006/main" name="Theme Office">
  <a:themeElements>
    <a:clrScheme name="Standard">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Standard">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Standard">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
  <TotalTime>8414</TotalTime>
  <Words>1608</Words>
  <Application>Microsoft Macintosh PowerPoint</Application>
  <PresentationFormat>Widescreen</PresentationFormat>
  <Paragraphs>221</Paragraphs>
  <Slides>9</Slides>
  <Notes>9</Notes>
  <HiddenSlides>0</HiddenSlides>
  <MMClips>0</MMClips>
  <ScaleCrop>false</ScaleCrop>
  <HeadingPairs>
    <vt:vector size="6" baseType="variant">
      <vt:variant>
        <vt:lpstr>Fonts Used</vt:lpstr>
      </vt:variant>
      <vt:variant>
        <vt:i4>14</vt:i4>
      </vt:variant>
      <vt:variant>
        <vt:lpstr>Theme</vt:lpstr>
      </vt:variant>
      <vt:variant>
        <vt:i4>1</vt:i4>
      </vt:variant>
      <vt:variant>
        <vt:lpstr>Slide Titles</vt:lpstr>
      </vt:variant>
      <vt:variant>
        <vt:i4>9</vt:i4>
      </vt:variant>
    </vt:vector>
  </HeadingPairs>
  <TitlesOfParts>
    <vt:vector size="24" baseType="lpstr">
      <vt:lpstr>WPQCJM+FranklinGothic-Book</vt:lpstr>
      <vt:lpstr>MPIRPG+FranklinGothic-Book</vt:lpstr>
      <vt:lpstr>GEHAIV+FranklinGothic-Book</vt:lpstr>
      <vt:lpstr>NOOILK+FranklinGothic-Book</vt:lpstr>
      <vt:lpstr>KDMFEK+FranklinGothic-Book</vt:lpstr>
      <vt:lpstr>Cambria Math</vt:lpstr>
      <vt:lpstr>Calibri</vt:lpstr>
      <vt:lpstr>VTCKGD+FranklinGothic-Book</vt:lpstr>
      <vt:lpstr>LVLFDH+FranklinGothic-Book</vt:lpstr>
      <vt:lpstr>Wingdings</vt:lpstr>
      <vt:lpstr>OAGDQN+FranklinGothic-BookItalic</vt:lpstr>
      <vt:lpstr>Courier New</vt:lpstr>
      <vt:lpstr>Aptos</vt:lpstr>
      <vt:lpstr>Arial</vt:lpstr>
      <vt:lpstr>Theme Office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Presentation PowerPoint</dc:title>
  <dc:creator>root</dc:creator>
  <cp:lastModifiedBy>Ryan Summers</cp:lastModifiedBy>
  <cp:revision>246</cp:revision>
  <dcterms:modified xsi:type="dcterms:W3CDTF">2026-03-02T06:35:45Z</dcterms:modified>
</cp:coreProperties>
</file>