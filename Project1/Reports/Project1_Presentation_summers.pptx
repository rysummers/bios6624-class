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9"/>
  </p:notesMasterIdLst>
  <p:sldIdLst>
    <p:sldId id="260" r:id="rId2"/>
    <p:sldId id="261" r:id="rId3"/>
    <p:sldId id="262" r:id="rId4"/>
    <p:sldId id="263" r:id="rId5"/>
    <p:sldId id="264" r:id="rId6"/>
    <p:sldId id="265" r:id="rId7"/>
    <p:sldId id="266" r:id="rId8"/>
  </p:sldIdLst>
  <p:sldSz cx="12192000" cy="6858000"/>
  <p:notesSz cx="12192000" cy="6858000"/>
  <p:embeddedFontLst>
    <p:embeddedFont>
      <p:font typeface="Cambria Math" panose="02040503050406030204" pitchFamily="18" charset="0"/>
      <p:regular r:id="rId10"/>
    </p:embeddedFont>
    <p:embeddedFont>
      <p:font typeface="GEHAIV+FranklinGothic-Book" panose="02000500000000000000" pitchFamily="2" charset="0"/>
      <p:regular r:id="rId11"/>
    </p:embeddedFont>
    <p:embeddedFont>
      <p:font typeface="KDMFEK+FranklinGothic-Book" panose="02000500000000000000" pitchFamily="2" charset="0"/>
      <p:regular r:id="rId12"/>
    </p:embeddedFont>
    <p:embeddedFont>
      <p:font typeface="LVLFDH+FranklinGothic-Book" panose="02000500000000000000" pitchFamily="2" charset="0"/>
      <p:regular r:id="rId13"/>
    </p:embeddedFont>
    <p:embeddedFont>
      <p:font typeface="MPIRPG+FranklinGothic-Book" panose="02000500000000000000" pitchFamily="2" charset="0"/>
      <p:regular r:id="rId14"/>
    </p:embeddedFont>
    <p:embeddedFont>
      <p:font typeface="NOOILK+FranklinGothic-Book" panose="02000500000000000000" pitchFamily="2" charset="0"/>
      <p:regular r:id="rId15"/>
    </p:embeddedFont>
    <p:embeddedFont>
      <p:font typeface="OAGDQN+FranklinGothic-BookItalic" panose="02000500000000000000" pitchFamily="2" charset="0"/>
      <p:regular r:id="rId16"/>
    </p:embeddedFont>
    <p:embeddedFont>
      <p:font typeface="VTCKGD+FranklinGothic-Book" panose="02000500000000000000" pitchFamily="2" charset="0"/>
      <p:regular r:id="rId17"/>
    </p:embeddedFont>
    <p:embeddedFont>
      <p:font typeface="WPQCJM+FranklinGothic-Book" panose="02000500000000000000" pitchFamily="2" charset="0"/>
      <p:regular r:id="rId1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68">
          <p15:clr>
            <a:srgbClr val="A4A3A4"/>
          </p15:clr>
        </p15:guide>
        <p15:guide id="2" pos="2448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835"/>
    <p:restoredTop sz="70626"/>
  </p:normalViewPr>
  <p:slideViewPr>
    <p:cSldViewPr>
      <p:cViewPr varScale="1">
        <p:scale>
          <a:sx n="84" d="100"/>
          <a:sy n="84" d="100"/>
        </p:scale>
        <p:origin x="1208" y="184"/>
      </p:cViewPr>
      <p:guideLst>
        <p:guide orient="horz" pos="3168"/>
        <p:guide pos="244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18" Type="http://schemas.openxmlformats.org/officeDocument/2006/relationships/font" Target="fonts/font9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font" Target="fonts/font8.fntdata"/><Relationship Id="rId2" Type="http://schemas.openxmlformats.org/officeDocument/2006/relationships/slide" Target="slides/slide1.xml"/><Relationship Id="rId16" Type="http://schemas.openxmlformats.org/officeDocument/2006/relationships/font" Target="fonts/font7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font" Target="fonts/font6.fntdata"/><Relationship Id="rId10" Type="http://schemas.openxmlformats.org/officeDocument/2006/relationships/font" Target="fonts/font1.fntdata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font" Target="fonts/font5.fntdata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F60B00-F7D7-A048-9DE8-3D2F737BCA40}" type="datetimeFigureOut">
              <a:rPr lang="en-US" smtClean="0"/>
              <a:t>2/27/26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055A014-AA40-5B4A-A5FD-4F58A1D7AE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81698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55A014-AA40-5B4A-A5FD-4F58A1D7AE4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000848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 project was guided by three research questions: 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First, </a:t>
            </a:r>
          </a:p>
          <a:p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Second, </a:t>
            </a:r>
          </a:p>
          <a:p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Finally,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55A014-AA40-5B4A-A5FD-4F58A1D7AE4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961265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 comes from the MAC study which is a prospective cohort study of HIV-1 infection in homosexual and bisexual men from four major cities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715 subjects were in the original dataset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55A014-AA40-5B4A-A5FD-4F58A1D7AE4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404519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Df</a:t>
            </a:r>
            <a:r>
              <a:rPr lang="en-US" dirty="0"/>
              <a:t>=3 gives heavy tails to give less influence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55A014-AA40-5B4A-A5FD-4F58A1D7AE4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491553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 for results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55A014-AA40-5B4A-A5FD-4F58A1D7AE4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64350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 the time trends, Cortisol and DHEA showed distinct diurnal patterns for the first 30min after waking. Cortisol levels increased by approximately 0.6% per minute or about 20% cumulatively, while DHEA levels decreased by 1.8% per minute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After 30 minutes, cortisol levels declined steadily at approximately 12.5% per hour and DHEA at about 8.9% per hour, on average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55A014-AA40-5B4A-A5FD-4F58A1D7AE4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212746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summary, booklet-recorded times closely tracked cap times, with booklet times tending to be recorded earlier. 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Adherence to protocol-defined windows varied by sample and threshold, with lower adherence being observed for later collections and tighter windows,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booklet-based timing showed higher adherence as compared to cap-based timing.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Cortisol and DHEA showed opposite rates of change during the first 30min of waking but based on prior literature this is to be expected.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So, when we take all these points together, I believe these results supports the feasibility of this type of saliva collection method for studying hormone trajectories over time.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But there are Key limitations of this analysis including missing data, which can bias some of the results if there’s some dependency on unobserved values or events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 lastly the use of a simple mixed-effects models, when used to evaluate agreement between the two collection methods, can not fully capture variability across the four collection samples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 highlighted this back in the data overview section where there was wide ranges of differences between booklet-cap times, which likely reflects non-compliance and/or device recording errors, which are to be expected but caution should be taken when interpreting this idea of agreement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55A014-AA40-5B4A-A5FD-4F58A1D7AE4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2978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Title</a:t>
            </a:r>
          </a:p>
        </p:txBody>
      </p:sp>
      <p:sp>
        <p:nvSpPr>
          <p:cNvPr id="3" name="Text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525B2-4347-4F72-BAF7-76B19438D329}" type="datetimeFigureOut">
              <a:rPr lang="en-US" smtClean="0"/>
              <a:t>2/27/26</a:t>
            </a:fld>
            <a:endParaRPr lang="en-US"/>
          </a:p>
        </p:txBody>
      </p:sp>
      <p:sp>
        <p:nvSpPr>
          <p:cNvPr id="5" name="Foo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F073CC-40D5-4B23-8DF0-9BD0A0C12F2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7666" y="427735"/>
            <a:ext cx="6797992" cy="17109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7666" y="2459482"/>
            <a:ext cx="6797992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68130" y="9944862"/>
            <a:ext cx="2417063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7666" y="9944862"/>
            <a:ext cx="1737264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2/27/26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38394" y="9944862"/>
            <a:ext cx="1737264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>
            <a:spAutoFit/>
          </a:bodyPr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-240704" y="1453331"/>
            <a:ext cx="10729192" cy="195867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816354" marR="0" algn="ctr">
              <a:lnSpc>
                <a:spcPts val="8163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3500" dirty="0">
                <a:solidFill>
                  <a:srgbClr val="181A0D"/>
                </a:solidFill>
                <a:cs typeface="GEHAIV+FranklinGothic-Book"/>
              </a:rPr>
              <a:t>Evaluating Two-Year HAART Treatment Response Among Hard Drug Users and Non-Users</a:t>
            </a:r>
            <a:endParaRPr sz="3500" spc="-75" dirty="0">
              <a:solidFill>
                <a:srgbClr val="181A0D"/>
              </a:solidFill>
              <a:cs typeface="GEHAIV+FranklinGothic-Book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507565" y="3861048"/>
            <a:ext cx="3176870" cy="73096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 algn="ctr">
              <a:lnSpc>
                <a:spcPts val="2612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300" dirty="0">
                <a:solidFill>
                  <a:srgbClr val="181A0D"/>
                </a:solidFill>
                <a:cs typeface="GEHAIV+FranklinGothic-Book"/>
              </a:rPr>
              <a:t>Ryan Summers</a:t>
            </a:r>
            <a:endParaRPr sz="2300" dirty="0">
              <a:solidFill>
                <a:srgbClr val="181A0D"/>
              </a:solidFill>
              <a:cs typeface="GEHAIV+FranklinGothic-Book"/>
            </a:endParaRPr>
          </a:p>
          <a:p>
            <a:pPr marL="77914" marR="0" algn="ctr">
              <a:lnSpc>
                <a:spcPts val="2612"/>
              </a:lnSpc>
              <a:spcBef>
                <a:spcPts val="459"/>
              </a:spcBef>
              <a:spcAft>
                <a:spcPts val="0"/>
              </a:spcAft>
            </a:pPr>
            <a:r>
              <a:rPr lang="en-US" sz="2300" spc="-13" dirty="0">
                <a:solidFill>
                  <a:srgbClr val="181A0D"/>
                </a:solidFill>
                <a:cs typeface="GEHAIV+FranklinGothic-Book"/>
              </a:rPr>
              <a:t>3/2/26</a:t>
            </a:r>
            <a:endParaRPr sz="2300" spc="-13" dirty="0">
              <a:solidFill>
                <a:srgbClr val="181A0D"/>
              </a:solidFill>
              <a:cs typeface="GEHAIV+FranklinGothic-Book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-17029" y="16706"/>
            <a:ext cx="12192000" cy="6858000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>
            <a:spAutoFit/>
          </a:bodyPr>
          <a:lstStyle/>
          <a:p>
            <a:endParaRPr dirty="0"/>
          </a:p>
        </p:txBody>
      </p:sp>
      <p:sp>
        <p:nvSpPr>
          <p:cNvPr id="3" name="object 3"/>
          <p:cNvSpPr txBox="1"/>
          <p:nvPr/>
        </p:nvSpPr>
        <p:spPr>
          <a:xfrm>
            <a:off x="1199456" y="181814"/>
            <a:ext cx="5065008" cy="64120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4979"/>
              </a:lnSpc>
              <a:spcBef>
                <a:spcPts val="0"/>
              </a:spcBef>
              <a:spcAft>
                <a:spcPts val="0"/>
              </a:spcAft>
            </a:pPr>
            <a:r>
              <a:rPr sz="4400" spc="-21" dirty="0">
                <a:solidFill>
                  <a:srgbClr val="181A0D"/>
                </a:solidFill>
                <a:cs typeface="KDMFEK+FranklinGothic-Book"/>
              </a:rPr>
              <a:t>Research</a:t>
            </a:r>
            <a:r>
              <a:rPr sz="4400" spc="21" dirty="0">
                <a:solidFill>
                  <a:srgbClr val="181A0D"/>
                </a:solidFill>
                <a:cs typeface="KDMFEK+FranklinGothic-Book"/>
              </a:rPr>
              <a:t> </a:t>
            </a:r>
            <a:r>
              <a:rPr sz="4400" dirty="0">
                <a:solidFill>
                  <a:srgbClr val="181A0D"/>
                </a:solidFill>
                <a:cs typeface="KDMFEK+FranklinGothic-Book"/>
              </a:rPr>
              <a:t>Question</a:t>
            </a:r>
            <a:r>
              <a:rPr lang="en-US" sz="4400" dirty="0">
                <a:solidFill>
                  <a:srgbClr val="181A0D"/>
                </a:solidFill>
                <a:cs typeface="KDMFEK+FranklinGothic-Book"/>
              </a:rPr>
              <a:t>s</a:t>
            </a:r>
            <a:endParaRPr sz="4400" dirty="0">
              <a:solidFill>
                <a:srgbClr val="181A0D"/>
              </a:solidFill>
              <a:cs typeface="KDMFEK+FranklinGothic-Book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01BA5A-512C-C680-9EBD-36CA578908FA}"/>
              </a:ext>
            </a:extLst>
          </p:cNvPr>
          <p:cNvSpPr txBox="1"/>
          <p:nvPr/>
        </p:nvSpPr>
        <p:spPr>
          <a:xfrm>
            <a:off x="1055440" y="971873"/>
            <a:ext cx="10801200" cy="60888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ts val="2258"/>
              </a:lnSpc>
              <a:buFont typeface="Wingdings" pitchFamily="2" charset="2"/>
              <a:buChar char="q"/>
            </a:pPr>
            <a:r>
              <a:rPr lang="en-US" sz="2000" b="1" dirty="0">
                <a:solidFill>
                  <a:srgbClr val="181A0D"/>
                </a:solidFill>
              </a:rPr>
              <a:t>Once HAART is initiated, is there a decrease in viral load (HIV copies per mL) and an increase in CD4+ T counts (cells/mm³)</a:t>
            </a:r>
            <a:r>
              <a:rPr lang="en-US" sz="2000" b="1" dirty="0"/>
              <a:t>?</a:t>
            </a:r>
            <a:endParaRPr lang="en-US" sz="2000" b="1" dirty="0">
              <a:solidFill>
                <a:srgbClr val="181A0D"/>
              </a:solidFill>
            </a:endParaRPr>
          </a:p>
          <a:p>
            <a:pPr marL="742950" lvl="1" indent="-285750">
              <a:lnSpc>
                <a:spcPts val="2258"/>
              </a:lnSpc>
              <a:buFont typeface="Wingdings" pitchFamily="2" charset="2"/>
              <a:buChar char="Ø"/>
            </a:pPr>
            <a:r>
              <a:rPr lang="en-US" sz="2000" i="1" dirty="0">
                <a:solidFill>
                  <a:srgbClr val="181A0D"/>
                </a:solidFill>
                <a:cs typeface="OAGDQN+FranklinGothic-BookItalic"/>
              </a:rPr>
              <a:t>Hypothesis</a:t>
            </a:r>
            <a:r>
              <a:rPr lang="en-US" sz="2000" dirty="0">
                <a:solidFill>
                  <a:srgbClr val="181A0D"/>
                </a:solidFill>
                <a:cs typeface="OAGDQN+FranklinGothic-BookItalic"/>
              </a:rPr>
              <a:t>: Year-2 viral load will be higher among homosexual and bisexual men with HIV-1, who reported baseline hard drug use as compared with non-users</a:t>
            </a:r>
          </a:p>
          <a:p>
            <a:pPr marL="742950" lvl="1" indent="-285750">
              <a:lnSpc>
                <a:spcPts val="2258"/>
              </a:lnSpc>
              <a:buFont typeface="Wingdings" pitchFamily="2" charset="2"/>
              <a:buChar char="Ø"/>
            </a:pPr>
            <a:r>
              <a:rPr lang="en-US" sz="2000" i="1" dirty="0">
                <a:solidFill>
                  <a:srgbClr val="181A0D"/>
                </a:solidFill>
                <a:cs typeface="OAGDQN+FranklinGothic-BookItalic"/>
              </a:rPr>
              <a:t>Hypothesis</a:t>
            </a:r>
            <a:r>
              <a:rPr lang="en-US" sz="2000" dirty="0">
                <a:solidFill>
                  <a:srgbClr val="181A0D"/>
                </a:solidFill>
                <a:cs typeface="OAGDQN+FranklinGothic-BookItalic"/>
              </a:rPr>
              <a:t>: Year-2 CD4+ T-cell counts will be lower among homosexual and bisexual men with HIV-1, who reported baseline hard drug use as compared with non-users</a:t>
            </a:r>
          </a:p>
          <a:p>
            <a:pPr lvl="1">
              <a:lnSpc>
                <a:spcPts val="2258"/>
              </a:lnSpc>
            </a:pPr>
            <a:endParaRPr lang="en-US" sz="2000" dirty="0">
              <a:solidFill>
                <a:srgbClr val="181A0D"/>
              </a:solidFill>
              <a:cs typeface="OAGDQN+FranklinGothic-BookItalic"/>
            </a:endParaRPr>
          </a:p>
          <a:p>
            <a:pPr marL="285750" indent="-285750">
              <a:buFont typeface="Wingdings" pitchFamily="2" charset="2"/>
              <a:buChar char="q"/>
            </a:pPr>
            <a:r>
              <a:rPr lang="en-US" sz="2000" b="1" dirty="0"/>
              <a:t>What happens to physical and mental quality-of-life (QOL) scores after HAART initiation?</a:t>
            </a:r>
          </a:p>
          <a:p>
            <a:pPr marL="742950" lvl="1" indent="-285750">
              <a:lnSpc>
                <a:spcPts val="2258"/>
              </a:lnSpc>
              <a:buFont typeface="Wingdings" pitchFamily="2" charset="2"/>
              <a:buChar char="Ø"/>
            </a:pPr>
            <a:r>
              <a:rPr lang="en-US" sz="2000" i="1" dirty="0">
                <a:solidFill>
                  <a:srgbClr val="181A0D"/>
                </a:solidFill>
                <a:cs typeface="OAGDQN+FranklinGothic-BookItalic"/>
              </a:rPr>
              <a:t>Hypothesis</a:t>
            </a:r>
            <a:r>
              <a:rPr lang="en-US" sz="2000" dirty="0">
                <a:solidFill>
                  <a:srgbClr val="181A0D"/>
                </a:solidFill>
                <a:cs typeface="OAGDQN+FranklinGothic-BookItalic"/>
              </a:rPr>
              <a:t>: Year-2 physical QOL will differ between hard drug users and non-users</a:t>
            </a:r>
          </a:p>
          <a:p>
            <a:pPr marL="742950" lvl="1" indent="-285750">
              <a:lnSpc>
                <a:spcPts val="2258"/>
              </a:lnSpc>
              <a:buFont typeface="Wingdings" pitchFamily="2" charset="2"/>
              <a:buChar char="Ø"/>
            </a:pPr>
            <a:r>
              <a:rPr lang="en-US" sz="2000" i="1" dirty="0">
                <a:solidFill>
                  <a:srgbClr val="181A0D"/>
                </a:solidFill>
                <a:cs typeface="OAGDQN+FranklinGothic-BookItalic"/>
              </a:rPr>
              <a:t>Hypothesis</a:t>
            </a:r>
            <a:r>
              <a:rPr lang="en-US" sz="2000" dirty="0">
                <a:solidFill>
                  <a:srgbClr val="181A0D"/>
                </a:solidFill>
                <a:cs typeface="OAGDQN+FranklinGothic-BookItalic"/>
              </a:rPr>
              <a:t>: Year-2 mental QOL will differ between hard drug users and non-users</a:t>
            </a:r>
          </a:p>
          <a:p>
            <a:pPr marL="742950" lvl="1" indent="-285750">
              <a:lnSpc>
                <a:spcPts val="2258"/>
              </a:lnSpc>
              <a:buFont typeface="Wingdings" pitchFamily="2" charset="2"/>
              <a:buChar char="Ø"/>
            </a:pPr>
            <a:endParaRPr lang="en-US" sz="2000" b="1" dirty="0">
              <a:solidFill>
                <a:srgbClr val="181A0D"/>
              </a:solidFill>
            </a:endParaRPr>
          </a:p>
          <a:p>
            <a:pPr marL="285750" indent="-285750">
              <a:buFont typeface="Wingdings" pitchFamily="2" charset="2"/>
              <a:buChar char="q"/>
            </a:pPr>
            <a:r>
              <a:rPr lang="en-US" sz="2000" b="1" dirty="0">
                <a:solidFill>
                  <a:srgbClr val="181A0D"/>
                </a:solidFill>
              </a:rPr>
              <a:t>Does adherence mediate the association between hard drug use and year-2 outcomes?</a:t>
            </a:r>
          </a:p>
          <a:p>
            <a:pPr marL="742950" lvl="1" indent="-285750">
              <a:buFont typeface="Wingdings" pitchFamily="2" charset="2"/>
              <a:buChar char="Ø"/>
            </a:pPr>
            <a:r>
              <a:rPr lang="en-US" sz="2000" i="1" dirty="0"/>
              <a:t>Hypothesis</a:t>
            </a:r>
            <a:r>
              <a:rPr lang="en-US" sz="2000" dirty="0"/>
              <a:t>: The association between hard drug use and treatment response will be weaker after accounting for adherence.</a:t>
            </a:r>
          </a:p>
          <a:p>
            <a:pPr lvl="1"/>
            <a:endParaRPr lang="en-US" sz="2000" dirty="0"/>
          </a:p>
          <a:p>
            <a:pPr marL="285750" indent="-285750">
              <a:buFont typeface="Wingdings" pitchFamily="2" charset="2"/>
              <a:buChar char="q"/>
            </a:pPr>
            <a:r>
              <a:rPr lang="en-US" sz="2000" b="1" dirty="0"/>
              <a:t>What are the dropout rates between hard drug users and non-users and how does that affect results?</a:t>
            </a:r>
          </a:p>
          <a:p>
            <a:pPr marL="742950" lvl="1" indent="-285750">
              <a:buFont typeface="Wingdings" pitchFamily="2" charset="2"/>
              <a:buChar char="Ø"/>
            </a:pPr>
            <a:r>
              <a:rPr lang="en-US" sz="2000" i="1" dirty="0"/>
              <a:t>Hypothesis</a:t>
            </a:r>
            <a:r>
              <a:rPr lang="en-US" sz="2000" dirty="0"/>
              <a:t>: Baseline characteristics differ between participants with complete and incomplete cases</a:t>
            </a:r>
            <a:endParaRPr lang="en-US" dirty="0">
              <a:solidFill>
                <a:srgbClr val="181A0D"/>
              </a:solidFill>
              <a:cs typeface="OAGDQN+FranklinGothic-BookItalic"/>
            </a:endParaRPr>
          </a:p>
          <a:p>
            <a:pPr marL="285750" indent="-285750">
              <a:buFont typeface="Wingdings" pitchFamily="2" charset="2"/>
              <a:buChar char="§"/>
            </a:pPr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0" y="3713"/>
            <a:ext cx="12192000" cy="6858000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>
            <a:spAutoFit/>
          </a:bodyPr>
          <a:lstStyle/>
          <a:p>
            <a:endParaRPr dirty="0"/>
          </a:p>
        </p:txBody>
      </p:sp>
      <p:sp>
        <p:nvSpPr>
          <p:cNvPr id="3" name="object 3"/>
          <p:cNvSpPr txBox="1"/>
          <p:nvPr/>
        </p:nvSpPr>
        <p:spPr>
          <a:xfrm>
            <a:off x="1199456" y="133760"/>
            <a:ext cx="3530821" cy="64120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4979"/>
              </a:lnSpc>
              <a:spcBef>
                <a:spcPts val="0"/>
              </a:spcBef>
              <a:spcAft>
                <a:spcPts val="0"/>
              </a:spcAft>
            </a:pPr>
            <a:r>
              <a:rPr sz="4400" dirty="0">
                <a:solidFill>
                  <a:srgbClr val="181A0D"/>
                </a:solidFill>
                <a:cs typeface="NOOILK+FranklinGothic-Book"/>
              </a:rPr>
              <a:t>Data </a:t>
            </a:r>
            <a:r>
              <a:rPr lang="en-US" sz="4400" spc="-18" dirty="0">
                <a:solidFill>
                  <a:srgbClr val="181A0D"/>
                </a:solidFill>
                <a:cs typeface="NOOILK+FranklinGothic-Book"/>
              </a:rPr>
              <a:t>Overview</a:t>
            </a:r>
            <a:endParaRPr sz="4400" spc="-19" dirty="0">
              <a:solidFill>
                <a:srgbClr val="181A0D"/>
              </a:solidFill>
              <a:cs typeface="NOOILK+FranklinGothic-Book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F490F4B-F9EE-36A8-DC87-2A09F4C4F2EF}"/>
              </a:ext>
            </a:extLst>
          </p:cNvPr>
          <p:cNvSpPr txBox="1"/>
          <p:nvPr/>
        </p:nvSpPr>
        <p:spPr>
          <a:xfrm>
            <a:off x="839416" y="1340768"/>
            <a:ext cx="3672408" cy="61247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ts val="2258"/>
              </a:lnSpc>
              <a:buFont typeface="Wingdings" pitchFamily="2" charset="2"/>
              <a:buChar char="q"/>
            </a:pPr>
            <a:r>
              <a:rPr lang="en-US" b="1" dirty="0">
                <a:solidFill>
                  <a:srgbClr val="181A0D"/>
                </a:solidFill>
              </a:rPr>
              <a:t>Multicenter AIDS Cohort Study (MACS)</a:t>
            </a:r>
          </a:p>
          <a:p>
            <a:pPr marL="742950" lvl="1" indent="-285750">
              <a:lnSpc>
                <a:spcPts val="2258"/>
              </a:lnSpc>
              <a:buFont typeface="Wingdings" pitchFamily="2" charset="2"/>
              <a:buChar char="Ø"/>
            </a:pPr>
            <a:r>
              <a:rPr lang="en-US" dirty="0">
                <a:solidFill>
                  <a:srgbClr val="181A0D"/>
                </a:solidFill>
              </a:rPr>
              <a:t>Prospective study of HIV-1 in homosexual/bisexual men in four major cities</a:t>
            </a:r>
          </a:p>
          <a:p>
            <a:pPr marL="285750" indent="-285750">
              <a:lnSpc>
                <a:spcPts val="2258"/>
              </a:lnSpc>
              <a:buFont typeface="Wingdings" pitchFamily="2" charset="2"/>
              <a:buChar char="q"/>
            </a:pPr>
            <a:endParaRPr lang="en-US" b="1" dirty="0">
              <a:solidFill>
                <a:srgbClr val="181A0D"/>
              </a:solidFill>
            </a:endParaRPr>
          </a:p>
          <a:p>
            <a:pPr marL="285750" indent="-285750">
              <a:lnSpc>
                <a:spcPts val="2258"/>
              </a:lnSpc>
              <a:buFont typeface="Wingdings" pitchFamily="2" charset="2"/>
              <a:buChar char="q"/>
            </a:pPr>
            <a:r>
              <a:rPr lang="en-US" b="1" dirty="0">
                <a:solidFill>
                  <a:srgbClr val="181A0D"/>
                </a:solidFill>
              </a:rPr>
              <a:t>715 subjects in initial dataset</a:t>
            </a:r>
          </a:p>
          <a:p>
            <a:pPr marL="742950" lvl="1" indent="-285750">
              <a:lnSpc>
                <a:spcPts val="2258"/>
              </a:lnSpc>
              <a:buFont typeface="Wingdings" pitchFamily="2" charset="2"/>
              <a:buChar char="Ø"/>
            </a:pPr>
            <a:r>
              <a:rPr lang="en-US" dirty="0">
                <a:solidFill>
                  <a:srgbClr val="181A0D"/>
                </a:solidFill>
              </a:rPr>
              <a:t>Implausible BMI values labeled as missing</a:t>
            </a:r>
          </a:p>
          <a:p>
            <a:pPr marL="742950" lvl="1" indent="-285750">
              <a:lnSpc>
                <a:spcPts val="2258"/>
              </a:lnSpc>
              <a:buFont typeface="Wingdings" pitchFamily="2" charset="2"/>
              <a:buChar char="Ø"/>
            </a:pPr>
            <a:r>
              <a:rPr lang="en-US" dirty="0">
                <a:solidFill>
                  <a:srgbClr val="181A0D"/>
                </a:solidFill>
              </a:rPr>
              <a:t>Complete-case analysis</a:t>
            </a:r>
          </a:p>
          <a:p>
            <a:pPr marL="1200150" lvl="2" indent="-285750">
              <a:lnSpc>
                <a:spcPts val="2258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81A0D"/>
                </a:solidFill>
              </a:rPr>
              <a:t>463 subjects used</a:t>
            </a:r>
          </a:p>
          <a:p>
            <a:pPr lvl="1">
              <a:lnSpc>
                <a:spcPts val="2258"/>
              </a:lnSpc>
            </a:pPr>
            <a:endParaRPr lang="en-US" dirty="0">
              <a:solidFill>
                <a:srgbClr val="181A0D"/>
              </a:solidFill>
              <a:cs typeface="OAGDQN+FranklinGothic-BookItalic"/>
            </a:endParaRPr>
          </a:p>
          <a:p>
            <a:pPr marL="285750" indent="-285750">
              <a:buFont typeface="Wingdings" pitchFamily="2" charset="2"/>
              <a:buChar char="q"/>
            </a:pPr>
            <a:r>
              <a:rPr lang="en-US" b="1" dirty="0"/>
              <a:t>Transformations</a:t>
            </a:r>
          </a:p>
          <a:p>
            <a:pPr marL="742950" lvl="1" indent="-285750">
              <a:buFont typeface="Wingdings" pitchFamily="2" charset="2"/>
              <a:buChar char="Ø"/>
            </a:pPr>
            <a:r>
              <a:rPr lang="en-US" dirty="0"/>
              <a:t>Log10 transformed viral load</a:t>
            </a:r>
          </a:p>
          <a:p>
            <a:pPr marL="742950" lvl="1" indent="-285750">
              <a:buFont typeface="Wingdings" pitchFamily="2" charset="2"/>
              <a:buChar char="Ø"/>
            </a:pPr>
            <a:r>
              <a:rPr lang="en-US" dirty="0"/>
              <a:t>All other variables kept on original scale</a:t>
            </a:r>
          </a:p>
          <a:p>
            <a:pPr marL="742950" lvl="1" indent="-285750">
              <a:buFont typeface="Wingdings" pitchFamily="2" charset="2"/>
              <a:buChar char="Ø"/>
            </a:pPr>
            <a:endParaRPr lang="en-US" dirty="0"/>
          </a:p>
          <a:p>
            <a:pPr marL="285750" indent="-285750">
              <a:buFont typeface="Wingdings" pitchFamily="2" charset="2"/>
              <a:buChar char="Ø"/>
            </a:pPr>
            <a:endParaRPr lang="en-US" dirty="0"/>
          </a:p>
          <a:p>
            <a:pPr marL="285750" indent="-285750">
              <a:buFont typeface="Wingdings" pitchFamily="2" charset="2"/>
              <a:buChar char="Ø"/>
            </a:pPr>
            <a:endParaRPr lang="en-US" dirty="0"/>
          </a:p>
          <a:p>
            <a:endParaRPr lang="en-US" dirty="0">
              <a:solidFill>
                <a:srgbClr val="181A0D"/>
              </a:solidFill>
              <a:cs typeface="OAGDQN+FranklinGothic-BookItalic"/>
            </a:endParaRPr>
          </a:p>
          <a:p>
            <a:pPr marL="285750" indent="-285750">
              <a:buFont typeface="Wingdings" pitchFamily="2" charset="2"/>
              <a:buChar char="§"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96B5A69-3CE0-0868-E452-383521A26C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2024" y="-3713"/>
            <a:ext cx="4964426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>
            <a:spAutoFit/>
          </a:bodyPr>
          <a:lstStyle/>
          <a:p>
            <a:endParaRPr dirty="0"/>
          </a:p>
        </p:txBody>
      </p:sp>
      <p:sp>
        <p:nvSpPr>
          <p:cNvPr id="3" name="object 3"/>
          <p:cNvSpPr txBox="1"/>
          <p:nvPr/>
        </p:nvSpPr>
        <p:spPr>
          <a:xfrm>
            <a:off x="1463040" y="206635"/>
            <a:ext cx="2057883" cy="64120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4979"/>
              </a:lnSpc>
              <a:spcBef>
                <a:spcPts val="0"/>
              </a:spcBef>
              <a:spcAft>
                <a:spcPts val="0"/>
              </a:spcAft>
            </a:pPr>
            <a:r>
              <a:rPr sz="4400" dirty="0">
                <a:solidFill>
                  <a:srgbClr val="181A0D"/>
                </a:solidFill>
                <a:cs typeface="VTCKGD+FranklinGothic-Book"/>
              </a:rPr>
              <a:t>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object 4"/>
              <p:cNvSpPr txBox="1"/>
              <p:nvPr/>
            </p:nvSpPr>
            <p:spPr>
              <a:xfrm>
                <a:off x="1092464" y="1054471"/>
                <a:ext cx="11089232" cy="6194003"/>
              </a:xfrm>
              <a:prstGeom prst="rect">
                <a:avLst/>
              </a:prstGeom>
            </p:spPr>
            <p:txBody>
              <a:bodyPr vert="horz" wrap="square" lIns="0" tIns="0" rIns="0" bIns="0" rtlCol="0">
                <a:spAutoFit/>
              </a:bodyPr>
              <a:lstStyle/>
              <a:p>
                <a:pPr marL="342900" marR="0" indent="-342900">
                  <a:lnSpc>
                    <a:spcPts val="2258"/>
                  </a:lnSpc>
                  <a:spcBef>
                    <a:spcPts val="0"/>
                  </a:spcBef>
                  <a:spcAft>
                    <a:spcPts val="0"/>
                  </a:spcAft>
                  <a:buFont typeface="Wingdings" pitchFamily="2" charset="2"/>
                  <a:buChar char="q"/>
                </a:pPr>
                <a:r>
                  <a:rPr lang="en-US" sz="2400" b="1" spc="-25" dirty="0">
                    <a:solidFill>
                      <a:srgbClr val="181A0D"/>
                    </a:solidFill>
                    <a:cs typeface="OAGDQN+FranklinGothic-BookItalic"/>
                  </a:rPr>
                  <a:t>Treatment response after 2yrs of HAART</a:t>
                </a:r>
                <a:r>
                  <a:rPr lang="en-US" sz="2000" spc="-25" dirty="0">
                    <a:solidFill>
                      <a:srgbClr val="181A0D"/>
                    </a:solidFill>
                    <a:cs typeface="OAGDQN+FranklinGothic-BookItalic"/>
                  </a:rPr>
                  <a:t> </a:t>
                </a:r>
              </a:p>
              <a:p>
                <a:pPr marL="800100" lvl="1" indent="-342900">
                  <a:lnSpc>
                    <a:spcPts val="2258"/>
                  </a:lnSpc>
                  <a:buFont typeface="Wingdings" pitchFamily="2" charset="2"/>
                  <a:buChar char="Ø"/>
                </a:pPr>
                <a:r>
                  <a:rPr lang="en-US" sz="2000" spc="-25" dirty="0">
                    <a:solidFill>
                      <a:srgbClr val="181A0D"/>
                    </a:solidFill>
                    <a:cs typeface="OAGDQN+FranklinGothic-BookItalic"/>
                  </a:rPr>
                  <a:t>Bayesian linear regression using </a:t>
                </a:r>
                <a:r>
                  <a:rPr lang="en-US" sz="2000" spc="-25" dirty="0" err="1">
                    <a:solidFill>
                      <a:srgbClr val="181A0D"/>
                    </a:solidFill>
                    <a:cs typeface="OAGDQN+FranklinGothic-BookItalic"/>
                  </a:rPr>
                  <a:t>brm</a:t>
                </a:r>
                <a:r>
                  <a:rPr lang="en-US" sz="2000" spc="-25" dirty="0">
                    <a:solidFill>
                      <a:srgbClr val="181A0D"/>
                    </a:solidFill>
                    <a:cs typeface="OAGDQN+FranklinGothic-BookItalic"/>
                  </a:rPr>
                  <a:t>() package for each treatment response</a:t>
                </a:r>
              </a:p>
              <a:p>
                <a:pPr marL="1257300" lvl="2" indent="-342900">
                  <a:lnSpc>
                    <a:spcPts val="2258"/>
                  </a:lnSpc>
                  <a:buFont typeface="Courier New" panose="02070309020205020404" pitchFamily="49" charset="0"/>
                  <a:buChar char="o"/>
                </a:pPr>
                <a:r>
                  <a:rPr lang="en-US" sz="2000" spc="-25" dirty="0">
                    <a:solidFill>
                      <a:srgbClr val="181A0D"/>
                    </a:solidFill>
                    <a:cs typeface="OAGDQN+FranklinGothic-BookItalic"/>
                  </a:rPr>
                  <a:t>Priors: weakly(vague)-informative </a:t>
                </a:r>
              </a:p>
              <a:p>
                <a:pPr marL="1714500" lvl="3" indent="-342900">
                  <a:lnSpc>
                    <a:spcPts val="2258"/>
                  </a:lnSpc>
                  <a:buFont typeface="Arial" panose="020B0604020202020204" pitchFamily="34" charset="0"/>
                  <a:buChar char="•"/>
                </a:pPr>
                <a:r>
                  <a:rPr lang="en-US" sz="2000" spc="-25" dirty="0">
                    <a:solidFill>
                      <a:srgbClr val="181A0D"/>
                    </a:solidFill>
                    <a:cs typeface="OAGDQN+FranklinGothic-BookItalic"/>
                  </a:rPr>
                  <a:t>N(0,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 spc="-25" smtClean="0">
                            <a:solidFill>
                              <a:srgbClr val="181A0D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pc="-25" smtClean="0">
                            <a:solidFill>
                              <a:srgbClr val="181A0D"/>
                            </a:solidFill>
                            <a:latin typeface="Cambria Math" panose="02040503050406030204" pitchFamily="18" charset="0"/>
                          </a:rPr>
                          <m:t>100</m:t>
                        </m:r>
                      </m:e>
                      <m:sup>
                        <m:r>
                          <a:rPr lang="en-US" sz="2000" b="0" i="1" spc="-25" smtClean="0">
                            <a:solidFill>
                              <a:srgbClr val="181A0D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000" spc="-25" dirty="0">
                    <a:solidFill>
                      <a:srgbClr val="181A0D"/>
                    </a:solidFill>
                    <a:cs typeface="OAGDQN+FranklinGothic-BookItalic"/>
                  </a:rPr>
                  <a:t>) on regression coefficients </a:t>
                </a:r>
              </a:p>
              <a:p>
                <a:pPr marL="1714500" lvl="3" indent="-342900">
                  <a:lnSpc>
                    <a:spcPts val="2258"/>
                  </a:lnSpc>
                  <a:buFont typeface="Arial" panose="020B0604020202020204" pitchFamily="34" charset="0"/>
                  <a:buChar char="•"/>
                </a:pPr>
                <a:r>
                  <a:rPr lang="en-US" sz="2000" spc="-25" dirty="0">
                    <a:solidFill>
                      <a:srgbClr val="181A0D"/>
                    </a:solidFill>
                    <a:cs typeface="OAGDQN+FranklinGothic-BookItalic"/>
                  </a:rPr>
                  <a:t>Half-t(3,0,</a:t>
                </a:r>
                <a:r>
                  <a:rPr lang="en-US" sz="2000" spc="-25" dirty="0">
                    <a:solidFill>
                      <a:srgbClr val="181A0D"/>
                    </a:solidFill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 spc="-25">
                            <a:solidFill>
                              <a:srgbClr val="181A0D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 spc="-25">
                            <a:solidFill>
                              <a:srgbClr val="181A0D"/>
                            </a:solidFill>
                            <a:latin typeface="Cambria Math" panose="02040503050406030204" pitchFamily="18" charset="0"/>
                          </a:rPr>
                          <m:t>100</m:t>
                        </m:r>
                      </m:e>
                      <m:sup>
                        <m:r>
                          <a:rPr lang="en-US" sz="2000" i="1" spc="-25">
                            <a:solidFill>
                              <a:srgbClr val="181A0D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000" b="0" i="1" spc="-25" smtClean="0">
                        <a:solidFill>
                          <a:srgbClr val="181A0D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spc="-25" dirty="0">
                    <a:solidFill>
                      <a:srgbClr val="181A0D"/>
                    </a:solidFill>
                    <a:cs typeface="OAGDQN+FranklinGothic-BookItalic"/>
                  </a:rPr>
                  <a:t> on residual variance.</a:t>
                </a:r>
              </a:p>
              <a:p>
                <a:pPr marL="800100" lvl="1" indent="-342900">
                  <a:lnSpc>
                    <a:spcPts val="2258"/>
                  </a:lnSpc>
                  <a:buFont typeface="Wingdings" pitchFamily="2" charset="2"/>
                  <a:buChar char="Ø"/>
                </a:pPr>
                <a:r>
                  <a:rPr lang="en-US" sz="2000" spc="-25" dirty="0">
                    <a:solidFill>
                      <a:srgbClr val="181A0D"/>
                    </a:solidFill>
                    <a:cs typeface="OAGDQN+FranklinGothic-BookItalic"/>
                  </a:rPr>
                  <a:t>Each outcome was modeled as a function of baseline outcome values and covariates</a:t>
                </a:r>
              </a:p>
              <a:p>
                <a:pPr marL="1257300" lvl="2" indent="-342900">
                  <a:lnSpc>
                    <a:spcPts val="2258"/>
                  </a:lnSpc>
                  <a:buFont typeface="Courier New" panose="02070309020205020404" pitchFamily="49" charset="0"/>
                  <a:buChar char="o"/>
                </a:pPr>
                <a:r>
                  <a:rPr lang="en-US" dirty="0"/>
                  <a:t>Age, BMI, smoking status, education, race/ethnicity</a:t>
                </a:r>
                <a:r>
                  <a:rPr lang="en-US" sz="2000" dirty="0"/>
                  <a:t> </a:t>
                </a:r>
                <a:endParaRPr lang="en-US" sz="2000" spc="-25" dirty="0">
                  <a:solidFill>
                    <a:srgbClr val="181A0D"/>
                  </a:solidFill>
                  <a:cs typeface="OAGDQN+FranklinGothic-BookItalic"/>
                </a:endParaRPr>
              </a:p>
              <a:p>
                <a:pPr marL="800100" lvl="1" indent="-342900">
                  <a:lnSpc>
                    <a:spcPts val="2258"/>
                  </a:lnSpc>
                  <a:buFont typeface="Wingdings" pitchFamily="2" charset="2"/>
                  <a:buChar char="Ø"/>
                </a:pPr>
                <a:r>
                  <a:rPr lang="en-US" sz="2000" spc="-25" dirty="0">
                    <a:solidFill>
                      <a:srgbClr val="181A0D"/>
                    </a:solidFill>
                    <a:cs typeface="OAGDQN+FranklinGothic-BookItalic"/>
                  </a:rPr>
                  <a:t>Log10 transformed viral load – others on original scale</a:t>
                </a:r>
              </a:p>
              <a:p>
                <a:pPr lvl="1">
                  <a:lnSpc>
                    <a:spcPts val="2258"/>
                  </a:lnSpc>
                </a:pPr>
                <a:endParaRPr lang="en-US" sz="2000" spc="-25" dirty="0">
                  <a:solidFill>
                    <a:srgbClr val="181A0D"/>
                  </a:solidFill>
                  <a:cs typeface="OAGDQN+FranklinGothic-BookItalic"/>
                </a:endParaRPr>
              </a:p>
              <a:p>
                <a:pPr marL="342900" marR="0" indent="-342900">
                  <a:lnSpc>
                    <a:spcPts val="2258"/>
                  </a:lnSpc>
                  <a:spcBef>
                    <a:spcPts val="0"/>
                  </a:spcBef>
                  <a:spcAft>
                    <a:spcPts val="0"/>
                  </a:spcAft>
                  <a:buFont typeface="Wingdings" pitchFamily="2" charset="2"/>
                  <a:buChar char="q"/>
                </a:pPr>
                <a:r>
                  <a:rPr lang="en-US" sz="2400" b="1" spc="-25" dirty="0">
                    <a:solidFill>
                      <a:srgbClr val="181A0D"/>
                    </a:solidFill>
                    <a:cs typeface="OAGDQN+FranklinGothic-BookItalic"/>
                  </a:rPr>
                  <a:t>Adherence</a:t>
                </a:r>
                <a:r>
                  <a:rPr lang="en-US" sz="2000" spc="-25" dirty="0">
                    <a:solidFill>
                      <a:srgbClr val="181A0D"/>
                    </a:solidFill>
                    <a:cs typeface="OAGDQN+FranklinGothic-BookItalic"/>
                  </a:rPr>
                  <a:t> </a:t>
                </a:r>
              </a:p>
              <a:p>
                <a:pPr marL="800100" lvl="1" indent="-342900">
                  <a:lnSpc>
                    <a:spcPts val="2258"/>
                  </a:lnSpc>
                  <a:buFont typeface="Wingdings" pitchFamily="2" charset="2"/>
                  <a:buChar char="Ø"/>
                </a:pPr>
                <a:r>
                  <a:rPr lang="en-US" sz="2000" spc="-25" dirty="0">
                    <a:solidFill>
                      <a:srgbClr val="181A0D"/>
                    </a:solidFill>
                    <a:cs typeface="OAGDQN+FranklinGothic-BookItalic"/>
                  </a:rPr>
                  <a:t>Bayesian linear regression using </a:t>
                </a:r>
                <a:r>
                  <a:rPr lang="en-US" sz="2000" spc="-25" dirty="0" err="1">
                    <a:solidFill>
                      <a:srgbClr val="181A0D"/>
                    </a:solidFill>
                    <a:cs typeface="OAGDQN+FranklinGothic-BookItalic"/>
                  </a:rPr>
                  <a:t>brm</a:t>
                </a:r>
                <a:r>
                  <a:rPr lang="en-US" sz="2000" spc="-25" dirty="0">
                    <a:solidFill>
                      <a:srgbClr val="181A0D"/>
                    </a:solidFill>
                    <a:cs typeface="OAGDQN+FranklinGothic-BookItalic"/>
                  </a:rPr>
                  <a:t>() package for each treatment response</a:t>
                </a:r>
              </a:p>
              <a:p>
                <a:pPr marL="800100" lvl="1" indent="-342900">
                  <a:lnSpc>
                    <a:spcPts val="2258"/>
                  </a:lnSpc>
                  <a:buFont typeface="Wingdings" pitchFamily="2" charset="2"/>
                  <a:buChar char="Ø"/>
                </a:pPr>
                <a:r>
                  <a:rPr lang="en-US" sz="2000" spc="-25" dirty="0">
                    <a:solidFill>
                      <a:srgbClr val="181A0D"/>
                    </a:solidFill>
                    <a:cs typeface="OAGDQN+FranklinGothic-BookItalic"/>
                  </a:rPr>
                  <a:t>Same priors</a:t>
                </a:r>
              </a:p>
              <a:p>
                <a:pPr marL="800100" lvl="1" indent="-342900">
                  <a:lnSpc>
                    <a:spcPts val="2258"/>
                  </a:lnSpc>
                  <a:buFont typeface="Wingdings" pitchFamily="2" charset="2"/>
                  <a:buChar char="Ø"/>
                </a:pPr>
                <a:r>
                  <a:rPr lang="en-US" sz="2000" spc="-25" dirty="0">
                    <a:solidFill>
                      <a:srgbClr val="181A0D"/>
                    </a:solidFill>
                    <a:cs typeface="OAGDQN+FranklinGothic-BookItalic"/>
                  </a:rPr>
                  <a:t>Binary adherence (&lt;95%, ≥95%) used to test association between hard drug users and response</a:t>
                </a:r>
              </a:p>
              <a:p>
                <a:pPr marL="342900" marR="0" indent="-342900">
                  <a:lnSpc>
                    <a:spcPts val="2258"/>
                  </a:lnSpc>
                  <a:spcBef>
                    <a:spcPts val="0"/>
                  </a:spcBef>
                  <a:spcAft>
                    <a:spcPts val="0"/>
                  </a:spcAft>
                  <a:buFont typeface="Wingdings" pitchFamily="2" charset="2"/>
                  <a:buChar char="q"/>
                </a:pPr>
                <a:endParaRPr lang="en-US" sz="2000" spc="-25" dirty="0">
                  <a:solidFill>
                    <a:srgbClr val="181A0D"/>
                  </a:solidFill>
                  <a:cs typeface="OAGDQN+FranklinGothic-BookItalic"/>
                </a:endParaRPr>
              </a:p>
              <a:p>
                <a:pPr marL="342900" marR="0" indent="-342900">
                  <a:lnSpc>
                    <a:spcPts val="2258"/>
                  </a:lnSpc>
                  <a:spcBef>
                    <a:spcPts val="0"/>
                  </a:spcBef>
                  <a:spcAft>
                    <a:spcPts val="0"/>
                  </a:spcAft>
                  <a:buFont typeface="Wingdings" pitchFamily="2" charset="2"/>
                  <a:buChar char="q"/>
                </a:pPr>
                <a:r>
                  <a:rPr lang="en-US" sz="2400" b="1" spc="-25" dirty="0">
                    <a:solidFill>
                      <a:srgbClr val="181A0D"/>
                    </a:solidFill>
                    <a:cs typeface="OAGDQN+FranklinGothic-BookItalic"/>
                  </a:rPr>
                  <a:t>Dropout Rates</a:t>
                </a:r>
                <a:r>
                  <a:rPr lang="en-US" sz="2000" spc="-25" dirty="0">
                    <a:solidFill>
                      <a:srgbClr val="181A0D"/>
                    </a:solidFill>
                    <a:cs typeface="OAGDQN+FranklinGothic-BookItalic"/>
                  </a:rPr>
                  <a:t> </a:t>
                </a:r>
              </a:p>
              <a:p>
                <a:pPr marL="800100" lvl="1" indent="-342900">
                  <a:lnSpc>
                    <a:spcPts val="2258"/>
                  </a:lnSpc>
                  <a:buFont typeface="Wingdings" pitchFamily="2" charset="2"/>
                  <a:buChar char="Ø"/>
                </a:pPr>
                <a:r>
                  <a:rPr lang="en-US" sz="2000" spc="-25" dirty="0">
                    <a:solidFill>
                      <a:srgbClr val="181A0D"/>
                    </a:solidFill>
                    <a:cs typeface="OAGDQN+FranklinGothic-BookItalic"/>
                  </a:rPr>
                  <a:t>Wilcoxon rank sum test</a:t>
                </a:r>
              </a:p>
              <a:p>
                <a:pPr marL="800100" lvl="1" indent="-342900">
                  <a:lnSpc>
                    <a:spcPts val="2258"/>
                  </a:lnSpc>
                  <a:buFont typeface="Wingdings" pitchFamily="2" charset="2"/>
                  <a:buChar char="Ø"/>
                </a:pPr>
                <a:r>
                  <a:rPr lang="en-US" sz="2000" spc="-25" dirty="0">
                    <a:solidFill>
                      <a:srgbClr val="181A0D"/>
                    </a:solidFill>
                    <a:cs typeface="OAGDQN+FranklinGothic-BookItalic"/>
                  </a:rPr>
                  <a:t>Complete cases vs incomplete (missing year2)</a:t>
                </a:r>
              </a:p>
              <a:p>
                <a:pPr marL="342900" marR="0" indent="-342900">
                  <a:lnSpc>
                    <a:spcPts val="2258"/>
                  </a:lnSpc>
                  <a:spcBef>
                    <a:spcPts val="0"/>
                  </a:spcBef>
                  <a:spcAft>
                    <a:spcPts val="0"/>
                  </a:spcAft>
                  <a:buFont typeface="Wingdings" pitchFamily="2" charset="2"/>
                  <a:buChar char="q"/>
                </a:pPr>
                <a:endParaRPr lang="en-US" sz="2000" spc="-25" dirty="0">
                  <a:solidFill>
                    <a:srgbClr val="181A0D"/>
                  </a:solidFill>
                  <a:cs typeface="OAGDQN+FranklinGothic-BookItalic"/>
                </a:endParaRPr>
              </a:p>
              <a:p>
                <a:pPr marL="342900" marR="0" indent="-342900">
                  <a:lnSpc>
                    <a:spcPts val="2258"/>
                  </a:lnSpc>
                  <a:spcBef>
                    <a:spcPts val="0"/>
                  </a:spcBef>
                  <a:spcAft>
                    <a:spcPts val="0"/>
                  </a:spcAft>
                  <a:buFont typeface="Wingdings" pitchFamily="2" charset="2"/>
                  <a:buChar char="q"/>
                </a:pPr>
                <a:endParaRPr lang="en-US" sz="2000" spc="-25" dirty="0">
                  <a:solidFill>
                    <a:srgbClr val="181A0D"/>
                  </a:solidFill>
                  <a:cs typeface="OAGDQN+FranklinGothic-BookItalic"/>
                </a:endParaRPr>
              </a:p>
              <a:p>
                <a:pPr marL="342900" marR="0" indent="-342900">
                  <a:lnSpc>
                    <a:spcPts val="2258"/>
                  </a:lnSpc>
                  <a:spcBef>
                    <a:spcPts val="0"/>
                  </a:spcBef>
                  <a:spcAft>
                    <a:spcPts val="0"/>
                  </a:spcAft>
                  <a:buFont typeface="Wingdings" pitchFamily="2" charset="2"/>
                  <a:buChar char="q"/>
                </a:pPr>
                <a:endParaRPr lang="en-US" sz="2000" spc="-25" dirty="0">
                  <a:solidFill>
                    <a:srgbClr val="181A0D"/>
                  </a:solidFill>
                  <a:cs typeface="OAGDQN+FranklinGothic-BookItalic"/>
                </a:endParaRPr>
              </a:p>
              <a:p>
                <a:pPr marL="342900" marR="0" indent="-342900">
                  <a:lnSpc>
                    <a:spcPts val="2258"/>
                  </a:lnSpc>
                  <a:spcBef>
                    <a:spcPts val="0"/>
                  </a:spcBef>
                  <a:spcAft>
                    <a:spcPts val="0"/>
                  </a:spcAft>
                  <a:buFont typeface="Wingdings" pitchFamily="2" charset="2"/>
                  <a:buChar char="q"/>
                </a:pPr>
                <a:endParaRPr sz="2000" spc="-25" dirty="0">
                  <a:solidFill>
                    <a:srgbClr val="181A0D"/>
                  </a:solidFill>
                  <a:cs typeface="OAGDQN+FranklinGothic-BookItalic"/>
                </a:endParaRPr>
              </a:p>
            </p:txBody>
          </p:sp>
        </mc:Choice>
        <mc:Fallback>
          <p:sp>
            <p:nvSpPr>
              <p:cNvPr id="4" name="object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2464" y="1054471"/>
                <a:ext cx="11089232" cy="6194003"/>
              </a:xfrm>
              <a:prstGeom prst="rect">
                <a:avLst/>
              </a:prstGeom>
              <a:blipFill>
                <a:blip r:embed="rId4"/>
                <a:stretch>
                  <a:fillRect l="-1486" t="-26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0" y="6820"/>
            <a:ext cx="12192000" cy="6858000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>
            <a:spAutoFit/>
          </a:bodyPr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1463069" y="173199"/>
            <a:ext cx="1903917" cy="64120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4979"/>
              </a:lnSpc>
              <a:spcBef>
                <a:spcPts val="0"/>
              </a:spcBef>
              <a:spcAft>
                <a:spcPts val="0"/>
              </a:spcAft>
            </a:pPr>
            <a:r>
              <a:rPr sz="4400" spc="-12" dirty="0">
                <a:solidFill>
                  <a:srgbClr val="181A0D"/>
                </a:solidFill>
                <a:cs typeface="MPIRPG+FranklinGothic-Book"/>
              </a:rPr>
              <a:t>Results</a:t>
            </a:r>
          </a:p>
        </p:txBody>
      </p:sp>
      <p:sp>
        <p:nvSpPr>
          <p:cNvPr id="12" name="object 4">
            <a:extLst>
              <a:ext uri="{FF2B5EF4-FFF2-40B4-BE49-F238E27FC236}">
                <a16:creationId xmlns:a16="http://schemas.microsoft.com/office/drawing/2014/main" id="{2FF3022D-87F7-BF6A-4366-54D58B6DC952}"/>
              </a:ext>
            </a:extLst>
          </p:cNvPr>
          <p:cNvSpPr txBox="1"/>
          <p:nvPr/>
        </p:nvSpPr>
        <p:spPr>
          <a:xfrm>
            <a:off x="875245" y="980779"/>
            <a:ext cx="4392488" cy="5014193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42900" indent="-342900">
              <a:lnSpc>
                <a:spcPts val="2258"/>
              </a:lnSpc>
              <a:buFont typeface="Wingdings" pitchFamily="2" charset="2"/>
              <a:buChar char="q"/>
            </a:pPr>
            <a:r>
              <a:rPr lang="en-US" sz="2000" b="1" spc="-25" dirty="0">
                <a:solidFill>
                  <a:srgbClr val="181A0D"/>
                </a:solidFill>
                <a:cs typeface="OAGDQN+FranklinGothic-BookItalic"/>
              </a:rPr>
              <a:t>Treatment response after 2yrs of HAART:</a:t>
            </a:r>
          </a:p>
          <a:p>
            <a:pPr marL="342900" marR="0" indent="-342900">
              <a:lnSpc>
                <a:spcPts val="2258"/>
              </a:lnSpc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Ø"/>
            </a:pPr>
            <a:r>
              <a:rPr lang="en-US" sz="2000" spc="-25" dirty="0">
                <a:solidFill>
                  <a:srgbClr val="181A0D"/>
                </a:solidFill>
                <a:cs typeface="OAGDQN+FranklinGothic-BookItalic"/>
              </a:rPr>
              <a:t>Controlling for baseline outcome and covariates:</a:t>
            </a:r>
          </a:p>
          <a:p>
            <a:pPr marL="800100" lvl="1" indent="-342900">
              <a:lnSpc>
                <a:spcPts val="2258"/>
              </a:lnSpc>
              <a:buFont typeface="Wingdings" pitchFamily="2" charset="2"/>
              <a:buChar char="Ø"/>
            </a:pPr>
            <a:endParaRPr lang="en-US" sz="2000" spc="-25" dirty="0">
              <a:solidFill>
                <a:srgbClr val="181A0D"/>
              </a:solidFill>
              <a:cs typeface="OAGDQN+FranklinGothic-BookItalic"/>
            </a:endParaRPr>
          </a:p>
          <a:p>
            <a:pPr marL="342900" indent="-342900">
              <a:lnSpc>
                <a:spcPts val="2258"/>
              </a:lnSpc>
              <a:buFont typeface="Wingdings" pitchFamily="2" charset="2"/>
              <a:buChar char="Ø"/>
            </a:pPr>
            <a:endParaRPr lang="en-US" sz="2000" spc="-25" dirty="0">
              <a:solidFill>
                <a:srgbClr val="181A0D"/>
              </a:solidFill>
              <a:cs typeface="OAGDQN+FranklinGothic-BookItalic"/>
            </a:endParaRPr>
          </a:p>
          <a:p>
            <a:pPr marL="342900" marR="0" indent="-342900">
              <a:lnSpc>
                <a:spcPts val="2258"/>
              </a:lnSpc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q"/>
            </a:pPr>
            <a:r>
              <a:rPr lang="en-US" sz="2000" b="1" spc="-25" dirty="0">
                <a:solidFill>
                  <a:srgbClr val="181A0D"/>
                </a:solidFill>
                <a:cs typeface="OAGDQN+FranklinGothic-BookItalic"/>
              </a:rPr>
              <a:t>Adherence:</a:t>
            </a:r>
          </a:p>
          <a:p>
            <a:pPr marL="342900" indent="-342900">
              <a:lnSpc>
                <a:spcPts val="2258"/>
              </a:lnSpc>
              <a:buFont typeface="Wingdings" pitchFamily="2" charset="2"/>
              <a:buChar char="Ø"/>
            </a:pPr>
            <a:r>
              <a:rPr lang="en-US" sz="2000" spc="-25" dirty="0">
                <a:solidFill>
                  <a:srgbClr val="181A0D"/>
                </a:solidFill>
                <a:cs typeface="OAGDQN+FranklinGothic-BookItalic"/>
              </a:rPr>
              <a:t>±</a:t>
            </a:r>
          </a:p>
          <a:p>
            <a:pPr marL="800100" lvl="1" indent="-342900">
              <a:lnSpc>
                <a:spcPts val="2258"/>
              </a:lnSpc>
              <a:buFont typeface="Wingdings" pitchFamily="2" charset="2"/>
              <a:buChar char="Ø"/>
            </a:pPr>
            <a:endParaRPr lang="en-US" sz="2000" spc="-25" dirty="0">
              <a:solidFill>
                <a:srgbClr val="181A0D"/>
              </a:solidFill>
              <a:cs typeface="OAGDQN+FranklinGothic-BookItalic"/>
            </a:endParaRPr>
          </a:p>
          <a:p>
            <a:pPr marL="342900" indent="-342900">
              <a:lnSpc>
                <a:spcPts val="2258"/>
              </a:lnSpc>
              <a:buFont typeface="Wingdings" pitchFamily="2" charset="2"/>
              <a:buChar char="Ø"/>
            </a:pPr>
            <a:endParaRPr lang="en-US" sz="2000" spc="-25" dirty="0">
              <a:solidFill>
                <a:srgbClr val="181A0D"/>
              </a:solidFill>
              <a:cs typeface="OAGDQN+FranklinGothic-BookItalic"/>
            </a:endParaRPr>
          </a:p>
          <a:p>
            <a:pPr marL="800100" lvl="1" indent="-342900">
              <a:lnSpc>
                <a:spcPts val="2258"/>
              </a:lnSpc>
              <a:buFont typeface="Arial" panose="020B0604020202020204" pitchFamily="34" charset="0"/>
              <a:buChar char="•"/>
            </a:pPr>
            <a:endParaRPr lang="en-US" sz="2000" spc="-25" dirty="0">
              <a:solidFill>
                <a:srgbClr val="181A0D"/>
              </a:solidFill>
              <a:cs typeface="OAGDQN+FranklinGothic-BookItalic"/>
            </a:endParaRPr>
          </a:p>
          <a:p>
            <a:pPr marL="342900" indent="-342900">
              <a:lnSpc>
                <a:spcPts val="2258"/>
              </a:lnSpc>
              <a:buFont typeface="Wingdings" pitchFamily="2" charset="2"/>
              <a:buChar char="q"/>
            </a:pPr>
            <a:endParaRPr lang="en-US" sz="2000" spc="-25" dirty="0">
              <a:solidFill>
                <a:srgbClr val="181A0D"/>
              </a:solidFill>
              <a:cs typeface="OAGDQN+FranklinGothic-BookItalic"/>
            </a:endParaRPr>
          </a:p>
          <a:p>
            <a:pPr marL="342900" indent="-342900">
              <a:lnSpc>
                <a:spcPts val="2258"/>
              </a:lnSpc>
              <a:buFont typeface="Wingdings" pitchFamily="2" charset="2"/>
              <a:buChar char="Ø"/>
            </a:pPr>
            <a:endParaRPr lang="en-US" sz="2000" spc="-25" dirty="0">
              <a:solidFill>
                <a:srgbClr val="181A0D"/>
              </a:solidFill>
              <a:cs typeface="OAGDQN+FranklinGothic-BookItalic"/>
            </a:endParaRPr>
          </a:p>
          <a:p>
            <a:pPr marL="342900" marR="0" indent="-342900">
              <a:lnSpc>
                <a:spcPts val="2258"/>
              </a:lnSpc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q"/>
            </a:pPr>
            <a:endParaRPr lang="en-US" sz="2000" spc="-25" dirty="0">
              <a:solidFill>
                <a:srgbClr val="181A0D"/>
              </a:solidFill>
              <a:cs typeface="OAGDQN+FranklinGothic-BookItalic"/>
            </a:endParaRPr>
          </a:p>
          <a:p>
            <a:pPr marL="342900" marR="0" indent="-342900">
              <a:lnSpc>
                <a:spcPts val="2258"/>
              </a:lnSpc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q"/>
            </a:pPr>
            <a:endParaRPr lang="en-US" sz="2000" spc="-25" dirty="0">
              <a:solidFill>
                <a:srgbClr val="181A0D"/>
              </a:solidFill>
              <a:cs typeface="OAGDQN+FranklinGothic-BookItalic"/>
            </a:endParaRPr>
          </a:p>
          <a:p>
            <a:pPr marL="342900" marR="0" indent="-342900">
              <a:lnSpc>
                <a:spcPts val="2258"/>
              </a:lnSpc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q"/>
            </a:pPr>
            <a:endParaRPr lang="en-US" sz="2000" spc="-25" dirty="0">
              <a:solidFill>
                <a:srgbClr val="181A0D"/>
              </a:solidFill>
              <a:cs typeface="OAGDQN+FranklinGothic-BookItalic"/>
            </a:endParaRPr>
          </a:p>
          <a:p>
            <a:pPr marL="342900" marR="0" indent="-342900">
              <a:lnSpc>
                <a:spcPts val="2258"/>
              </a:lnSpc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q"/>
            </a:pPr>
            <a:endParaRPr sz="2000" spc="-25" dirty="0">
              <a:solidFill>
                <a:srgbClr val="181A0D"/>
              </a:solidFill>
              <a:cs typeface="OAGDQN+FranklinGothic-BookItalic"/>
            </a:endParaRPr>
          </a:p>
        </p:txBody>
      </p:sp>
      <p:pic>
        <p:nvPicPr>
          <p:cNvPr id="4" name="Picture 3" descr="A graph of different colored boxes&#10;&#10;AI-generated content may be incorrect.">
            <a:extLst>
              <a:ext uri="{FF2B5EF4-FFF2-40B4-BE49-F238E27FC236}">
                <a16:creationId xmlns:a16="http://schemas.microsoft.com/office/drawing/2014/main" id="{4D5A6EF3-C6DD-AED9-03C3-861AD62167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80088" y="173199"/>
            <a:ext cx="5547283" cy="389742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9A6FD47-8844-5F74-EE60-E7A9FFA9F8B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29393" y="4129819"/>
            <a:ext cx="6048672" cy="255498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0" y="14166"/>
            <a:ext cx="12192000" cy="6858000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>
            <a:spAutoFit/>
          </a:bodyPr>
          <a:lstStyle/>
          <a:p>
            <a:endParaRPr dirty="0"/>
          </a:p>
        </p:txBody>
      </p:sp>
      <p:sp>
        <p:nvSpPr>
          <p:cNvPr id="3" name="object 3"/>
          <p:cNvSpPr txBox="1"/>
          <p:nvPr/>
        </p:nvSpPr>
        <p:spPr>
          <a:xfrm>
            <a:off x="1415480" y="188640"/>
            <a:ext cx="4528479" cy="64120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4979"/>
              </a:lnSpc>
              <a:spcBef>
                <a:spcPts val="0"/>
              </a:spcBef>
              <a:spcAft>
                <a:spcPts val="0"/>
              </a:spcAft>
            </a:pPr>
            <a:r>
              <a:rPr sz="4400" spc="-11" dirty="0">
                <a:solidFill>
                  <a:srgbClr val="181A0D"/>
                </a:solidFill>
                <a:cs typeface="WPQCJM+FranklinGothic-Book"/>
              </a:rPr>
              <a:t>Results,</a:t>
            </a:r>
            <a:r>
              <a:rPr sz="4400" spc="13" dirty="0">
                <a:solidFill>
                  <a:srgbClr val="181A0D"/>
                </a:solidFill>
                <a:cs typeface="WPQCJM+FranklinGothic-Book"/>
              </a:rPr>
              <a:t> </a:t>
            </a:r>
            <a:r>
              <a:rPr sz="4400" dirty="0">
                <a:solidFill>
                  <a:srgbClr val="181A0D"/>
                </a:solidFill>
                <a:cs typeface="WPQCJM+FranklinGothic-Book"/>
              </a:rPr>
              <a:t>continued</a:t>
            </a:r>
          </a:p>
        </p:txBody>
      </p:sp>
      <p:sp>
        <p:nvSpPr>
          <p:cNvPr id="8" name="object 4">
            <a:extLst>
              <a:ext uri="{FF2B5EF4-FFF2-40B4-BE49-F238E27FC236}">
                <a16:creationId xmlns:a16="http://schemas.microsoft.com/office/drawing/2014/main" id="{135D1CCA-C085-B968-1B22-01E31F3EE6DF}"/>
              </a:ext>
            </a:extLst>
          </p:cNvPr>
          <p:cNvSpPr txBox="1"/>
          <p:nvPr/>
        </p:nvSpPr>
        <p:spPr>
          <a:xfrm>
            <a:off x="875244" y="980779"/>
            <a:ext cx="4811155" cy="1002838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42900" marR="0" indent="-342900">
              <a:lnSpc>
                <a:spcPts val="2258"/>
              </a:lnSpc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q"/>
            </a:pPr>
            <a:r>
              <a:rPr lang="en-US" b="1" spc="-25" dirty="0">
                <a:solidFill>
                  <a:srgbClr val="181A0D"/>
                </a:solidFill>
                <a:cs typeface="OAGDQN+FranklinGothic-BookItalic"/>
              </a:rPr>
              <a:t>Cortisol Trends:</a:t>
            </a:r>
          </a:p>
          <a:p>
            <a:pPr marL="342900" marR="0" indent="-342900">
              <a:lnSpc>
                <a:spcPts val="2258"/>
              </a:lnSpc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Ø"/>
            </a:pPr>
            <a:r>
              <a:rPr lang="en-US" spc="-25" dirty="0">
                <a:solidFill>
                  <a:srgbClr val="181A0D"/>
                </a:solidFill>
                <a:cs typeface="OAGDQN+FranklinGothic-BookItalic"/>
              </a:rPr>
              <a:t>On average, a subject’s cortisol levels increased by 0.6% per minute (≈20% cumulatively) during the first 30min after waking (95% CI: -0.1% to 1.3%; p=0.09).</a:t>
            </a:r>
          </a:p>
          <a:p>
            <a:pPr marL="342900" marR="0" indent="-342900">
              <a:lnSpc>
                <a:spcPts val="2258"/>
              </a:lnSpc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Ø"/>
            </a:pPr>
            <a:endParaRPr lang="en-US" spc="-25" dirty="0">
              <a:solidFill>
                <a:srgbClr val="181A0D"/>
              </a:solidFill>
              <a:cs typeface="OAGDQN+FranklinGothic-BookItalic"/>
            </a:endParaRPr>
          </a:p>
          <a:p>
            <a:pPr marL="342900" indent="-342900">
              <a:lnSpc>
                <a:spcPts val="2258"/>
              </a:lnSpc>
              <a:buFont typeface="Wingdings" pitchFamily="2" charset="2"/>
              <a:buChar char="Ø"/>
            </a:pPr>
            <a:r>
              <a:rPr lang="en-US" spc="-25" dirty="0">
                <a:solidFill>
                  <a:srgbClr val="181A0D"/>
                </a:solidFill>
                <a:cs typeface="OAGDQN+FranklinGothic-BookItalic"/>
              </a:rPr>
              <a:t>After 30min, a subject’s cortisol levels decreased by 12.5% per hour, on average (95% CI: -14.4% to -10.6%; p&lt;0.001)</a:t>
            </a:r>
          </a:p>
          <a:p>
            <a:pPr marR="0">
              <a:lnSpc>
                <a:spcPts val="2258"/>
              </a:lnSpc>
              <a:spcBef>
                <a:spcPts val="0"/>
              </a:spcBef>
              <a:spcAft>
                <a:spcPts val="0"/>
              </a:spcAft>
            </a:pPr>
            <a:endParaRPr lang="en-US" spc="-25" dirty="0">
              <a:solidFill>
                <a:srgbClr val="181A0D"/>
              </a:solidFill>
              <a:cs typeface="OAGDQN+FranklinGothic-BookItalic"/>
            </a:endParaRPr>
          </a:p>
          <a:p>
            <a:pPr marL="342900" marR="0" indent="-342900">
              <a:lnSpc>
                <a:spcPts val="2258"/>
              </a:lnSpc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q"/>
            </a:pPr>
            <a:r>
              <a:rPr lang="en-US" b="1" spc="-25" dirty="0">
                <a:solidFill>
                  <a:srgbClr val="181A0D"/>
                </a:solidFill>
                <a:cs typeface="OAGDQN+FranklinGothic-BookItalic"/>
              </a:rPr>
              <a:t>DHEA Trends:</a:t>
            </a:r>
          </a:p>
          <a:p>
            <a:pPr marL="342900" marR="0" indent="-342900">
              <a:lnSpc>
                <a:spcPts val="2258"/>
              </a:lnSpc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Ø"/>
            </a:pPr>
            <a:r>
              <a:rPr lang="en-US" spc="-25" dirty="0">
                <a:solidFill>
                  <a:srgbClr val="181A0D"/>
                </a:solidFill>
                <a:cs typeface="OAGDQN+FranklinGothic-BookItalic"/>
              </a:rPr>
              <a:t>On average, a subject’s DHEA levels decreased by 1.8% per minute (≈58% cumulatively) during the first 30min after waking (95% CI: -2.4% to -1.2%; p&lt;0.001).</a:t>
            </a:r>
          </a:p>
          <a:p>
            <a:pPr marL="342900" marR="0" indent="-342900">
              <a:lnSpc>
                <a:spcPts val="2258"/>
              </a:lnSpc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Ø"/>
            </a:pPr>
            <a:endParaRPr lang="en-US" spc="-25" dirty="0">
              <a:solidFill>
                <a:srgbClr val="181A0D"/>
              </a:solidFill>
              <a:cs typeface="OAGDQN+FranklinGothic-BookItalic"/>
            </a:endParaRPr>
          </a:p>
          <a:p>
            <a:pPr marL="342900" marR="0" indent="-342900">
              <a:lnSpc>
                <a:spcPts val="2258"/>
              </a:lnSpc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Ø"/>
            </a:pPr>
            <a:r>
              <a:rPr lang="en-US" spc="-25" dirty="0">
                <a:solidFill>
                  <a:srgbClr val="181A0D"/>
                </a:solidFill>
                <a:cs typeface="OAGDQN+FranklinGothic-BookItalic"/>
              </a:rPr>
              <a:t>After 30min, a subject’s DHEA levels decreased by 8.9% per hour (95% CI: -10.5% to -7.2%; p&lt;0.001)</a:t>
            </a:r>
          </a:p>
          <a:p>
            <a:pPr marL="342900" marR="0" indent="-342900">
              <a:lnSpc>
                <a:spcPts val="2258"/>
              </a:lnSpc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Ø"/>
            </a:pPr>
            <a:endParaRPr lang="en-US" sz="2000" spc="-25" dirty="0">
              <a:solidFill>
                <a:srgbClr val="181A0D"/>
              </a:solidFill>
              <a:cs typeface="OAGDQN+FranklinGothic-BookItalic"/>
            </a:endParaRPr>
          </a:p>
          <a:p>
            <a:pPr marL="342900" marR="0" indent="-342900">
              <a:lnSpc>
                <a:spcPts val="2258"/>
              </a:lnSpc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Ø"/>
            </a:pPr>
            <a:endParaRPr lang="en-US" sz="2000" spc="-25" dirty="0">
              <a:solidFill>
                <a:srgbClr val="181A0D"/>
              </a:solidFill>
              <a:cs typeface="OAGDQN+FranklinGothic-BookItalic"/>
            </a:endParaRPr>
          </a:p>
          <a:p>
            <a:pPr marL="342900" marR="0" indent="-342900">
              <a:lnSpc>
                <a:spcPts val="2258"/>
              </a:lnSpc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Ø"/>
            </a:pPr>
            <a:endParaRPr lang="en-US" sz="2000" spc="-25" dirty="0">
              <a:solidFill>
                <a:srgbClr val="181A0D"/>
              </a:solidFill>
              <a:cs typeface="OAGDQN+FranklinGothic-BookItalic"/>
            </a:endParaRPr>
          </a:p>
          <a:p>
            <a:pPr marL="342900" marR="0" indent="-342900">
              <a:lnSpc>
                <a:spcPts val="2258"/>
              </a:lnSpc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Ø"/>
            </a:pPr>
            <a:endParaRPr lang="en-US" sz="2000" spc="-25" dirty="0">
              <a:solidFill>
                <a:srgbClr val="181A0D"/>
              </a:solidFill>
              <a:cs typeface="OAGDQN+FranklinGothic-BookItalic"/>
            </a:endParaRPr>
          </a:p>
          <a:p>
            <a:pPr marL="342900" marR="0" indent="-342900">
              <a:lnSpc>
                <a:spcPts val="2258"/>
              </a:lnSpc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Ø"/>
            </a:pPr>
            <a:endParaRPr lang="en-US" sz="2000" b="1" spc="-25" dirty="0">
              <a:solidFill>
                <a:srgbClr val="181A0D"/>
              </a:solidFill>
              <a:cs typeface="OAGDQN+FranklinGothic-BookItalic"/>
            </a:endParaRPr>
          </a:p>
          <a:p>
            <a:pPr>
              <a:lnSpc>
                <a:spcPts val="2258"/>
              </a:lnSpc>
            </a:pPr>
            <a:endParaRPr lang="en-US" sz="2000" spc="-25" dirty="0">
              <a:solidFill>
                <a:srgbClr val="181A0D"/>
              </a:solidFill>
              <a:cs typeface="OAGDQN+FranklinGothic-BookItalic"/>
            </a:endParaRPr>
          </a:p>
          <a:p>
            <a:pPr marL="800100" lvl="1" indent="-342900">
              <a:lnSpc>
                <a:spcPts val="2258"/>
              </a:lnSpc>
              <a:buFont typeface="Wingdings" pitchFamily="2" charset="2"/>
              <a:buChar char="Ø"/>
            </a:pPr>
            <a:endParaRPr lang="en-US" sz="2000" spc="-25" dirty="0">
              <a:solidFill>
                <a:srgbClr val="181A0D"/>
              </a:solidFill>
              <a:cs typeface="OAGDQN+FranklinGothic-BookItalic"/>
            </a:endParaRPr>
          </a:p>
          <a:p>
            <a:pPr marL="342900" indent="-342900">
              <a:lnSpc>
                <a:spcPts val="2258"/>
              </a:lnSpc>
              <a:buFont typeface="Wingdings" pitchFamily="2" charset="2"/>
              <a:buChar char="Ø"/>
            </a:pPr>
            <a:endParaRPr lang="en-US" sz="2000" spc="-25" dirty="0">
              <a:solidFill>
                <a:srgbClr val="181A0D"/>
              </a:solidFill>
              <a:cs typeface="OAGDQN+FranklinGothic-BookItalic"/>
            </a:endParaRPr>
          </a:p>
          <a:p>
            <a:pPr marL="800100" lvl="1" indent="-342900">
              <a:lnSpc>
                <a:spcPts val="2258"/>
              </a:lnSpc>
              <a:buFont typeface="Arial" panose="020B0604020202020204" pitchFamily="34" charset="0"/>
              <a:buChar char="•"/>
            </a:pPr>
            <a:endParaRPr lang="en-US" sz="2000" spc="-25" dirty="0">
              <a:solidFill>
                <a:srgbClr val="181A0D"/>
              </a:solidFill>
              <a:cs typeface="OAGDQN+FranklinGothic-BookItalic"/>
            </a:endParaRPr>
          </a:p>
          <a:p>
            <a:pPr marL="342900" indent="-342900">
              <a:lnSpc>
                <a:spcPts val="2258"/>
              </a:lnSpc>
              <a:buFont typeface="Wingdings" pitchFamily="2" charset="2"/>
              <a:buChar char="q"/>
            </a:pPr>
            <a:endParaRPr lang="en-US" sz="2000" spc="-25" dirty="0">
              <a:solidFill>
                <a:srgbClr val="181A0D"/>
              </a:solidFill>
              <a:cs typeface="OAGDQN+FranklinGothic-BookItalic"/>
            </a:endParaRPr>
          </a:p>
          <a:p>
            <a:pPr marL="342900" indent="-342900">
              <a:lnSpc>
                <a:spcPts val="2258"/>
              </a:lnSpc>
              <a:buFont typeface="Wingdings" pitchFamily="2" charset="2"/>
              <a:buChar char="Ø"/>
            </a:pPr>
            <a:endParaRPr lang="en-US" sz="2000" spc="-25" dirty="0">
              <a:solidFill>
                <a:srgbClr val="181A0D"/>
              </a:solidFill>
              <a:cs typeface="OAGDQN+FranklinGothic-BookItalic"/>
            </a:endParaRPr>
          </a:p>
          <a:p>
            <a:pPr marL="342900" marR="0" indent="-342900">
              <a:lnSpc>
                <a:spcPts val="2258"/>
              </a:lnSpc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q"/>
            </a:pPr>
            <a:endParaRPr lang="en-US" sz="2000" spc="-25" dirty="0">
              <a:solidFill>
                <a:srgbClr val="181A0D"/>
              </a:solidFill>
              <a:cs typeface="OAGDQN+FranklinGothic-BookItalic"/>
            </a:endParaRPr>
          </a:p>
          <a:p>
            <a:pPr marL="342900" marR="0" indent="-342900">
              <a:lnSpc>
                <a:spcPts val="2258"/>
              </a:lnSpc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q"/>
            </a:pPr>
            <a:endParaRPr lang="en-US" sz="2000" spc="-25" dirty="0">
              <a:solidFill>
                <a:srgbClr val="181A0D"/>
              </a:solidFill>
              <a:cs typeface="OAGDQN+FranklinGothic-BookItalic"/>
            </a:endParaRPr>
          </a:p>
          <a:p>
            <a:pPr marL="342900" marR="0" indent="-342900">
              <a:lnSpc>
                <a:spcPts val="2258"/>
              </a:lnSpc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q"/>
            </a:pPr>
            <a:endParaRPr lang="en-US" sz="2000" spc="-25" dirty="0">
              <a:solidFill>
                <a:srgbClr val="181A0D"/>
              </a:solidFill>
              <a:cs typeface="OAGDQN+FranklinGothic-BookItalic"/>
            </a:endParaRPr>
          </a:p>
          <a:p>
            <a:pPr marL="342900" marR="0" indent="-342900">
              <a:lnSpc>
                <a:spcPts val="2258"/>
              </a:lnSpc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q"/>
            </a:pPr>
            <a:endParaRPr sz="2000" spc="-25" dirty="0">
              <a:solidFill>
                <a:srgbClr val="181A0D"/>
              </a:solidFill>
              <a:cs typeface="OAGDQN+FranklinGothic-BookItalic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>
            <a:spAutoFit/>
          </a:bodyPr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1343472" y="260648"/>
            <a:ext cx="2704871" cy="64120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4979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4400" dirty="0">
                <a:solidFill>
                  <a:srgbClr val="181A0D"/>
                </a:solidFill>
                <a:cs typeface="LVLFDH+FranklinGothic-Book"/>
              </a:rPr>
              <a:t>Conclusions</a:t>
            </a:r>
            <a:endParaRPr sz="4400" dirty="0">
              <a:solidFill>
                <a:srgbClr val="181A0D"/>
              </a:solidFill>
              <a:cs typeface="LVLFDH+FranklinGothic-Book"/>
            </a:endParaRPr>
          </a:p>
        </p:txBody>
      </p:sp>
      <p:sp>
        <p:nvSpPr>
          <p:cNvPr id="5" name="object 4">
            <a:extLst>
              <a:ext uri="{FF2B5EF4-FFF2-40B4-BE49-F238E27FC236}">
                <a16:creationId xmlns:a16="http://schemas.microsoft.com/office/drawing/2014/main" id="{CAB99B72-60A9-3C59-378B-AECE9E804BCF}"/>
              </a:ext>
            </a:extLst>
          </p:cNvPr>
          <p:cNvSpPr txBox="1"/>
          <p:nvPr/>
        </p:nvSpPr>
        <p:spPr>
          <a:xfrm>
            <a:off x="1415480" y="901849"/>
            <a:ext cx="10297144" cy="707886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42900" indent="-342900">
              <a:lnSpc>
                <a:spcPts val="2258"/>
              </a:lnSpc>
              <a:buFont typeface="Wingdings" pitchFamily="2" charset="2"/>
              <a:buChar char="q"/>
            </a:pPr>
            <a:endParaRPr lang="en-US" sz="2000" spc="-25" dirty="0">
              <a:solidFill>
                <a:srgbClr val="181A0D"/>
              </a:solidFill>
              <a:cs typeface="OAGDQN+FranklinGothic-BookItalic"/>
            </a:endParaRPr>
          </a:p>
          <a:p>
            <a:pPr marL="342900" indent="-342900">
              <a:lnSpc>
                <a:spcPts val="2258"/>
              </a:lnSpc>
              <a:buFont typeface="Wingdings" pitchFamily="2" charset="2"/>
              <a:buChar char="q"/>
            </a:pPr>
            <a:r>
              <a:rPr lang="en-US" sz="2000" spc="-25" dirty="0">
                <a:solidFill>
                  <a:srgbClr val="181A0D"/>
                </a:solidFill>
                <a:cs typeface="OAGDQN+FranklinGothic-BookItalic"/>
              </a:rPr>
              <a:t>Booklet-record times closely tracked cap times, with an average bias of 6-7min being recorded by booklet method</a:t>
            </a:r>
          </a:p>
          <a:p>
            <a:pPr marL="342900" indent="-342900">
              <a:lnSpc>
                <a:spcPts val="2258"/>
              </a:lnSpc>
              <a:buFont typeface="Wingdings" pitchFamily="2" charset="2"/>
              <a:buChar char="q"/>
            </a:pPr>
            <a:endParaRPr lang="en-US" sz="2000" spc="-25" dirty="0">
              <a:solidFill>
                <a:srgbClr val="181A0D"/>
              </a:solidFill>
              <a:cs typeface="OAGDQN+FranklinGothic-BookItalic"/>
            </a:endParaRPr>
          </a:p>
          <a:p>
            <a:pPr marL="342900" indent="-342900">
              <a:lnSpc>
                <a:spcPts val="2258"/>
              </a:lnSpc>
              <a:buFont typeface="Wingdings" pitchFamily="2" charset="2"/>
              <a:buChar char="q"/>
            </a:pPr>
            <a:r>
              <a:rPr lang="en-US" sz="2000" spc="-25" dirty="0">
                <a:solidFill>
                  <a:srgbClr val="181A0D"/>
                </a:solidFill>
                <a:cs typeface="OAGDQN+FranklinGothic-BookItalic"/>
              </a:rPr>
              <a:t>Adherence to protocol defined collection windows varied by sample and window</a:t>
            </a:r>
          </a:p>
          <a:p>
            <a:pPr marL="800100" lvl="1" indent="-342900">
              <a:lnSpc>
                <a:spcPts val="2258"/>
              </a:lnSpc>
              <a:buFont typeface="Wingdings" pitchFamily="2" charset="2"/>
              <a:buChar char="Ø"/>
            </a:pPr>
            <a:r>
              <a:rPr lang="en-US" sz="2000" spc="-25" dirty="0">
                <a:solidFill>
                  <a:srgbClr val="181A0D"/>
                </a:solidFill>
                <a:cs typeface="OAGDQN+FranklinGothic-BookItalic"/>
              </a:rPr>
              <a:t>Lower adherence was noted at the +600min collection and ±7min window</a:t>
            </a:r>
          </a:p>
          <a:p>
            <a:pPr marL="800100" lvl="1" indent="-342900">
              <a:lnSpc>
                <a:spcPts val="2258"/>
              </a:lnSpc>
              <a:buFont typeface="Wingdings" pitchFamily="2" charset="2"/>
              <a:buChar char="Ø"/>
            </a:pPr>
            <a:r>
              <a:rPr lang="en-US" sz="2000" spc="-25" dirty="0">
                <a:solidFill>
                  <a:srgbClr val="181A0D"/>
                </a:solidFill>
                <a:cs typeface="OAGDQN+FranklinGothic-BookItalic"/>
              </a:rPr>
              <a:t>Booklet showed higher rates of adherence</a:t>
            </a:r>
          </a:p>
          <a:p>
            <a:pPr marL="1257300" lvl="2" indent="-342900">
              <a:lnSpc>
                <a:spcPts val="2258"/>
              </a:lnSpc>
              <a:buFont typeface="Wingdings" pitchFamily="2" charset="2"/>
              <a:buChar char="Ø"/>
            </a:pPr>
            <a:endParaRPr lang="en-US" sz="2000" spc="-25" dirty="0">
              <a:solidFill>
                <a:srgbClr val="181A0D"/>
              </a:solidFill>
              <a:cs typeface="OAGDQN+FranklinGothic-BookItalic"/>
            </a:endParaRPr>
          </a:p>
          <a:p>
            <a:pPr marL="342900" indent="-342900">
              <a:lnSpc>
                <a:spcPts val="2258"/>
              </a:lnSpc>
              <a:buFont typeface="Wingdings" pitchFamily="2" charset="2"/>
              <a:buChar char="q"/>
            </a:pPr>
            <a:r>
              <a:rPr lang="en-US" sz="2000" spc="-25" dirty="0">
                <a:solidFill>
                  <a:srgbClr val="181A0D"/>
                </a:solidFill>
                <a:cs typeface="OAGDQN+FranklinGothic-BookItalic"/>
              </a:rPr>
              <a:t>Cortisol and DHEA concentrations collected using booklet showed expected patterns</a:t>
            </a:r>
          </a:p>
          <a:p>
            <a:pPr marL="800100" lvl="1" indent="-342900">
              <a:lnSpc>
                <a:spcPts val="2258"/>
              </a:lnSpc>
              <a:buFont typeface="Wingdings" pitchFamily="2" charset="2"/>
              <a:buChar char="Ø"/>
            </a:pPr>
            <a:r>
              <a:rPr lang="en-US" sz="2000" spc="-25" dirty="0">
                <a:solidFill>
                  <a:srgbClr val="181A0D"/>
                </a:solidFill>
                <a:cs typeface="OAGDQN+FranklinGothic-BookItalic"/>
              </a:rPr>
              <a:t>Prior literature has noted an inverse relationship (Ahmed et al 2023)</a:t>
            </a:r>
          </a:p>
          <a:p>
            <a:pPr lvl="1">
              <a:lnSpc>
                <a:spcPts val="2258"/>
              </a:lnSpc>
            </a:pPr>
            <a:endParaRPr lang="en-US" sz="2000" spc="-25" dirty="0">
              <a:solidFill>
                <a:srgbClr val="181A0D"/>
              </a:solidFill>
              <a:cs typeface="OAGDQN+FranklinGothic-BookItalic"/>
            </a:endParaRPr>
          </a:p>
          <a:p>
            <a:pPr marL="342900" indent="-342900">
              <a:lnSpc>
                <a:spcPts val="2258"/>
              </a:lnSpc>
              <a:buFont typeface="Wingdings" pitchFamily="2" charset="2"/>
              <a:buChar char="q"/>
            </a:pPr>
            <a:r>
              <a:rPr lang="en-US" sz="2000" spc="-25" dirty="0">
                <a:solidFill>
                  <a:srgbClr val="181A0D"/>
                </a:solidFill>
                <a:cs typeface="OAGDQN+FranklinGothic-BookItalic"/>
              </a:rPr>
              <a:t>Overall, despite some timing biases and variable adherence, the SPIT booklet appears to have the ability to capture expected diurnal patterns</a:t>
            </a:r>
          </a:p>
          <a:p>
            <a:pPr marL="800100" lvl="1" indent="-342900">
              <a:lnSpc>
                <a:spcPts val="2258"/>
              </a:lnSpc>
              <a:buFont typeface="Wingdings" pitchFamily="2" charset="2"/>
              <a:buChar char="q"/>
            </a:pPr>
            <a:endParaRPr lang="en-US" sz="2000" spc="-25" dirty="0">
              <a:solidFill>
                <a:srgbClr val="181A0D"/>
              </a:solidFill>
              <a:cs typeface="OAGDQN+FranklinGothic-BookItalic"/>
            </a:endParaRPr>
          </a:p>
          <a:p>
            <a:pPr marL="342900" indent="-342900">
              <a:lnSpc>
                <a:spcPts val="2258"/>
              </a:lnSpc>
              <a:buFont typeface="Wingdings" pitchFamily="2" charset="2"/>
              <a:buChar char="q"/>
            </a:pPr>
            <a:r>
              <a:rPr lang="en-US" sz="2000" b="1" spc="-25" dirty="0">
                <a:solidFill>
                  <a:srgbClr val="181A0D"/>
                </a:solidFill>
                <a:cs typeface="OAGDQN+FranklinGothic-BookItalic"/>
              </a:rPr>
              <a:t>Limitations:</a:t>
            </a:r>
          </a:p>
          <a:p>
            <a:pPr marL="800100" lvl="1" indent="-342900">
              <a:lnSpc>
                <a:spcPts val="2258"/>
              </a:lnSpc>
              <a:buFont typeface="Wingdings" pitchFamily="2" charset="2"/>
              <a:buChar char="Ø"/>
            </a:pPr>
            <a:r>
              <a:rPr lang="en-US" sz="2000" spc="-25" dirty="0">
                <a:solidFill>
                  <a:srgbClr val="181A0D"/>
                </a:solidFill>
                <a:cs typeface="OAGDQN+FranklinGothic-BookItalic"/>
              </a:rPr>
              <a:t>Missing data – biases if missingness depended on unobserved events</a:t>
            </a:r>
          </a:p>
          <a:p>
            <a:pPr marL="800100" lvl="1" indent="-342900">
              <a:lnSpc>
                <a:spcPts val="2258"/>
              </a:lnSpc>
              <a:buFont typeface="Wingdings" pitchFamily="2" charset="2"/>
              <a:buChar char="Ø"/>
            </a:pPr>
            <a:r>
              <a:rPr lang="en-US" sz="2000" spc="-25" dirty="0">
                <a:solidFill>
                  <a:srgbClr val="181A0D"/>
                </a:solidFill>
                <a:cs typeface="OAGDQN+FranklinGothic-BookItalic"/>
              </a:rPr>
              <a:t>Simple linear mixed model is limited in that it can’t capture specific collection sample variability</a:t>
            </a:r>
          </a:p>
          <a:p>
            <a:pPr marL="342900" indent="-342900">
              <a:lnSpc>
                <a:spcPts val="2258"/>
              </a:lnSpc>
              <a:buFont typeface="Wingdings" pitchFamily="2" charset="2"/>
              <a:buChar char="q"/>
            </a:pPr>
            <a:endParaRPr lang="en-US" sz="2000" spc="-25" dirty="0">
              <a:solidFill>
                <a:srgbClr val="181A0D"/>
              </a:solidFill>
              <a:cs typeface="OAGDQN+FranklinGothic-BookItalic"/>
            </a:endParaRPr>
          </a:p>
          <a:p>
            <a:pPr marL="342900" indent="-342900">
              <a:lnSpc>
                <a:spcPts val="2258"/>
              </a:lnSpc>
              <a:buFont typeface="Wingdings" pitchFamily="2" charset="2"/>
              <a:buChar char="q"/>
            </a:pPr>
            <a:endParaRPr lang="en-US" sz="2000" spc="-25" dirty="0">
              <a:solidFill>
                <a:srgbClr val="181A0D"/>
              </a:solidFill>
              <a:cs typeface="OAGDQN+FranklinGothic-BookItalic"/>
            </a:endParaRPr>
          </a:p>
          <a:p>
            <a:pPr marL="342900" marR="0" indent="-342900">
              <a:lnSpc>
                <a:spcPts val="2258"/>
              </a:lnSpc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q"/>
            </a:pPr>
            <a:endParaRPr lang="en-US" sz="2000" spc="-25" dirty="0">
              <a:solidFill>
                <a:srgbClr val="181A0D"/>
              </a:solidFill>
              <a:cs typeface="OAGDQN+FranklinGothic-BookItalic"/>
            </a:endParaRPr>
          </a:p>
          <a:p>
            <a:pPr marL="342900" marR="0" indent="-342900">
              <a:lnSpc>
                <a:spcPts val="2258"/>
              </a:lnSpc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q"/>
            </a:pPr>
            <a:endParaRPr lang="en-US" sz="2000" spc="-25" dirty="0">
              <a:solidFill>
                <a:srgbClr val="181A0D"/>
              </a:solidFill>
              <a:cs typeface="OAGDQN+FranklinGothic-BookItalic"/>
            </a:endParaRPr>
          </a:p>
          <a:p>
            <a:pPr marL="342900" marR="0" indent="-342900">
              <a:lnSpc>
                <a:spcPts val="2258"/>
              </a:lnSpc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q"/>
            </a:pPr>
            <a:endParaRPr lang="en-US" sz="2000" spc="-25" dirty="0">
              <a:solidFill>
                <a:srgbClr val="181A0D"/>
              </a:solidFill>
              <a:cs typeface="OAGDQN+FranklinGothic-BookItalic"/>
            </a:endParaRPr>
          </a:p>
          <a:p>
            <a:pPr marL="342900" marR="0" indent="-342900">
              <a:lnSpc>
                <a:spcPts val="2258"/>
              </a:lnSpc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q"/>
            </a:pPr>
            <a:endParaRPr sz="2000" spc="-25" dirty="0">
              <a:solidFill>
                <a:srgbClr val="181A0D"/>
              </a:solidFill>
              <a:cs typeface="OAGDQN+FranklinGothic-BookItalic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heme Office">
  <a:themeElements>
    <a:clrScheme name="Standard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Standard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tandar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5416</TotalTime>
  <Words>1022</Words>
  <Application>Microsoft Macintosh PowerPoint</Application>
  <PresentationFormat>Widescreen</PresentationFormat>
  <Paragraphs>143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14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22" baseType="lpstr">
      <vt:lpstr>WPQCJM+FranklinGothic-Book</vt:lpstr>
      <vt:lpstr>MPIRPG+FranklinGothic-Book</vt:lpstr>
      <vt:lpstr>GEHAIV+FranklinGothic-Book</vt:lpstr>
      <vt:lpstr>NOOILK+FranklinGothic-Book</vt:lpstr>
      <vt:lpstr>KDMFEK+FranklinGothic-Book</vt:lpstr>
      <vt:lpstr>Cambria Math</vt:lpstr>
      <vt:lpstr>Calibri</vt:lpstr>
      <vt:lpstr>VTCKGD+FranklinGothic-Book</vt:lpstr>
      <vt:lpstr>LVLFDH+FranklinGothic-Book</vt:lpstr>
      <vt:lpstr>Wingdings</vt:lpstr>
      <vt:lpstr>OAGDQN+FranklinGothic-BookItalic</vt:lpstr>
      <vt:lpstr>Courier New</vt:lpstr>
      <vt:lpstr>Aptos</vt:lpstr>
      <vt:lpstr>Arial</vt:lpstr>
      <vt:lpstr>Theme Office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PowerPoint</dc:title>
  <dc:creator>root</dc:creator>
  <cp:lastModifiedBy>Ryan Summers</cp:lastModifiedBy>
  <cp:revision>159</cp:revision>
  <dcterms:modified xsi:type="dcterms:W3CDTF">2026-02-28T04:36:59Z</dcterms:modified>
</cp:coreProperties>
</file>