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0"/>
  </p:notesMasterIdLst>
  <p:sldIdLst>
    <p:sldId id="260" r:id="rId2"/>
    <p:sldId id="268" r:id="rId3"/>
    <p:sldId id="262" r:id="rId4"/>
    <p:sldId id="263" r:id="rId5"/>
    <p:sldId id="264" r:id="rId6"/>
    <p:sldId id="265" r:id="rId7"/>
    <p:sldId id="267" r:id="rId8"/>
    <p:sldId id="266" r:id="rId9"/>
  </p:sldIdLst>
  <p:sldSz cx="12192000" cy="6858000"/>
  <p:notesSz cx="12192000" cy="6858000"/>
  <p:embeddedFontLst>
    <p:embeddedFont>
      <p:font typeface="Cambria Math" panose="02040503050406030204" pitchFamily="18" charset="0"/>
      <p:regular r:id="rId11"/>
    </p:embeddedFont>
    <p:embeddedFont>
      <p:font typeface="GEHAIV+FranklinGothic-Book" panose="02000500000000000000" pitchFamily="2" charset="0"/>
      <p:regular r:id="rId12"/>
    </p:embeddedFont>
    <p:embeddedFont>
      <p:font typeface="KDMFEK+FranklinGothic-Book" panose="02000500000000000000" pitchFamily="2" charset="0"/>
      <p:regular r:id="rId13"/>
    </p:embeddedFont>
    <p:embeddedFont>
      <p:font typeface="LVLFDH+FranklinGothic-Book" panose="02000500000000000000" pitchFamily="2" charset="0"/>
      <p:regular r:id="rId14"/>
    </p:embeddedFont>
    <p:embeddedFont>
      <p:font typeface="MPIRPG+FranklinGothic-Book" panose="02000500000000000000" pitchFamily="2" charset="0"/>
      <p:regular r:id="rId15"/>
    </p:embeddedFont>
    <p:embeddedFont>
      <p:font typeface="NOOILK+FranklinGothic-Book" panose="02000500000000000000" pitchFamily="2" charset="0"/>
      <p:regular r:id="rId16"/>
    </p:embeddedFont>
    <p:embeddedFont>
      <p:font typeface="OAGDQN+FranklinGothic-BookItalic" panose="02000500000000000000" pitchFamily="2" charset="0"/>
      <p:regular r:id="rId17"/>
    </p:embeddedFont>
    <p:embeddedFont>
      <p:font typeface="VTCKGD+FranklinGothic-Book" panose="02000500000000000000" pitchFamily="2" charset="0"/>
      <p:regular r:id="rId18"/>
    </p:embeddedFont>
    <p:embeddedFont>
      <p:font typeface="WPQCJM+FranklinGothic-Book" panose="02000500000000000000" pitchFamily="2" charset="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68">
          <p15:clr>
            <a:srgbClr val="A4A3A4"/>
          </p15:clr>
        </p15:guide>
        <p15:guide id="2" pos="244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067"/>
    <p:restoredTop sz="64787"/>
  </p:normalViewPr>
  <p:slideViewPr>
    <p:cSldViewPr>
      <p:cViewPr>
        <p:scale>
          <a:sx n="80" d="100"/>
          <a:sy n="80" d="100"/>
        </p:scale>
        <p:origin x="1440" y="352"/>
      </p:cViewPr>
      <p:guideLst>
        <p:guide orient="horz" pos="3168"/>
        <p:guide pos="244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23" Type="http://schemas.openxmlformats.org/officeDocument/2006/relationships/tableStyles" Target="tableStyles.xml"/><Relationship Id="rId10" Type="http://schemas.openxmlformats.org/officeDocument/2006/relationships/notesMaster" Target="notesMasters/notesMaster1.xml"/><Relationship Id="rId19"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C8F60B00-F7D7-A048-9DE8-3D2F737BCA40}" type="datetimeFigureOut">
              <a:rPr lang="en-US" smtClean="0"/>
              <a:t>2/27/26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8055A014-AA40-5B4A-A5FD-4F58A1D7AE4A}" type="slidenum">
              <a:rPr lang="en-US" smtClean="0"/>
              <a:t>‹#›</a:t>
            </a:fld>
            <a:endParaRPr lang="en-US"/>
          </a:p>
        </p:txBody>
      </p:sp>
    </p:spTree>
    <p:extLst>
      <p:ext uri="{BB962C8B-B14F-4D97-AF65-F5344CB8AC3E}">
        <p14:creationId xmlns:p14="http://schemas.microsoft.com/office/powerpoint/2010/main" val="15281698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055A014-AA40-5B4A-A5FD-4F58A1D7AE4A}" type="slidenum">
              <a:rPr lang="en-US" smtClean="0"/>
              <a:t>1</a:t>
            </a:fld>
            <a:endParaRPr lang="en-US"/>
          </a:p>
        </p:txBody>
      </p:sp>
    </p:spTree>
    <p:extLst>
      <p:ext uri="{BB962C8B-B14F-4D97-AF65-F5344CB8AC3E}">
        <p14:creationId xmlns:p14="http://schemas.microsoft.com/office/powerpoint/2010/main" val="7200084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71355-85F6-CF92-4C8F-3100CC56C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B7C8D-BDAB-8FCD-FB0D-EDFDCED0C7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BF0FD8-6C3E-4632-2908-448E2530119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primary objective of this project was to determine whether baseline hard drug use was associated with differences in treatment response two years after initiating HAART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treatment responses being evaluated are: viral load, CD4 count, physical quality of life, and mental quality of life.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Secondary objectives are to test whether adherence mediates the association between hard drug use and year-2 outcomes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And to evaluate whether there's differences in baseline outcome measures between participants with complete and incomplete data, stratified by drug use.</a:t>
            </a:r>
          </a:p>
          <a:p>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759B22E7-FE82-EFCF-D187-6F41357AC3B4}"/>
              </a:ext>
            </a:extLst>
          </p:cNvPr>
          <p:cNvSpPr>
            <a:spLocks noGrp="1"/>
          </p:cNvSpPr>
          <p:nvPr>
            <p:ph type="sldNum" sz="quarter" idx="5"/>
          </p:nvPr>
        </p:nvSpPr>
        <p:spPr/>
        <p:txBody>
          <a:bodyPr/>
          <a:lstStyle/>
          <a:p>
            <a:fld id="{8055A014-AA40-5B4A-A5FD-4F58A1D7AE4A}" type="slidenum">
              <a:rPr lang="en-US" smtClean="0"/>
              <a:t>2</a:t>
            </a:fld>
            <a:endParaRPr lang="en-US"/>
          </a:p>
        </p:txBody>
      </p:sp>
    </p:spTree>
    <p:extLst>
      <p:ext uri="{BB962C8B-B14F-4D97-AF65-F5344CB8AC3E}">
        <p14:creationId xmlns:p14="http://schemas.microsoft.com/office/powerpoint/2010/main" val="14158256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initial dataset contained 715 HIV-infected men initiating HAART from the MAC study.</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Of these, 463 had complete baseline and Year 2 data and these subjects were included in all regression analyses.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Viral load was log10-transformed due to skewness, while CD4 and QOL measures were analyzed on their original scales.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Hard drug use and adherence were both coded as binary variables.</a:t>
            </a:r>
          </a:p>
          <a:p>
            <a:pPr marL="171450" indent="-171450">
              <a:buFont typeface="Arial" panose="020B0604020202020204" pitchFamily="34" charset="0"/>
              <a:buChar char="•"/>
            </a:pPr>
            <a:r>
              <a:rPr lang="en-US" sz="1200" kern="1200" dirty="0">
                <a:solidFill>
                  <a:schemeClr val="tx1"/>
                </a:solidFill>
                <a:effectLst/>
                <a:latin typeface="+mn-lt"/>
                <a:ea typeface="+mn-ea"/>
                <a:cs typeface="+mn-cs"/>
              </a:rPr>
              <a:t>All but one of the hard drug users had adherence below 95%</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Generally, Baseline hard drug users reported lower QOL scores and CD4 counts and were more likely to be current smokers as compared to non-users</a:t>
            </a:r>
          </a:p>
          <a:p>
            <a:pPr marL="171450" indent="-171450">
              <a:buFont typeface="Arial" panose="020B0604020202020204" pitchFamily="34" charset="0"/>
              <a:buChar char="•"/>
            </a:pPr>
            <a:r>
              <a:rPr lang="en-US" sz="1200" kern="1200" dirty="0">
                <a:solidFill>
                  <a:schemeClr val="tx1"/>
                </a:solidFill>
                <a:effectLst/>
                <a:latin typeface="+mn-lt"/>
                <a:ea typeface="+mn-ea"/>
                <a:cs typeface="+mn-cs"/>
              </a:rPr>
              <a:t>Viral load and other covariates had similar distributions </a:t>
            </a:r>
            <a:endParaRPr lang="en-US" dirty="0"/>
          </a:p>
        </p:txBody>
      </p:sp>
      <p:sp>
        <p:nvSpPr>
          <p:cNvPr id="4" name="Slide Number Placeholder 3"/>
          <p:cNvSpPr>
            <a:spLocks noGrp="1"/>
          </p:cNvSpPr>
          <p:nvPr>
            <p:ph type="sldNum" sz="quarter" idx="5"/>
          </p:nvPr>
        </p:nvSpPr>
        <p:spPr/>
        <p:txBody>
          <a:bodyPr/>
          <a:lstStyle/>
          <a:p>
            <a:fld id="{8055A014-AA40-5B4A-A5FD-4F58A1D7AE4A}" type="slidenum">
              <a:rPr lang="en-US" smtClean="0"/>
              <a:t>3</a:t>
            </a:fld>
            <a:endParaRPr lang="en-US"/>
          </a:p>
        </p:txBody>
      </p:sp>
    </p:spTree>
    <p:extLst>
      <p:ext uri="{BB962C8B-B14F-4D97-AF65-F5344CB8AC3E}">
        <p14:creationId xmlns:p14="http://schemas.microsoft.com/office/powerpoint/2010/main" val="7740451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To address the primary question of interest, Bayesian regression models was fit using weakly-informative priors for each outcome</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All models adjusted for the corresponding baseline outcome measure and covariates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parallel frequentist models were also fit with identical covariate structure for comparison.</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For adherence, the variable was dichotomized into less than 95% and greater than/equal to 95%</a:t>
            </a:r>
          </a:p>
          <a:p>
            <a:r>
              <a:rPr lang="en-US" sz="1200" kern="1200" dirty="0">
                <a:solidFill>
                  <a:schemeClr val="tx1"/>
                </a:solidFill>
                <a:effectLst/>
                <a:latin typeface="+mn-lt"/>
                <a:ea typeface="+mn-ea"/>
                <a:cs typeface="+mn-cs"/>
              </a:rPr>
              <a:t>Models were compared with and without adherence to see whether there was a meaningfully change in the estimated hard drug association.</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For analyzing drop-out rates, comparisons of baseline outcomes were made between participants with complete measurements and those missing year-2 using non-parametric Wilcoxon test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 also fit a logistic regression model using baseline outcome and covariate measures as potential predictors of dropout</a:t>
            </a:r>
            <a:endParaRPr lang="en-US" dirty="0"/>
          </a:p>
        </p:txBody>
      </p:sp>
      <p:sp>
        <p:nvSpPr>
          <p:cNvPr id="4" name="Slide Number Placeholder 3"/>
          <p:cNvSpPr>
            <a:spLocks noGrp="1"/>
          </p:cNvSpPr>
          <p:nvPr>
            <p:ph type="sldNum" sz="quarter" idx="5"/>
          </p:nvPr>
        </p:nvSpPr>
        <p:spPr/>
        <p:txBody>
          <a:bodyPr/>
          <a:lstStyle/>
          <a:p>
            <a:fld id="{8055A014-AA40-5B4A-A5FD-4F58A1D7AE4A}" type="slidenum">
              <a:rPr lang="en-US" smtClean="0"/>
              <a:t>4</a:t>
            </a:fld>
            <a:endParaRPr lang="en-US"/>
          </a:p>
        </p:txBody>
      </p:sp>
    </p:spTree>
    <p:extLst>
      <p:ext uri="{BB962C8B-B14F-4D97-AF65-F5344CB8AC3E}">
        <p14:creationId xmlns:p14="http://schemas.microsoft.com/office/powerpoint/2010/main" val="11449155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For primary results: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 average, hard drug users had approximately 164 fewer CD4 cell counts as compared with non-users with a </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Posterior probability of 99.5% that this difference exceeded the clinically meaningful threshold of 50 cells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Physical QOL was also lower among hard drug users by approximately 3.3 points, and had a posterior probability of 83% that the difference exceeded the clinical threshold of 2 points</a:t>
            </a:r>
          </a:p>
          <a:p>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In contrast, we found no significant difference in viral or mental QOL scores between groups with posterior probabilities of exceeding their clinical threshold being quite low</a:t>
            </a:r>
          </a:p>
          <a:p>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 regard to model fit, there was a large and meaningful reduction in WAIC for CD4, but the other outcomes provided weaker evidence of better fit.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8055A014-AA40-5B4A-A5FD-4F58A1D7AE4A}" type="slidenum">
              <a:rPr lang="en-US" smtClean="0"/>
              <a:t>5</a:t>
            </a:fld>
            <a:endParaRPr lang="en-US"/>
          </a:p>
        </p:txBody>
      </p:sp>
    </p:spTree>
    <p:extLst>
      <p:ext uri="{BB962C8B-B14F-4D97-AF65-F5344CB8AC3E}">
        <p14:creationId xmlns:p14="http://schemas.microsoft.com/office/powerpoint/2010/main" val="8264350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To test for mediation, two models were fit – one with and without the binary adherence variable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When adherence was included in the models, the hard drug coefficients slightly increased in magnitude across all outcomes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Which resulted in negative proportion mediated estimates and ultimately inconsistent mediation.  This was likely due to sparse data in the adherence category.</a:t>
            </a:r>
          </a:p>
          <a:p>
            <a:pPr marL="171450" indent="-171450">
              <a:buFont typeface="Arial" panose="020B0604020202020204" pitchFamily="34" charset="0"/>
              <a:buChar char="•"/>
            </a:pPr>
            <a:r>
              <a:rPr lang="en-US" sz="1200" kern="1200" dirty="0">
                <a:solidFill>
                  <a:schemeClr val="tx1"/>
                </a:solidFill>
                <a:effectLst/>
                <a:latin typeface="+mn-lt"/>
                <a:ea typeface="+mn-ea"/>
                <a:cs typeface="+mn-cs"/>
              </a:rPr>
              <a:t>Which was shown back in the data overview section where only one subject was in the less than 95% grouping</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Overall, there was little evidence that adherence explained the association.</a:t>
            </a:r>
          </a:p>
        </p:txBody>
      </p:sp>
      <p:sp>
        <p:nvSpPr>
          <p:cNvPr id="4" name="Slide Number Placeholder 3"/>
          <p:cNvSpPr>
            <a:spLocks noGrp="1"/>
          </p:cNvSpPr>
          <p:nvPr>
            <p:ph type="sldNum" sz="quarter" idx="5"/>
          </p:nvPr>
        </p:nvSpPr>
        <p:spPr/>
        <p:txBody>
          <a:bodyPr/>
          <a:lstStyle/>
          <a:p>
            <a:fld id="{8055A014-AA40-5B4A-A5FD-4F58A1D7AE4A}" type="slidenum">
              <a:rPr lang="en-US" smtClean="0"/>
              <a:t>6</a:t>
            </a:fld>
            <a:endParaRPr lang="en-US"/>
          </a:p>
        </p:txBody>
      </p:sp>
    </p:spTree>
    <p:extLst>
      <p:ext uri="{BB962C8B-B14F-4D97-AF65-F5344CB8AC3E}">
        <p14:creationId xmlns:p14="http://schemas.microsoft.com/office/powerpoint/2010/main" val="31521274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72795-C7C6-4CFF-FB8D-74FB9212DD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F8C60-3717-8C63-2521-FF787C8137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B63FB7-7ADD-CDBA-2977-663E8B4F44B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Of the 715 participants, 252 or 35% of the dataset were missing Year 2 measurements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Baseline physical QOL scores were shown to be significantly lower among participants with missing year-2 data for both hard drug users and non-users. It was particularly  noticeable in the drug users' group which was 10 pts lower or 5x the clinically meaningful difference of 2 points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In addition to lower baseline physical QOL scores, Logistic regression also showed that younger age was associated with higher odds of dropout.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For each additional year in age and increase in QOL score, there's a reduction in odds of dropping out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dirty="0"/>
          </a:p>
          <a:p>
            <a:pPr marL="171450" indent="-171450">
              <a:buFont typeface="Arial" panose="020B0604020202020204" pitchFamily="34" charset="0"/>
              <a:buChar char="•"/>
            </a:pPr>
            <a:r>
              <a:rPr lang="en-US" dirty="0"/>
              <a:t>Younger age -&gt; higher odds of dropping out</a:t>
            </a:r>
          </a:p>
          <a:p>
            <a:pPr marL="171450" indent="-171450">
              <a:buFont typeface="Arial" panose="020B0604020202020204" pitchFamily="34" charset="0"/>
              <a:buChar char="•"/>
            </a:pPr>
            <a:r>
              <a:rPr lang="en-US" dirty="0"/>
              <a:t>Lower physical QOL = higher odds of dropping out</a:t>
            </a:r>
          </a:p>
        </p:txBody>
      </p:sp>
      <p:sp>
        <p:nvSpPr>
          <p:cNvPr id="4" name="Slide Number Placeholder 3">
            <a:extLst>
              <a:ext uri="{FF2B5EF4-FFF2-40B4-BE49-F238E27FC236}">
                <a16:creationId xmlns:a16="http://schemas.microsoft.com/office/drawing/2014/main" id="{4BF687E7-EE41-77F6-A19D-4CEC4F60E66B}"/>
              </a:ext>
            </a:extLst>
          </p:cNvPr>
          <p:cNvSpPr>
            <a:spLocks noGrp="1"/>
          </p:cNvSpPr>
          <p:nvPr>
            <p:ph type="sldNum" sz="quarter" idx="5"/>
          </p:nvPr>
        </p:nvSpPr>
        <p:spPr/>
        <p:txBody>
          <a:bodyPr/>
          <a:lstStyle/>
          <a:p>
            <a:fld id="{8055A014-AA40-5B4A-A5FD-4F58A1D7AE4A}" type="slidenum">
              <a:rPr lang="en-US" smtClean="0"/>
              <a:t>7</a:t>
            </a:fld>
            <a:endParaRPr lang="en-US"/>
          </a:p>
        </p:txBody>
      </p:sp>
    </p:spTree>
    <p:extLst>
      <p:ext uri="{BB962C8B-B14F-4D97-AF65-F5344CB8AC3E}">
        <p14:creationId xmlns:p14="http://schemas.microsoft.com/office/powerpoint/2010/main" val="37774701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Overall, these findings suggest that baseline hard drug use is associated with poorer immunologic recovery and lower physical QOL following HAART initiation, but adherence does not appear to meaningfully mediate these associations. Loss to follow-up indicated the age and physical health was associated with dropout</a:t>
            </a:r>
          </a:p>
          <a:p>
            <a:endParaRPr lang="en-US" sz="1200" kern="1200" dirty="0">
              <a:solidFill>
                <a:schemeClr val="tx1"/>
              </a:solidFill>
              <a:effectLst/>
              <a:latin typeface="+mn-lt"/>
              <a:ea typeface="+mn-ea"/>
              <a:cs typeface="+mn-cs"/>
            </a:endParaRPr>
          </a:p>
          <a:p>
            <a:r>
              <a:rPr lang="en-US" dirty="0"/>
              <a:t>Limitations:</a:t>
            </a:r>
          </a:p>
          <a:p>
            <a:pPr marL="171450" indent="-171450">
              <a:buFont typeface="Arial" panose="020B0604020202020204" pitchFamily="34" charset="0"/>
              <a:buChar char="•"/>
            </a:pPr>
            <a:r>
              <a:rPr lang="en-US" dirty="0"/>
              <a:t>Observational studies typically suffer bias from lack of randomization and unmeasured variables</a:t>
            </a:r>
          </a:p>
          <a:p>
            <a:pPr marL="171450" indent="-171450">
              <a:buFont typeface="Arial" panose="020B0604020202020204" pitchFamily="34" charset="0"/>
              <a:buChar char="•"/>
            </a:pPr>
            <a:r>
              <a:rPr lang="en-US" dirty="0"/>
              <a:t>Adherence was coded as binary and only had one observation for hard drug user with less than 95% this was likely a reason for the negative proportion mediated, so Adherence could not be reliably estimated and should be treated as descriptive </a:t>
            </a:r>
          </a:p>
          <a:p>
            <a:pPr marL="171450" indent="-171450">
              <a:buFont typeface="Arial" panose="020B0604020202020204" pitchFamily="34" charset="0"/>
              <a:buChar char="•"/>
            </a:pPr>
            <a:r>
              <a:rPr lang="en-US" dirty="0"/>
              <a:t>Further, the Hard drug user group overall was relatively small so we may not have had enough to power to make precise comparisons</a:t>
            </a:r>
          </a:p>
          <a:p>
            <a:pPr marL="171450" indent="-171450">
              <a:buFont typeface="Arial" panose="020B0604020202020204" pitchFamily="34" charset="0"/>
              <a:buChar char="•"/>
            </a:pPr>
            <a:r>
              <a:rPr lang="en-US" dirty="0"/>
              <a:t>Lastly, while missingness appeared to be associated with age and physical health, which were observed, there may be some dependency on some unmeasured factor that we did not model. So, the missing data mechanism suggests MAR but wasn’t proven</a:t>
            </a:r>
          </a:p>
        </p:txBody>
      </p:sp>
      <p:sp>
        <p:nvSpPr>
          <p:cNvPr id="4" name="Slide Number Placeholder 3"/>
          <p:cNvSpPr>
            <a:spLocks noGrp="1"/>
          </p:cNvSpPr>
          <p:nvPr>
            <p:ph type="sldNum" sz="quarter" idx="5"/>
          </p:nvPr>
        </p:nvSpPr>
        <p:spPr/>
        <p:txBody>
          <a:bodyPr/>
          <a:lstStyle/>
          <a:p>
            <a:fld id="{8055A014-AA40-5B4A-A5FD-4F58A1D7AE4A}" type="slidenum">
              <a:rPr lang="en-US" smtClean="0"/>
              <a:t>8</a:t>
            </a:fld>
            <a:endParaRPr lang="en-US"/>
          </a:p>
        </p:txBody>
      </p:sp>
    </p:spTree>
    <p:extLst>
      <p:ext uri="{BB962C8B-B14F-4D97-AF65-F5344CB8AC3E}">
        <p14:creationId xmlns:p14="http://schemas.microsoft.com/office/powerpoint/2010/main" val="400297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Header 1"/>
          <p:cNvSpPr>
            <a:spLocks noGrp="1"/>
          </p:cNvSpPr>
          <p:nvPr>
            <p:ph type="title"/>
          </p:nvPr>
        </p:nvSpPr>
        <p:spPr/>
        <p:txBody>
          <a:bodyPr/>
          <a:lstStyle/>
          <a:p>
            <a:r>
              <a:rPr lang="en-US"/>
              <a:t>Title</a:t>
            </a:r>
          </a:p>
        </p:txBody>
      </p:sp>
      <p:sp>
        <p:nvSpPr>
          <p:cNvPr id="3" name="Text 2"/>
          <p:cNvSpPr>
            <a:spLocks noGrp="1"/>
          </p:cNvSpPr>
          <p:nvPr>
            <p:ph type="body" idx="1"/>
          </p:nvPr>
        </p:nvSpPr>
        <p:spPr/>
        <p:txBody>
          <a:bodyPr/>
          <a:lstStyle/>
          <a:p>
            <a:pPr lvl="0"/>
            <a:r>
              <a:rPr lang="en-US"/>
              <a:t>Text</a:t>
            </a:r>
          </a:p>
          <a:p>
            <a:pPr lvl="1"/>
            <a:r>
              <a:rPr lang="en-US"/>
              <a:t>Second level</a:t>
            </a:r>
          </a:p>
          <a:p>
            <a:pPr lvl="2"/>
            <a:r>
              <a:rPr lang="en-US"/>
              <a:t>Third level</a:t>
            </a:r>
          </a:p>
          <a:p>
            <a:pPr lvl="3"/>
            <a:r>
              <a:rPr lang="en-US"/>
              <a:t>Fourth level</a:t>
            </a:r>
          </a:p>
          <a:p>
            <a:pPr lvl="4"/>
            <a:r>
              <a:rPr lang="en-US"/>
              <a:t>Fifth level</a:t>
            </a:r>
          </a:p>
        </p:txBody>
      </p:sp>
      <p:sp>
        <p:nvSpPr>
          <p:cNvPr id="4" name="Date 3"/>
          <p:cNvSpPr>
            <a:spLocks noGrp="1"/>
          </p:cNvSpPr>
          <p:nvPr>
            <p:ph type="dt" sz="half" idx="10"/>
          </p:nvPr>
        </p:nvSpPr>
        <p:spPr/>
        <p:txBody>
          <a:bodyPr/>
          <a:lstStyle/>
          <a:p>
            <a:fld id="{C16525B2-4347-4F72-BAF7-76B19438D329}" type="datetimeFigureOut">
              <a:rPr lang="en-US" smtClean="0"/>
              <a:t>2/27/26</a:t>
            </a:fld>
            <a:endParaRPr lang="en-US"/>
          </a:p>
        </p:txBody>
      </p:sp>
      <p:sp>
        <p:nvSpPr>
          <p:cNvPr id="5" name="Footer 4"/>
          <p:cNvSpPr>
            <a:spLocks noGrp="1"/>
          </p:cNvSpPr>
          <p:nvPr>
            <p:ph type="ftr" sz="quarter" idx="11"/>
          </p:nvPr>
        </p:nvSpPr>
        <p:spPr/>
        <p:txBody>
          <a:bodyPr/>
          <a:lstStyle/>
          <a:p>
            <a:endParaRPr lang="en-US"/>
          </a:p>
        </p:txBody>
      </p:sp>
      <p:sp>
        <p:nvSpPr>
          <p:cNvPr id="6" name="Slide number 5"/>
          <p:cNvSpPr>
            <a:spLocks noGrp="1"/>
          </p:cNvSpPr>
          <p:nvPr>
            <p:ph type="sldNum" sz="quarter" idx="12"/>
          </p:nvPr>
        </p:nvSpPr>
        <p:spPr/>
        <p:txBody>
          <a:bodyPr/>
          <a:lstStyle/>
          <a:p>
            <a:fld id="{80F073CC-40D5-4B23-8DF0-9BD0A0C12F2C}"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77666" y="427735"/>
            <a:ext cx="6797992" cy="1710943"/>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377666" y="2459482"/>
            <a:ext cx="6797992"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568130" y="9944862"/>
            <a:ext cx="2417063"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7666" y="9944862"/>
            <a:ext cx="1737264"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2/27/26</a:t>
            </a:fld>
            <a:endParaRPr lang="en-US"/>
          </a:p>
        </p:txBody>
      </p:sp>
      <p:sp>
        <p:nvSpPr>
          <p:cNvPr id="6" name="Holder 6"/>
          <p:cNvSpPr>
            <a:spLocks noGrp="1"/>
          </p:cNvSpPr>
          <p:nvPr>
            <p:ph type="sldNum" sz="quarter" idx="7"/>
          </p:nvPr>
        </p:nvSpPr>
        <p:spPr>
          <a:xfrm>
            <a:off x="5438394" y="9944862"/>
            <a:ext cx="1737264"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a:p>
        </p:txBody>
      </p:sp>
      <p:sp>
        <p:nvSpPr>
          <p:cNvPr id="3" name="object 3"/>
          <p:cNvSpPr txBox="1"/>
          <p:nvPr/>
        </p:nvSpPr>
        <p:spPr>
          <a:xfrm>
            <a:off x="-240704" y="1453331"/>
            <a:ext cx="10729192" cy="1958678"/>
          </a:xfrm>
          <a:prstGeom prst="rect">
            <a:avLst/>
          </a:prstGeom>
        </p:spPr>
        <p:txBody>
          <a:bodyPr vert="horz" wrap="square" lIns="0" tIns="0" rIns="0" bIns="0" rtlCol="0">
            <a:spAutoFit/>
          </a:bodyPr>
          <a:lstStyle/>
          <a:p>
            <a:pPr marL="1816354" marR="0" algn="ctr">
              <a:lnSpc>
                <a:spcPts val="8163"/>
              </a:lnSpc>
              <a:spcBef>
                <a:spcPts val="0"/>
              </a:spcBef>
              <a:spcAft>
                <a:spcPts val="0"/>
              </a:spcAft>
            </a:pPr>
            <a:r>
              <a:rPr lang="en-US" sz="3500" dirty="0">
                <a:solidFill>
                  <a:srgbClr val="181A0D"/>
                </a:solidFill>
                <a:cs typeface="GEHAIV+FranklinGothic-Book"/>
              </a:rPr>
              <a:t>Evaluating Two-Year HAART Treatment Response Among Hard Drug Users and Non-Users</a:t>
            </a:r>
            <a:endParaRPr sz="3500" spc="-75" dirty="0">
              <a:solidFill>
                <a:srgbClr val="181A0D"/>
              </a:solidFill>
              <a:cs typeface="GEHAIV+FranklinGothic-Book"/>
            </a:endParaRPr>
          </a:p>
        </p:txBody>
      </p:sp>
      <p:sp>
        <p:nvSpPr>
          <p:cNvPr id="4" name="object 4"/>
          <p:cNvSpPr txBox="1"/>
          <p:nvPr/>
        </p:nvSpPr>
        <p:spPr>
          <a:xfrm>
            <a:off x="4507565" y="3861048"/>
            <a:ext cx="3176870" cy="730969"/>
          </a:xfrm>
          <a:prstGeom prst="rect">
            <a:avLst/>
          </a:prstGeom>
        </p:spPr>
        <p:txBody>
          <a:bodyPr vert="horz" wrap="square" lIns="0" tIns="0" rIns="0" bIns="0" rtlCol="0">
            <a:spAutoFit/>
          </a:bodyPr>
          <a:lstStyle/>
          <a:p>
            <a:pPr marL="0" marR="0" algn="ctr">
              <a:lnSpc>
                <a:spcPts val="2612"/>
              </a:lnSpc>
              <a:spcBef>
                <a:spcPts val="0"/>
              </a:spcBef>
              <a:spcAft>
                <a:spcPts val="0"/>
              </a:spcAft>
            </a:pPr>
            <a:r>
              <a:rPr lang="en-US" sz="2300" dirty="0">
                <a:solidFill>
                  <a:srgbClr val="181A0D"/>
                </a:solidFill>
                <a:cs typeface="GEHAIV+FranklinGothic-Book"/>
              </a:rPr>
              <a:t>Ryan Summers</a:t>
            </a:r>
            <a:endParaRPr sz="2300" dirty="0">
              <a:solidFill>
                <a:srgbClr val="181A0D"/>
              </a:solidFill>
              <a:cs typeface="GEHAIV+FranklinGothic-Book"/>
            </a:endParaRPr>
          </a:p>
          <a:p>
            <a:pPr marL="77914" marR="0" algn="ctr">
              <a:lnSpc>
                <a:spcPts val="2612"/>
              </a:lnSpc>
              <a:spcBef>
                <a:spcPts val="459"/>
              </a:spcBef>
              <a:spcAft>
                <a:spcPts val="0"/>
              </a:spcAft>
            </a:pPr>
            <a:r>
              <a:rPr lang="en-US" sz="2300" spc="-13" dirty="0">
                <a:solidFill>
                  <a:srgbClr val="181A0D"/>
                </a:solidFill>
                <a:cs typeface="GEHAIV+FranklinGothic-Book"/>
              </a:rPr>
              <a:t>3/2/26</a:t>
            </a:r>
            <a:endParaRPr sz="2300" spc="-13" dirty="0">
              <a:solidFill>
                <a:srgbClr val="181A0D"/>
              </a:solidFill>
              <a:cs typeface="GEHAIV+FranklinGothic-Boo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9220A-E907-696F-E178-950E13497494}"/>
            </a:ext>
          </a:extLst>
        </p:cNvPr>
        <p:cNvGrpSpPr/>
        <p:nvPr/>
      </p:nvGrpSpPr>
      <p:grpSpPr>
        <a:xfrm>
          <a:off x="0" y="0"/>
          <a:ext cx="0" cy="0"/>
          <a:chOff x="0" y="0"/>
          <a:chExt cx="0" cy="0"/>
        </a:xfrm>
      </p:grpSpPr>
      <p:sp>
        <p:nvSpPr>
          <p:cNvPr id="2" name="object 1">
            <a:extLst>
              <a:ext uri="{FF2B5EF4-FFF2-40B4-BE49-F238E27FC236}">
                <a16:creationId xmlns:a16="http://schemas.microsoft.com/office/drawing/2014/main" id="{1DE5CAE3-8C9D-5530-AE7E-1A8DEBA08D3C}"/>
              </a:ext>
            </a:extLst>
          </p:cNvPr>
          <p:cNvSpPr/>
          <p:nvPr/>
        </p:nvSpPr>
        <p:spPr>
          <a:xfrm>
            <a:off x="-17029" y="16706"/>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a:extLst>
              <a:ext uri="{FF2B5EF4-FFF2-40B4-BE49-F238E27FC236}">
                <a16:creationId xmlns:a16="http://schemas.microsoft.com/office/drawing/2014/main" id="{DD84BD69-C59D-462F-793D-BE03654A65BC}"/>
              </a:ext>
            </a:extLst>
          </p:cNvPr>
          <p:cNvSpPr txBox="1"/>
          <p:nvPr/>
        </p:nvSpPr>
        <p:spPr>
          <a:xfrm>
            <a:off x="1199456" y="181814"/>
            <a:ext cx="5065008"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21" dirty="0">
                <a:solidFill>
                  <a:srgbClr val="181A0D"/>
                </a:solidFill>
                <a:cs typeface="KDMFEK+FranklinGothic-Book"/>
              </a:rPr>
              <a:t>Research</a:t>
            </a:r>
            <a:r>
              <a:rPr sz="4400" spc="21" dirty="0">
                <a:solidFill>
                  <a:srgbClr val="181A0D"/>
                </a:solidFill>
                <a:cs typeface="KDMFEK+FranklinGothic-Book"/>
              </a:rPr>
              <a:t> </a:t>
            </a:r>
            <a:r>
              <a:rPr sz="4400" dirty="0">
                <a:solidFill>
                  <a:srgbClr val="181A0D"/>
                </a:solidFill>
                <a:cs typeface="KDMFEK+FranklinGothic-Book"/>
              </a:rPr>
              <a:t>Question</a:t>
            </a:r>
            <a:r>
              <a:rPr lang="en-US" sz="4400" dirty="0">
                <a:solidFill>
                  <a:srgbClr val="181A0D"/>
                </a:solidFill>
                <a:cs typeface="KDMFEK+FranklinGothic-Book"/>
              </a:rPr>
              <a:t>s</a:t>
            </a:r>
            <a:endParaRPr sz="4400" dirty="0">
              <a:solidFill>
                <a:srgbClr val="181A0D"/>
              </a:solidFill>
              <a:cs typeface="KDMFEK+FranklinGothic-Book"/>
            </a:endParaRPr>
          </a:p>
        </p:txBody>
      </p:sp>
      <p:sp>
        <p:nvSpPr>
          <p:cNvPr id="6" name="TextBox 5">
            <a:extLst>
              <a:ext uri="{FF2B5EF4-FFF2-40B4-BE49-F238E27FC236}">
                <a16:creationId xmlns:a16="http://schemas.microsoft.com/office/drawing/2014/main" id="{47E80CB9-394E-7C5A-F83C-EFCE2F949673}"/>
              </a:ext>
            </a:extLst>
          </p:cNvPr>
          <p:cNvSpPr txBox="1"/>
          <p:nvPr/>
        </p:nvSpPr>
        <p:spPr>
          <a:xfrm>
            <a:off x="1055440" y="1122180"/>
            <a:ext cx="10801200" cy="5539978"/>
          </a:xfrm>
          <a:prstGeom prst="rect">
            <a:avLst/>
          </a:prstGeom>
          <a:noFill/>
        </p:spPr>
        <p:txBody>
          <a:bodyPr wrap="square">
            <a:spAutoFit/>
          </a:bodyPr>
          <a:lstStyle/>
          <a:p>
            <a:pPr marL="342900" indent="-342900">
              <a:buFont typeface="Wingdings" pitchFamily="2" charset="2"/>
              <a:buChar char="q"/>
            </a:pPr>
            <a:r>
              <a:rPr lang="en-US" sz="2000" b="1" dirty="0"/>
              <a:t>Does baseline hard drug use affect treatment response two years after initiating HAART?</a:t>
            </a:r>
            <a:endParaRPr lang="en-US" sz="2000" b="1" dirty="0">
              <a:solidFill>
                <a:srgbClr val="181A0D"/>
              </a:solidFill>
            </a:endParaRPr>
          </a:p>
          <a:p>
            <a:pPr marL="742950" lvl="1" indent="-285750">
              <a:buFont typeface="Wingdings" pitchFamily="2" charset="2"/>
              <a:buChar char="Ø"/>
            </a:pPr>
            <a:r>
              <a:rPr lang="en-US" sz="2000" dirty="0"/>
              <a:t>Viral load (HIV RNA copies/mL)</a:t>
            </a:r>
          </a:p>
          <a:p>
            <a:pPr marL="742950" lvl="1" indent="-285750">
              <a:buFont typeface="Wingdings" pitchFamily="2" charset="2"/>
              <a:buChar char="Ø"/>
            </a:pPr>
            <a:r>
              <a:rPr lang="en-US" sz="2000" dirty="0"/>
              <a:t>CD4 T-cell count</a:t>
            </a:r>
          </a:p>
          <a:p>
            <a:pPr marL="742950" lvl="1" indent="-285750">
              <a:buFont typeface="Wingdings" pitchFamily="2" charset="2"/>
              <a:buChar char="Ø"/>
            </a:pPr>
            <a:r>
              <a:rPr lang="en-US" sz="2000" dirty="0"/>
              <a:t>Physical QOL (0-100)</a:t>
            </a:r>
          </a:p>
          <a:p>
            <a:pPr marL="742950" lvl="1" indent="-285750">
              <a:buFont typeface="Wingdings" pitchFamily="2" charset="2"/>
              <a:buChar char="Ø"/>
            </a:pPr>
            <a:r>
              <a:rPr lang="en-US" sz="2000" dirty="0"/>
              <a:t>Mental QOL (0-100)</a:t>
            </a:r>
          </a:p>
          <a:p>
            <a:pPr marL="742950" lvl="1" indent="-285750">
              <a:buFont typeface="Wingdings" pitchFamily="2" charset="2"/>
              <a:buChar char="Ø"/>
            </a:pPr>
            <a:r>
              <a:rPr lang="en-US" sz="2000" i="1" dirty="0"/>
              <a:t>Hypotheses: </a:t>
            </a:r>
            <a:r>
              <a:rPr lang="en-US" sz="2000" dirty="0"/>
              <a:t>Year-2 outcomes differ between baseline hard drug users and non-users</a:t>
            </a:r>
          </a:p>
          <a:p>
            <a:pPr lvl="1"/>
            <a:endParaRPr lang="en-US" dirty="0"/>
          </a:p>
          <a:p>
            <a:pPr lvl="1"/>
            <a:endParaRPr lang="en-US" dirty="0"/>
          </a:p>
          <a:p>
            <a:pPr marL="285750" indent="-285750">
              <a:buFont typeface="Wingdings" pitchFamily="2" charset="2"/>
              <a:buChar char="q"/>
            </a:pPr>
            <a:r>
              <a:rPr lang="en-US" sz="2000" b="1" dirty="0">
                <a:solidFill>
                  <a:srgbClr val="181A0D"/>
                </a:solidFill>
              </a:rPr>
              <a:t>Does adherence mediate the association between hard drug use and year-2 outcomes?</a:t>
            </a:r>
          </a:p>
          <a:p>
            <a:pPr marL="800100" lvl="1" indent="-342900">
              <a:buFont typeface="Wingdings" pitchFamily="2" charset="2"/>
              <a:buChar char="Ø"/>
            </a:pPr>
            <a:r>
              <a:rPr lang="en-US" sz="2000" i="1" dirty="0"/>
              <a:t>Hypothesis</a:t>
            </a:r>
            <a:r>
              <a:rPr lang="en-US" sz="2000" dirty="0"/>
              <a:t>: The association between hard drug use and treatment response will be weaker after accounting for adherence.</a:t>
            </a:r>
          </a:p>
          <a:p>
            <a:pPr lvl="0"/>
            <a:endParaRPr lang="en-US" sz="2000" b="1" dirty="0">
              <a:solidFill>
                <a:srgbClr val="181A0D"/>
              </a:solidFill>
            </a:endParaRPr>
          </a:p>
          <a:p>
            <a:pPr lvl="0"/>
            <a:endParaRPr lang="en-US" sz="2000" b="1" dirty="0">
              <a:solidFill>
                <a:srgbClr val="181A0D"/>
              </a:solidFill>
            </a:endParaRPr>
          </a:p>
          <a:p>
            <a:pPr marL="285750" indent="-285750">
              <a:buFont typeface="Wingdings" pitchFamily="2" charset="2"/>
              <a:buChar char="q"/>
            </a:pPr>
            <a:r>
              <a:rPr lang="en-US" sz="2000" b="1" dirty="0"/>
              <a:t>What are the dropout rates between hard drug users and non-users?</a:t>
            </a:r>
          </a:p>
          <a:p>
            <a:pPr marL="742950" lvl="1" indent="-285750">
              <a:buFont typeface="Wingdings" pitchFamily="2" charset="2"/>
              <a:buChar char="Ø"/>
            </a:pPr>
            <a:r>
              <a:rPr lang="en-US" sz="2000" i="1" dirty="0"/>
              <a:t>Hypothesis</a:t>
            </a:r>
            <a:r>
              <a:rPr lang="en-US" sz="2000" dirty="0"/>
              <a:t>: Baseline outcomes differ between participants with complete and incomplete cases</a:t>
            </a:r>
            <a:endParaRPr lang="en-US" dirty="0">
              <a:solidFill>
                <a:srgbClr val="181A0D"/>
              </a:solidFill>
              <a:cs typeface="OAGDQN+FranklinGothic-BookItalic"/>
            </a:endParaRPr>
          </a:p>
          <a:p>
            <a:pPr marL="285750" lvl="0" indent="-285750">
              <a:buFont typeface="Wingdings" pitchFamily="2" charset="2"/>
              <a:buChar char="q"/>
            </a:pPr>
            <a:endParaRPr lang="en-US" sz="2000" b="1" dirty="0">
              <a:solidFill>
                <a:srgbClr val="181A0D"/>
              </a:solidFill>
            </a:endParaRPr>
          </a:p>
          <a:p>
            <a:pPr marL="285750" indent="-285750">
              <a:buFont typeface="Wingdings" pitchFamily="2" charset="2"/>
              <a:buChar char="q"/>
            </a:pPr>
            <a:endParaRPr lang="en-US" dirty="0"/>
          </a:p>
        </p:txBody>
      </p:sp>
    </p:spTree>
    <p:extLst>
      <p:ext uri="{BB962C8B-B14F-4D97-AF65-F5344CB8AC3E}">
        <p14:creationId xmlns:p14="http://schemas.microsoft.com/office/powerpoint/2010/main" val="15441300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3713"/>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199456" y="133760"/>
            <a:ext cx="3530821"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dirty="0">
                <a:solidFill>
                  <a:srgbClr val="181A0D"/>
                </a:solidFill>
                <a:cs typeface="NOOILK+FranklinGothic-Book"/>
              </a:rPr>
              <a:t>Data </a:t>
            </a:r>
            <a:r>
              <a:rPr lang="en-US" sz="4400" spc="-18" dirty="0">
                <a:solidFill>
                  <a:srgbClr val="181A0D"/>
                </a:solidFill>
                <a:cs typeface="NOOILK+FranklinGothic-Book"/>
              </a:rPr>
              <a:t>Overview</a:t>
            </a:r>
            <a:endParaRPr sz="4400" spc="-19" dirty="0">
              <a:solidFill>
                <a:srgbClr val="181A0D"/>
              </a:solidFill>
              <a:cs typeface="NOOILK+FranklinGothic-Book"/>
            </a:endParaRPr>
          </a:p>
        </p:txBody>
      </p:sp>
      <p:sp>
        <p:nvSpPr>
          <p:cNvPr id="13" name="TextBox 12">
            <a:extLst>
              <a:ext uri="{FF2B5EF4-FFF2-40B4-BE49-F238E27FC236}">
                <a16:creationId xmlns:a16="http://schemas.microsoft.com/office/drawing/2014/main" id="{2F490F4B-F9EE-36A8-DC87-2A09F4C4F2EF}"/>
              </a:ext>
            </a:extLst>
          </p:cNvPr>
          <p:cNvSpPr txBox="1"/>
          <p:nvPr/>
        </p:nvSpPr>
        <p:spPr>
          <a:xfrm>
            <a:off x="899653" y="905008"/>
            <a:ext cx="3672408" cy="6955750"/>
          </a:xfrm>
          <a:prstGeom prst="rect">
            <a:avLst/>
          </a:prstGeom>
          <a:noFill/>
        </p:spPr>
        <p:txBody>
          <a:bodyPr wrap="square">
            <a:spAutoFit/>
          </a:bodyPr>
          <a:lstStyle/>
          <a:p>
            <a:pPr marL="285750" indent="-285750">
              <a:lnSpc>
                <a:spcPts val="2258"/>
              </a:lnSpc>
              <a:buFont typeface="Wingdings" pitchFamily="2" charset="2"/>
              <a:buChar char="q"/>
            </a:pPr>
            <a:r>
              <a:rPr lang="en-US" b="1" dirty="0">
                <a:solidFill>
                  <a:srgbClr val="181A0D"/>
                </a:solidFill>
              </a:rPr>
              <a:t>Multicenter AIDS Cohort Study (MACS)</a:t>
            </a:r>
          </a:p>
          <a:p>
            <a:pPr marL="742950" lvl="1" indent="-285750">
              <a:lnSpc>
                <a:spcPts val="2258"/>
              </a:lnSpc>
              <a:buFont typeface="Wingdings" pitchFamily="2" charset="2"/>
              <a:buChar char="Ø"/>
            </a:pPr>
            <a:r>
              <a:rPr lang="en-US" dirty="0">
                <a:solidFill>
                  <a:srgbClr val="181A0D"/>
                </a:solidFill>
              </a:rPr>
              <a:t>Prospective study of HIV-1 in homosexual/bisexual men in four major cities</a:t>
            </a:r>
          </a:p>
          <a:p>
            <a:pPr marL="285750" indent="-285750">
              <a:lnSpc>
                <a:spcPts val="2258"/>
              </a:lnSpc>
              <a:buFont typeface="Wingdings" pitchFamily="2" charset="2"/>
              <a:buChar char="q"/>
            </a:pPr>
            <a:endParaRPr lang="en-US" b="1" dirty="0">
              <a:solidFill>
                <a:srgbClr val="181A0D"/>
              </a:solidFill>
            </a:endParaRPr>
          </a:p>
          <a:p>
            <a:pPr marL="285750" indent="-285750">
              <a:lnSpc>
                <a:spcPts val="2258"/>
              </a:lnSpc>
              <a:buFont typeface="Wingdings" pitchFamily="2" charset="2"/>
              <a:buChar char="q"/>
            </a:pPr>
            <a:r>
              <a:rPr lang="en-US" b="1" dirty="0">
                <a:solidFill>
                  <a:srgbClr val="181A0D"/>
                </a:solidFill>
              </a:rPr>
              <a:t>715 subjects in initial dataset</a:t>
            </a:r>
          </a:p>
          <a:p>
            <a:pPr marL="742950" lvl="1" indent="-285750">
              <a:lnSpc>
                <a:spcPts val="2258"/>
              </a:lnSpc>
              <a:buFont typeface="Wingdings" pitchFamily="2" charset="2"/>
              <a:buChar char="Ø"/>
            </a:pPr>
            <a:r>
              <a:rPr lang="en-US" dirty="0">
                <a:solidFill>
                  <a:srgbClr val="181A0D"/>
                </a:solidFill>
              </a:rPr>
              <a:t>Implausible BMI values labeled as missing</a:t>
            </a:r>
          </a:p>
          <a:p>
            <a:pPr marL="742950" lvl="1" indent="-285750">
              <a:lnSpc>
                <a:spcPts val="2258"/>
              </a:lnSpc>
              <a:buFont typeface="Wingdings" pitchFamily="2" charset="2"/>
              <a:buChar char="Ø"/>
            </a:pPr>
            <a:r>
              <a:rPr lang="en-US" dirty="0">
                <a:solidFill>
                  <a:srgbClr val="181A0D"/>
                </a:solidFill>
              </a:rPr>
              <a:t>Complete-case analysis</a:t>
            </a:r>
          </a:p>
          <a:p>
            <a:pPr marL="1200150" lvl="2" indent="-285750">
              <a:lnSpc>
                <a:spcPts val="2258"/>
              </a:lnSpc>
              <a:buFont typeface="Arial" panose="020B0604020202020204" pitchFamily="34" charset="0"/>
              <a:buChar char="•"/>
            </a:pPr>
            <a:r>
              <a:rPr lang="en-US" dirty="0">
                <a:solidFill>
                  <a:srgbClr val="181A0D"/>
                </a:solidFill>
              </a:rPr>
              <a:t>463 subjects used</a:t>
            </a:r>
          </a:p>
          <a:p>
            <a:pPr lvl="1">
              <a:lnSpc>
                <a:spcPts val="2258"/>
              </a:lnSpc>
            </a:pPr>
            <a:endParaRPr lang="en-US" dirty="0">
              <a:solidFill>
                <a:srgbClr val="181A0D"/>
              </a:solidFill>
              <a:cs typeface="OAGDQN+FranklinGothic-BookItalic"/>
            </a:endParaRPr>
          </a:p>
          <a:p>
            <a:pPr marL="285750" indent="-285750">
              <a:buFont typeface="Wingdings" pitchFamily="2" charset="2"/>
              <a:buChar char="q"/>
            </a:pPr>
            <a:r>
              <a:rPr lang="en-US" b="1" dirty="0"/>
              <a:t>Transformations</a:t>
            </a:r>
          </a:p>
          <a:p>
            <a:pPr marL="742950" lvl="1" indent="-285750">
              <a:buFont typeface="Wingdings" pitchFamily="2" charset="2"/>
              <a:buChar char="Ø"/>
            </a:pPr>
            <a:r>
              <a:rPr lang="en-US" dirty="0"/>
              <a:t>Log10 transformed viral load</a:t>
            </a:r>
          </a:p>
          <a:p>
            <a:pPr marL="742950" lvl="1" indent="-285750">
              <a:buFont typeface="Wingdings" pitchFamily="2" charset="2"/>
              <a:buChar char="Ø"/>
            </a:pPr>
            <a:r>
              <a:rPr lang="en-US" dirty="0"/>
              <a:t>All other variables kept on original scale</a:t>
            </a:r>
          </a:p>
          <a:p>
            <a:pPr marL="742950" lvl="1" indent="-285750">
              <a:buFont typeface="Wingdings" pitchFamily="2" charset="2"/>
              <a:buChar char="Ø"/>
            </a:pPr>
            <a:endParaRPr lang="en-US" dirty="0"/>
          </a:p>
          <a:p>
            <a:pPr marL="285750" indent="-285750">
              <a:buFont typeface="Wingdings" pitchFamily="2" charset="2"/>
              <a:buChar char="q"/>
            </a:pPr>
            <a:r>
              <a:rPr lang="en-US" b="1" dirty="0"/>
              <a:t>Hard drug use and adherence coded as binary</a:t>
            </a:r>
            <a:endParaRPr lang="en-US" dirty="0"/>
          </a:p>
          <a:p>
            <a:pPr marL="742950" lvl="1" indent="-285750">
              <a:buFont typeface="Wingdings" pitchFamily="2" charset="2"/>
              <a:buChar char="Ø"/>
            </a:pPr>
            <a:endParaRPr lang="en-US" dirty="0"/>
          </a:p>
          <a:p>
            <a:pPr marL="285750" indent="-285750">
              <a:buFont typeface="Wingdings" pitchFamily="2" charset="2"/>
              <a:buChar char="Ø"/>
            </a:pPr>
            <a:endParaRPr lang="en-US" dirty="0"/>
          </a:p>
          <a:p>
            <a:pPr marL="285750" indent="-285750">
              <a:buFont typeface="Wingdings" pitchFamily="2" charset="2"/>
              <a:buChar char="Ø"/>
            </a:pPr>
            <a:endParaRPr lang="en-US" dirty="0"/>
          </a:p>
          <a:p>
            <a:endParaRPr lang="en-US" dirty="0">
              <a:solidFill>
                <a:srgbClr val="181A0D"/>
              </a:solidFill>
              <a:cs typeface="OAGDQN+FranklinGothic-BookItalic"/>
            </a:endParaRPr>
          </a:p>
          <a:p>
            <a:pPr marL="285750" indent="-285750">
              <a:buFont typeface="Wingdings" pitchFamily="2" charset="2"/>
              <a:buChar char="§"/>
            </a:pPr>
            <a:endParaRPr lang="en-US" dirty="0"/>
          </a:p>
        </p:txBody>
      </p:sp>
      <p:pic>
        <p:nvPicPr>
          <p:cNvPr id="5" name="Picture 4">
            <a:extLst>
              <a:ext uri="{FF2B5EF4-FFF2-40B4-BE49-F238E27FC236}">
                <a16:creationId xmlns:a16="http://schemas.microsoft.com/office/drawing/2014/main" id="{34F9E3E6-3B52-9F5B-7D2C-EEA89A8243B3}"/>
              </a:ext>
            </a:extLst>
          </p:cNvPr>
          <p:cNvPicPr>
            <a:picLocks noChangeAspect="1"/>
          </p:cNvPicPr>
          <p:nvPr/>
        </p:nvPicPr>
        <p:blipFill>
          <a:blip r:embed="rId4"/>
          <a:stretch>
            <a:fillRect/>
          </a:stretch>
        </p:blipFill>
        <p:spPr>
          <a:xfrm>
            <a:off x="6581716" y="0"/>
            <a:ext cx="4710631" cy="6858000"/>
          </a:xfrm>
          <a:prstGeom prst="rect">
            <a:avLst/>
          </a:prstGeom>
        </p:spPr>
      </p:pic>
      <p:sp>
        <p:nvSpPr>
          <p:cNvPr id="15" name="Process 14">
            <a:extLst>
              <a:ext uri="{FF2B5EF4-FFF2-40B4-BE49-F238E27FC236}">
                <a16:creationId xmlns:a16="http://schemas.microsoft.com/office/drawing/2014/main" id="{C21B61A2-A07B-C030-FA5E-758620D88CD4}"/>
              </a:ext>
            </a:extLst>
          </p:cNvPr>
          <p:cNvSpPr/>
          <p:nvPr/>
        </p:nvSpPr>
        <p:spPr>
          <a:xfrm>
            <a:off x="6581716" y="3140968"/>
            <a:ext cx="4710631" cy="504056"/>
          </a:xfrm>
          <a:prstGeom prst="flowChartProcess">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463040" y="206635"/>
            <a:ext cx="2057883"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dirty="0">
                <a:solidFill>
                  <a:srgbClr val="181A0D"/>
                </a:solidFill>
                <a:cs typeface="VTCKGD+FranklinGothic-Book"/>
              </a:rPr>
              <a:t>Analysis</a:t>
            </a:r>
          </a:p>
        </p:txBody>
      </p:sp>
      <mc:AlternateContent xmlns:mc="http://schemas.openxmlformats.org/markup-compatibility/2006">
        <mc:Choice xmlns:a14="http://schemas.microsoft.com/office/drawing/2010/main" Requires="a14">
          <p:sp>
            <p:nvSpPr>
              <p:cNvPr id="4" name="object 4"/>
              <p:cNvSpPr txBox="1"/>
              <p:nvPr/>
            </p:nvSpPr>
            <p:spPr>
              <a:xfrm>
                <a:off x="1092464" y="1054471"/>
                <a:ext cx="11089232" cy="6783908"/>
              </a:xfrm>
              <a:prstGeom prst="rect">
                <a:avLst/>
              </a:prstGeom>
            </p:spPr>
            <p:txBody>
              <a:bodyPr vert="horz" wrap="square" lIns="0" tIns="0" rIns="0" bIns="0" rtlCol="0">
                <a:spAutoFit/>
              </a:bodyPr>
              <a:lstStyle/>
              <a:p>
                <a:pPr marL="342900" marR="0" indent="-342900">
                  <a:lnSpc>
                    <a:spcPts val="2258"/>
                  </a:lnSpc>
                  <a:spcBef>
                    <a:spcPts val="0"/>
                  </a:spcBef>
                  <a:spcAft>
                    <a:spcPts val="0"/>
                  </a:spcAft>
                  <a:buFont typeface="Wingdings" pitchFamily="2" charset="2"/>
                  <a:buChar char="q"/>
                </a:pPr>
                <a:r>
                  <a:rPr lang="en-US" sz="2400" b="1" spc="-25" dirty="0">
                    <a:solidFill>
                      <a:srgbClr val="181A0D"/>
                    </a:solidFill>
                    <a:cs typeface="OAGDQN+FranklinGothic-BookItalic"/>
                  </a:rPr>
                  <a:t>Primary: Year-2 Response</a:t>
                </a:r>
                <a:endParaRPr lang="en-US" sz="2000" spc="-25" dirty="0">
                  <a:solidFill>
                    <a:srgbClr val="181A0D"/>
                  </a:solidFill>
                  <a:cs typeface="OAGDQN+FranklinGothic-BookItalic"/>
                </a:endParaRPr>
              </a:p>
              <a:p>
                <a:pPr marL="800100" lvl="1" indent="-342900">
                  <a:lnSpc>
                    <a:spcPts val="2258"/>
                  </a:lnSpc>
                  <a:buFont typeface="Wingdings" pitchFamily="2" charset="2"/>
                  <a:buChar char="Ø"/>
                </a:pPr>
                <a:r>
                  <a:rPr lang="en-US" sz="2000" spc="-25" dirty="0">
                    <a:solidFill>
                      <a:srgbClr val="181A0D"/>
                    </a:solidFill>
                    <a:cs typeface="OAGDQN+FranklinGothic-BookItalic"/>
                  </a:rPr>
                  <a:t>Bayesian </a:t>
                </a:r>
                <a:r>
                  <a:rPr lang="en-US" sz="2000" spc="-25" dirty="0">
                    <a:solidFill>
                      <a:srgbClr val="181A0D"/>
                    </a:solidFill>
                  </a:rPr>
                  <a:t>regression (brms, HMC-NUTS) + parallel Frequentist regression</a:t>
                </a:r>
              </a:p>
              <a:p>
                <a:pPr marL="800100" lvl="1" indent="-342900">
                  <a:lnSpc>
                    <a:spcPts val="2258"/>
                  </a:lnSpc>
                  <a:buFont typeface="Wingdings" pitchFamily="2" charset="2"/>
                  <a:buChar char="Ø"/>
                </a:pPr>
                <a:r>
                  <a:rPr lang="en-US" sz="2000" spc="-25" dirty="0">
                    <a:solidFill>
                      <a:srgbClr val="181A0D"/>
                    </a:solidFill>
                    <a:cs typeface="OAGDQN+FranklinGothic-BookItalic"/>
                  </a:rPr>
                  <a:t>Priors: weakly(vague)-informative </a:t>
                </a:r>
              </a:p>
              <a:p>
                <a:pPr marL="1714500" lvl="3" indent="-342900">
                  <a:lnSpc>
                    <a:spcPts val="2258"/>
                  </a:lnSpc>
                  <a:buFont typeface="Arial" panose="020B0604020202020204" pitchFamily="34" charset="0"/>
                  <a:buChar char="•"/>
                </a:pPr>
                <a:r>
                  <a:rPr lang="en-US" sz="2000" spc="-25" dirty="0">
                    <a:solidFill>
                      <a:srgbClr val="181A0D"/>
                    </a:solidFill>
                    <a:cs typeface="OAGDQN+FranklinGothic-BookItalic"/>
                  </a:rPr>
                  <a:t>N(0,</a:t>
                </a:r>
                <a14:m>
                  <m:oMath xmlns:m="http://schemas.openxmlformats.org/officeDocument/2006/math">
                    <m:sSup>
                      <m:sSupPr>
                        <m:ctrlPr>
                          <a:rPr lang="en-US" sz="2000" i="1" spc="-25" smtClean="0">
                            <a:solidFill>
                              <a:srgbClr val="181A0D"/>
                            </a:solidFill>
                            <a:latin typeface="Cambria Math" panose="02040503050406030204" pitchFamily="18" charset="0"/>
                          </a:rPr>
                        </m:ctrlPr>
                      </m:sSupPr>
                      <m:e>
                        <m:r>
                          <a:rPr lang="en-US" sz="2000" b="0" i="1" spc="-25" smtClean="0">
                            <a:solidFill>
                              <a:srgbClr val="181A0D"/>
                            </a:solidFill>
                            <a:latin typeface="Cambria Math" panose="02040503050406030204" pitchFamily="18" charset="0"/>
                          </a:rPr>
                          <m:t>100</m:t>
                        </m:r>
                      </m:e>
                      <m:sup>
                        <m:r>
                          <a:rPr lang="en-US" sz="2000" b="0" i="1" spc="-25" smtClean="0">
                            <a:solidFill>
                              <a:srgbClr val="181A0D"/>
                            </a:solidFill>
                            <a:latin typeface="Cambria Math" panose="02040503050406030204" pitchFamily="18" charset="0"/>
                          </a:rPr>
                          <m:t>2</m:t>
                        </m:r>
                      </m:sup>
                    </m:sSup>
                  </m:oMath>
                </a14:m>
                <a:r>
                  <a:rPr lang="en-US" sz="2000" spc="-25" dirty="0">
                    <a:solidFill>
                      <a:srgbClr val="181A0D"/>
                    </a:solidFill>
                    <a:cs typeface="OAGDQN+FranklinGothic-BookItalic"/>
                  </a:rPr>
                  <a:t>) on regression coefficients </a:t>
                </a:r>
              </a:p>
              <a:p>
                <a:pPr marL="1714500" lvl="3" indent="-342900">
                  <a:lnSpc>
                    <a:spcPts val="2258"/>
                  </a:lnSpc>
                  <a:buFont typeface="Arial" panose="020B0604020202020204" pitchFamily="34" charset="0"/>
                  <a:buChar char="•"/>
                </a:pPr>
                <a:r>
                  <a:rPr lang="en-US" sz="2000" spc="-25" dirty="0">
                    <a:solidFill>
                      <a:srgbClr val="181A0D"/>
                    </a:solidFill>
                    <a:cs typeface="OAGDQN+FranklinGothic-BookItalic"/>
                  </a:rPr>
                  <a:t>Half-t(3,0,</a:t>
                </a:r>
                <a:r>
                  <a:rPr lang="en-US" sz="2000" spc="-25" dirty="0">
                    <a:solidFill>
                      <a:srgbClr val="181A0D"/>
                    </a:solidFill>
                  </a:rPr>
                  <a:t> </a:t>
                </a:r>
                <a14:m>
                  <m:oMath xmlns:m="http://schemas.openxmlformats.org/officeDocument/2006/math">
                    <m:sSup>
                      <m:sSupPr>
                        <m:ctrlPr>
                          <a:rPr lang="en-US" sz="2000" i="1" spc="-25">
                            <a:solidFill>
                              <a:srgbClr val="181A0D"/>
                            </a:solidFill>
                            <a:latin typeface="Cambria Math" panose="02040503050406030204" pitchFamily="18" charset="0"/>
                          </a:rPr>
                        </m:ctrlPr>
                      </m:sSupPr>
                      <m:e>
                        <m:r>
                          <a:rPr lang="en-US" sz="2000" i="1" spc="-25">
                            <a:solidFill>
                              <a:srgbClr val="181A0D"/>
                            </a:solidFill>
                            <a:latin typeface="Cambria Math" panose="02040503050406030204" pitchFamily="18" charset="0"/>
                          </a:rPr>
                          <m:t>100</m:t>
                        </m:r>
                      </m:e>
                      <m:sup>
                        <m:r>
                          <a:rPr lang="en-US" sz="2000" i="1" spc="-25">
                            <a:solidFill>
                              <a:srgbClr val="181A0D"/>
                            </a:solidFill>
                            <a:latin typeface="Cambria Math" panose="02040503050406030204" pitchFamily="18" charset="0"/>
                          </a:rPr>
                          <m:t>2</m:t>
                        </m:r>
                      </m:sup>
                    </m:sSup>
                    <m:r>
                      <a:rPr lang="en-US" sz="2000" b="0" i="1" spc="-25" smtClean="0">
                        <a:solidFill>
                          <a:srgbClr val="181A0D"/>
                        </a:solidFill>
                        <a:latin typeface="Cambria Math" panose="02040503050406030204" pitchFamily="18" charset="0"/>
                      </a:rPr>
                      <m:t>)</m:t>
                    </m:r>
                  </m:oMath>
                </a14:m>
                <a:r>
                  <a:rPr lang="en-US" sz="2000" spc="-25" dirty="0">
                    <a:solidFill>
                      <a:srgbClr val="181A0D"/>
                    </a:solidFill>
                    <a:cs typeface="OAGDQN+FranklinGothic-BookItalic"/>
                  </a:rPr>
                  <a:t> on residual variance</a:t>
                </a:r>
              </a:p>
              <a:p>
                <a:pPr marL="800100" lvl="1" indent="-342900">
                  <a:lnSpc>
                    <a:spcPts val="2258"/>
                  </a:lnSpc>
                  <a:buFont typeface="Wingdings" pitchFamily="2" charset="2"/>
                  <a:buChar char="Ø"/>
                </a:pPr>
                <a:r>
                  <a:rPr lang="en-US" sz="2000" spc="-25" dirty="0">
                    <a:solidFill>
                      <a:srgbClr val="181A0D"/>
                    </a:solidFill>
                    <a:cs typeface="OAGDQN+FranklinGothic-BookItalic"/>
                  </a:rPr>
                  <a:t>Adjusted for:</a:t>
                </a:r>
              </a:p>
              <a:p>
                <a:pPr marL="1257300" lvl="2" indent="-342900">
                  <a:lnSpc>
                    <a:spcPts val="2258"/>
                  </a:lnSpc>
                  <a:buFont typeface="Courier New" panose="02070309020205020404" pitchFamily="49" charset="0"/>
                  <a:buChar char="o"/>
                </a:pPr>
                <a:r>
                  <a:rPr lang="en-US" sz="2000" dirty="0"/>
                  <a:t>Baseline outcome measure value, Age, BMI, smoking status, education, race/ethnicity </a:t>
                </a:r>
                <a:endParaRPr lang="en-US" sz="2000" spc="-25" dirty="0">
                  <a:solidFill>
                    <a:srgbClr val="181A0D"/>
                  </a:solidFill>
                  <a:cs typeface="OAGDQN+FranklinGothic-BookItalic"/>
                </a:endParaRPr>
              </a:p>
              <a:p>
                <a:pPr lvl="1">
                  <a:lnSpc>
                    <a:spcPts val="2258"/>
                  </a:lnSpc>
                </a:pPr>
                <a:endParaRPr lang="en-US" sz="2000" spc="-25" dirty="0">
                  <a:solidFill>
                    <a:srgbClr val="181A0D"/>
                  </a:solidFill>
                  <a:cs typeface="OAGDQN+FranklinGothic-BookItalic"/>
                </a:endParaRPr>
              </a:p>
              <a:p>
                <a:pPr lvl="1">
                  <a:lnSpc>
                    <a:spcPts val="2258"/>
                  </a:lnSpc>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r>
                  <a:rPr lang="en-US" sz="2400" b="1" spc="-25" dirty="0">
                    <a:solidFill>
                      <a:srgbClr val="181A0D"/>
                    </a:solidFill>
                    <a:cs typeface="OAGDQN+FranklinGothic-BookItalic"/>
                  </a:rPr>
                  <a:t>Secondary: Adherence</a:t>
                </a:r>
                <a:r>
                  <a:rPr lang="en-US" sz="2000" spc="-25" dirty="0">
                    <a:solidFill>
                      <a:srgbClr val="181A0D"/>
                    </a:solidFill>
                    <a:cs typeface="OAGDQN+FranklinGothic-BookItalic"/>
                  </a:rPr>
                  <a:t> </a:t>
                </a:r>
              </a:p>
              <a:p>
                <a:pPr marL="800100" lvl="1" indent="-342900">
                  <a:lnSpc>
                    <a:spcPts val="2258"/>
                  </a:lnSpc>
                  <a:buFont typeface="Wingdings" pitchFamily="2" charset="2"/>
                  <a:buChar char="Ø"/>
                </a:pPr>
                <a:r>
                  <a:rPr lang="en-US" sz="2000" spc="-25" dirty="0">
                    <a:solidFill>
                      <a:srgbClr val="181A0D"/>
                    </a:solidFill>
                    <a:cs typeface="OAGDQN+FranklinGothic-BookItalic"/>
                  </a:rPr>
                  <a:t>Adherence dichotomized (&lt;95%, ≥95%) used to test association between hard drug users and response</a:t>
                </a:r>
              </a:p>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r>
                  <a:rPr lang="en-US" sz="2400" b="1" spc="-25" dirty="0">
                    <a:solidFill>
                      <a:srgbClr val="181A0D"/>
                    </a:solidFill>
                    <a:cs typeface="OAGDQN+FranklinGothic-BookItalic"/>
                  </a:rPr>
                  <a:t>Secondary: Dropout Rates</a:t>
                </a:r>
                <a:r>
                  <a:rPr lang="en-US" sz="2000" spc="-25" dirty="0">
                    <a:solidFill>
                      <a:srgbClr val="181A0D"/>
                    </a:solidFill>
                    <a:cs typeface="OAGDQN+FranklinGothic-BookItalic"/>
                  </a:rPr>
                  <a:t> </a:t>
                </a:r>
              </a:p>
              <a:p>
                <a:pPr marL="800100" lvl="1" indent="-342900">
                  <a:lnSpc>
                    <a:spcPts val="2258"/>
                  </a:lnSpc>
                  <a:buFont typeface="Wingdings" pitchFamily="2" charset="2"/>
                  <a:buChar char="Ø"/>
                </a:pPr>
                <a:r>
                  <a:rPr lang="en-US" sz="2000" spc="-25" dirty="0">
                    <a:solidFill>
                      <a:srgbClr val="181A0D"/>
                    </a:solidFill>
                    <a:cs typeface="OAGDQN+FranklinGothic-BookItalic"/>
                  </a:rPr>
                  <a:t>Complete (Baseline+Year-2) vs Missing Year-2 baseline outcomes</a:t>
                </a:r>
              </a:p>
              <a:p>
                <a:pPr marL="1257300" lvl="2" indent="-342900">
                  <a:lnSpc>
                    <a:spcPts val="2258"/>
                  </a:lnSpc>
                  <a:buFont typeface="Courier New" panose="02070309020205020404" pitchFamily="49" charset="0"/>
                  <a:buChar char="o"/>
                </a:pPr>
                <a:r>
                  <a:rPr lang="en-US" sz="2000" spc="-25" dirty="0">
                    <a:solidFill>
                      <a:srgbClr val="181A0D"/>
                    </a:solidFill>
                    <a:cs typeface="OAGDQN+FranklinGothic-BookItalic"/>
                  </a:rPr>
                  <a:t>Nonparametric (Wilcoxon)</a:t>
                </a:r>
              </a:p>
              <a:p>
                <a:pPr marL="800100" lvl="1" indent="-342900">
                  <a:lnSpc>
                    <a:spcPts val="2258"/>
                  </a:lnSpc>
                  <a:buFont typeface="Wingdings" pitchFamily="2" charset="2"/>
                  <a:buChar char="Ø"/>
                </a:pPr>
                <a:r>
                  <a:rPr lang="en-US" sz="2000" spc="-25" dirty="0">
                    <a:solidFill>
                      <a:srgbClr val="181A0D"/>
                    </a:solidFill>
                    <a:cs typeface="OAGDQN+FranklinGothic-BookItalic"/>
                  </a:rPr>
                  <a:t>Logistic regression: </a:t>
                </a:r>
                <a:r>
                  <a:rPr lang="en-US" sz="2000" dirty="0"/>
                  <a:t> Follow-up Status (Missing Year 2 = 1 vs complete = 0)</a:t>
                </a:r>
              </a:p>
              <a:p>
                <a:pPr marL="1257300" lvl="2" indent="-342900">
                  <a:lnSpc>
                    <a:spcPts val="2258"/>
                  </a:lnSpc>
                  <a:buFont typeface="Courier New" panose="02070309020205020404" pitchFamily="49" charset="0"/>
                  <a:buChar char="o"/>
                </a:pPr>
                <a:r>
                  <a:rPr lang="en-US" sz="2000" dirty="0"/>
                  <a:t>Function of baseline outcome and covariate measures</a:t>
                </a:r>
              </a:p>
              <a:p>
                <a:pPr lvl="1">
                  <a:lnSpc>
                    <a:spcPts val="2258"/>
                  </a:lnSpc>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mc:Choice>
        <mc:Fallback>
          <p:sp>
            <p:nvSpPr>
              <p:cNvPr id="4" name="object 4"/>
              <p:cNvSpPr txBox="1">
                <a:spLocks noRot="1" noChangeAspect="1" noMove="1" noResize="1" noEditPoints="1" noAdjustHandles="1" noChangeArrowheads="1" noChangeShapeType="1" noTextEdit="1"/>
              </p:cNvSpPr>
              <p:nvPr/>
            </p:nvSpPr>
            <p:spPr>
              <a:xfrm>
                <a:off x="1092464" y="1054471"/>
                <a:ext cx="11089232" cy="6783908"/>
              </a:xfrm>
              <a:prstGeom prst="rect">
                <a:avLst/>
              </a:prstGeom>
              <a:blipFill>
                <a:blip r:embed="rId4"/>
                <a:stretch>
                  <a:fillRect l="-1486" t="-2430"/>
                </a:stretch>
              </a:blipFill>
            </p:spPr>
            <p:txBody>
              <a:bodyPr/>
              <a:lstStyle/>
              <a:p>
                <a:r>
                  <a:rPr lang="en-US">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463069" y="173199"/>
            <a:ext cx="7657267"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12" dirty="0">
                <a:solidFill>
                  <a:srgbClr val="181A0D"/>
                </a:solidFill>
                <a:cs typeface="MPIRPG+FranklinGothic-Book"/>
              </a:rPr>
              <a:t>Results</a:t>
            </a:r>
            <a:r>
              <a:rPr lang="en-US" sz="4400" spc="-12" dirty="0">
                <a:solidFill>
                  <a:srgbClr val="181A0D"/>
                </a:solidFill>
                <a:cs typeface="MPIRPG+FranklinGothic-Book"/>
              </a:rPr>
              <a:t> - Primary</a:t>
            </a:r>
            <a:endParaRPr sz="4400" spc="-12" dirty="0">
              <a:solidFill>
                <a:srgbClr val="181A0D"/>
              </a:solidFill>
              <a:cs typeface="MPIRPG+FranklinGothic-Book"/>
            </a:endParaRPr>
          </a:p>
        </p:txBody>
      </p:sp>
      <p:sp>
        <p:nvSpPr>
          <p:cNvPr id="12" name="object 4">
            <a:extLst>
              <a:ext uri="{FF2B5EF4-FFF2-40B4-BE49-F238E27FC236}">
                <a16:creationId xmlns:a16="http://schemas.microsoft.com/office/drawing/2014/main" id="{2FF3022D-87F7-BF6A-4366-54D58B6DC952}"/>
              </a:ext>
            </a:extLst>
          </p:cNvPr>
          <p:cNvSpPr txBox="1"/>
          <p:nvPr/>
        </p:nvSpPr>
        <p:spPr>
          <a:xfrm>
            <a:off x="911424" y="620688"/>
            <a:ext cx="3960440" cy="7917552"/>
          </a:xfrm>
          <a:prstGeom prst="rect">
            <a:avLst/>
          </a:prstGeom>
        </p:spPr>
        <p:txBody>
          <a:bodyPr vert="horz" wrap="square" lIns="0" tIns="0" rIns="0" bIns="0" rtlCol="0">
            <a:spAutoFit/>
          </a:bodyPr>
          <a:lstStyle/>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285750" indent="-285750">
              <a:buFont typeface="Wingdings" pitchFamily="2" charset="2"/>
              <a:buChar char="q"/>
            </a:pPr>
            <a:r>
              <a:rPr lang="en-US" b="1" dirty="0"/>
              <a:t>CD4</a:t>
            </a:r>
            <a:endParaRPr lang="en-US" dirty="0"/>
          </a:p>
          <a:p>
            <a:pPr marL="285750" lvl="0" indent="-285750">
              <a:buFont typeface="Wingdings" pitchFamily="2" charset="2"/>
              <a:buChar char="Ø"/>
            </a:pPr>
            <a:r>
              <a:rPr lang="en-US" dirty="0"/>
              <a:t>−164 cells/mm³ (95% HDI: −263 to −103)</a:t>
            </a:r>
          </a:p>
          <a:p>
            <a:pPr marL="285750" lvl="0" indent="-285750">
              <a:buFont typeface="Wingdings" pitchFamily="2" charset="2"/>
              <a:buChar char="Ø"/>
            </a:pPr>
            <a:r>
              <a:rPr lang="en-US" dirty="0"/>
              <a:t>99.5% probability exceeds 50-cell clinical threshold</a:t>
            </a:r>
          </a:p>
          <a:p>
            <a:pPr marL="800100" lvl="1" indent="-342900">
              <a:lnSpc>
                <a:spcPts val="2258"/>
              </a:lnSpc>
              <a:buFont typeface="Arial" panose="020B0604020202020204" pitchFamily="34" charset="0"/>
              <a:buChar char="•"/>
            </a:pPr>
            <a:endParaRPr lang="en-US" sz="2000" spc="-25" dirty="0">
              <a:solidFill>
                <a:srgbClr val="181A0D"/>
              </a:solidFill>
              <a:cs typeface="OAGDQN+FranklinGothic-BookItalic"/>
            </a:endParaRPr>
          </a:p>
          <a:p>
            <a:pPr marL="285750" indent="-285750">
              <a:buFont typeface="Wingdings" pitchFamily="2" charset="2"/>
              <a:buChar char="q"/>
            </a:pPr>
            <a:r>
              <a:rPr lang="en-US" b="1" dirty="0"/>
              <a:t>Viral Load</a:t>
            </a:r>
            <a:endParaRPr lang="en-US" dirty="0"/>
          </a:p>
          <a:p>
            <a:pPr marL="285750" lvl="0" indent="-285750">
              <a:buFont typeface="Wingdings" pitchFamily="2" charset="2"/>
              <a:buChar char="Ø"/>
            </a:pPr>
            <a:r>
              <a:rPr lang="en-US" dirty="0"/>
              <a:t>No meaningful difference</a:t>
            </a:r>
          </a:p>
          <a:p>
            <a:pPr marL="285750" lvl="0" indent="-285750">
              <a:buFont typeface="Wingdings" pitchFamily="2" charset="2"/>
              <a:buChar char="Ø"/>
            </a:pPr>
            <a:r>
              <a:rPr lang="en-US" dirty="0"/>
              <a:t>2.3% probability exceeds 0.5 log threshold</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285750" indent="-285750">
              <a:buFont typeface="Wingdings" pitchFamily="2" charset="2"/>
              <a:buChar char="q"/>
            </a:pPr>
            <a:r>
              <a:rPr lang="en-US" b="1" dirty="0"/>
              <a:t>Physical QOL</a:t>
            </a:r>
            <a:endParaRPr lang="en-US" dirty="0"/>
          </a:p>
          <a:p>
            <a:pPr marL="285750" lvl="0" indent="-285750">
              <a:buFont typeface="Wingdings" pitchFamily="2" charset="2"/>
              <a:buChar char="Ø"/>
            </a:pPr>
            <a:r>
              <a:rPr lang="en-US" dirty="0"/>
              <a:t>−3.3 points</a:t>
            </a:r>
          </a:p>
          <a:p>
            <a:pPr marL="285750" lvl="0" indent="-285750">
              <a:buFont typeface="Wingdings" pitchFamily="2" charset="2"/>
              <a:buChar char="Ø"/>
            </a:pPr>
            <a:r>
              <a:rPr lang="en-US" dirty="0"/>
              <a:t>83% probability exceeds 2-point threshold</a:t>
            </a:r>
          </a:p>
          <a:p>
            <a:r>
              <a:rPr lang="en-US" dirty="0"/>
              <a:t> </a:t>
            </a:r>
          </a:p>
          <a:p>
            <a:pPr marL="285750" indent="-285750">
              <a:buFont typeface="Wingdings" pitchFamily="2" charset="2"/>
              <a:buChar char="q"/>
            </a:pPr>
            <a:r>
              <a:rPr lang="en-US" b="1" dirty="0"/>
              <a:t>Mental QOL</a:t>
            </a:r>
            <a:endParaRPr lang="en-US" dirty="0"/>
          </a:p>
          <a:p>
            <a:pPr marL="285750" lvl="0" indent="-285750">
              <a:buFont typeface="Wingdings" pitchFamily="2" charset="2"/>
              <a:buChar char="Ø"/>
            </a:pPr>
            <a:r>
              <a:rPr lang="en-US" dirty="0"/>
              <a:t>No meaningful difference</a:t>
            </a:r>
          </a:p>
          <a:p>
            <a:pPr marL="285750" indent="-285750">
              <a:buFont typeface="Wingdings" pitchFamily="2" charset="2"/>
              <a:buChar char="Ø"/>
            </a:pPr>
            <a:r>
              <a:rPr lang="en-US" dirty="0"/>
              <a:t>26% probability exceeds 2-point threshold</a:t>
            </a:r>
          </a:p>
          <a:p>
            <a:pPr marL="285750" lvl="0" indent="-285750">
              <a:buFont typeface="Wingdings" pitchFamily="2" charset="2"/>
              <a:buChar char="Ø"/>
            </a:pPr>
            <a:endParaRPr lang="en-US" dirty="0"/>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pic>
        <p:nvPicPr>
          <p:cNvPr id="10" name="Picture 9" descr="A screenshot of a computer&#10;&#10;AI-generated content may be incorrect.">
            <a:extLst>
              <a:ext uri="{FF2B5EF4-FFF2-40B4-BE49-F238E27FC236}">
                <a16:creationId xmlns:a16="http://schemas.microsoft.com/office/drawing/2014/main" id="{83C7B31D-2D4F-03C6-A0AB-6D2DB7691526}"/>
              </a:ext>
            </a:extLst>
          </p:cNvPr>
          <p:cNvPicPr>
            <a:picLocks noChangeAspect="1"/>
          </p:cNvPicPr>
          <p:nvPr/>
        </p:nvPicPr>
        <p:blipFill>
          <a:blip r:embed="rId4"/>
          <a:stretch>
            <a:fillRect/>
          </a:stretch>
        </p:blipFill>
        <p:spPr>
          <a:xfrm>
            <a:off x="4378125" y="2132856"/>
            <a:ext cx="7653483" cy="338437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14166"/>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415480" y="188640"/>
            <a:ext cx="4528479"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11" dirty="0">
                <a:solidFill>
                  <a:srgbClr val="181A0D"/>
                </a:solidFill>
                <a:cs typeface="WPQCJM+FranklinGothic-Book"/>
              </a:rPr>
              <a:t>Results</a:t>
            </a:r>
            <a:r>
              <a:rPr lang="en-US" sz="4400" spc="-11" dirty="0">
                <a:solidFill>
                  <a:srgbClr val="181A0D"/>
                </a:solidFill>
                <a:cs typeface="WPQCJM+FranklinGothic-Book"/>
              </a:rPr>
              <a:t> - M</a:t>
            </a:r>
            <a:r>
              <a:rPr lang="en-US" sz="4400" dirty="0">
                <a:solidFill>
                  <a:srgbClr val="181A0D"/>
                </a:solidFill>
                <a:cs typeface="WPQCJM+FranklinGothic-Book"/>
              </a:rPr>
              <a:t>ediation</a:t>
            </a:r>
            <a:endParaRPr sz="4400" dirty="0">
              <a:solidFill>
                <a:srgbClr val="181A0D"/>
              </a:solidFill>
              <a:cs typeface="WPQCJM+FranklinGothic-Book"/>
            </a:endParaRPr>
          </a:p>
        </p:txBody>
      </p:sp>
      <p:sp>
        <p:nvSpPr>
          <p:cNvPr id="8" name="object 4">
            <a:extLst>
              <a:ext uri="{FF2B5EF4-FFF2-40B4-BE49-F238E27FC236}">
                <a16:creationId xmlns:a16="http://schemas.microsoft.com/office/drawing/2014/main" id="{135D1CCA-C085-B968-1B22-01E31F3EE6DF}"/>
              </a:ext>
            </a:extLst>
          </p:cNvPr>
          <p:cNvSpPr txBox="1"/>
          <p:nvPr/>
        </p:nvSpPr>
        <p:spPr>
          <a:xfrm>
            <a:off x="875244" y="980779"/>
            <a:ext cx="4811155" cy="4424288"/>
          </a:xfrm>
          <a:prstGeom prst="rect">
            <a:avLst/>
          </a:prstGeom>
        </p:spPr>
        <p:txBody>
          <a:bodyPr vert="horz" wrap="square" lIns="0" tIns="0" rIns="0" bIns="0" rtlCol="0">
            <a:spAutoFit/>
          </a:bodyPr>
          <a:lstStyle/>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b="1" spc="-25" dirty="0">
              <a:solidFill>
                <a:srgbClr val="181A0D"/>
              </a:solidFill>
              <a:cs typeface="OAGDQN+FranklinGothic-BookItalic"/>
            </a:endParaRPr>
          </a:p>
          <a:p>
            <a:pPr>
              <a:lnSpc>
                <a:spcPts val="2258"/>
              </a:lnSpc>
            </a:pPr>
            <a:endParaRPr lang="en-US" sz="2000" spc="-25" dirty="0">
              <a:solidFill>
                <a:srgbClr val="181A0D"/>
              </a:solidFill>
              <a:cs typeface="OAGDQN+FranklinGothic-BookItalic"/>
            </a:endParaRPr>
          </a:p>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800100" lvl="1" indent="-342900">
              <a:lnSpc>
                <a:spcPts val="2258"/>
              </a:lnSpc>
              <a:buFont typeface="Arial" panose="020B0604020202020204" pitchFamily="34" charset="0"/>
              <a:buChar char="•"/>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sp>
        <p:nvSpPr>
          <p:cNvPr id="6" name="object 4">
            <a:extLst>
              <a:ext uri="{FF2B5EF4-FFF2-40B4-BE49-F238E27FC236}">
                <a16:creationId xmlns:a16="http://schemas.microsoft.com/office/drawing/2014/main" id="{3AB54E8C-A2D6-6F7F-7472-2EF4711E11D4}"/>
              </a:ext>
            </a:extLst>
          </p:cNvPr>
          <p:cNvSpPr txBox="1"/>
          <p:nvPr/>
        </p:nvSpPr>
        <p:spPr>
          <a:xfrm>
            <a:off x="867913" y="1212744"/>
            <a:ext cx="2973409" cy="6989093"/>
          </a:xfrm>
          <a:prstGeom prst="rect">
            <a:avLst/>
          </a:prstGeom>
        </p:spPr>
        <p:txBody>
          <a:bodyPr vert="horz" wrap="square" lIns="0" tIns="0" rIns="0" bIns="0" rtlCol="0">
            <a:spAutoFit/>
          </a:bodyPr>
          <a:lstStyle/>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indent="-342900">
              <a:buFont typeface="Wingdings" pitchFamily="2" charset="2"/>
              <a:buChar char="q"/>
            </a:pPr>
            <a:r>
              <a:rPr lang="en-US" sz="2000" dirty="0"/>
              <a:t>Inclusion of adherence increased magnitude of hard drug coefficient</a:t>
            </a:r>
          </a:p>
          <a:p>
            <a:pPr marL="800100" lvl="1" indent="-342900">
              <a:buFont typeface="Wingdings" pitchFamily="2" charset="2"/>
              <a:buChar char="Ø"/>
            </a:pPr>
            <a:r>
              <a:rPr lang="en-US" sz="2000" dirty="0"/>
              <a:t>&lt;95% vs ≥95%</a:t>
            </a:r>
          </a:p>
          <a:p>
            <a:pPr marL="342900" indent="-342900">
              <a:buFont typeface="Wingdings" pitchFamily="2" charset="2"/>
              <a:buChar char="q"/>
            </a:pPr>
            <a:endParaRPr lang="en-US" sz="2000" dirty="0"/>
          </a:p>
          <a:p>
            <a:endParaRPr lang="en-US" sz="2000" dirty="0"/>
          </a:p>
          <a:p>
            <a:pPr marL="342900" indent="-342900">
              <a:buFont typeface="Wingdings" pitchFamily="2" charset="2"/>
              <a:buChar char="q"/>
            </a:pPr>
            <a:r>
              <a:rPr lang="en-US" sz="2000" dirty="0"/>
              <a:t>Proportion mediated negative</a:t>
            </a:r>
          </a:p>
          <a:p>
            <a:pPr marL="342900" indent="-342900">
              <a:buFont typeface="Wingdings" pitchFamily="2" charset="2"/>
              <a:buChar char="q"/>
            </a:pPr>
            <a:endParaRPr lang="en-US" sz="2000" dirty="0"/>
          </a:p>
          <a:p>
            <a:endParaRPr lang="en-US" sz="2000" dirty="0"/>
          </a:p>
          <a:p>
            <a:pPr marL="342900" indent="-342900">
              <a:buFont typeface="Wingdings" pitchFamily="2" charset="2"/>
              <a:buChar char="q"/>
            </a:pPr>
            <a:r>
              <a:rPr lang="en-US" sz="2000" dirty="0"/>
              <a:t>No evidence of meaningful mediation</a:t>
            </a:r>
          </a:p>
          <a:p>
            <a:pPr marL="342900" indent="-342900">
              <a:buFont typeface="Wingdings" pitchFamily="2" charset="2"/>
              <a:buChar char="q"/>
            </a:pPr>
            <a:endParaRPr lang="en-US" sz="2000" dirty="0"/>
          </a:p>
          <a:p>
            <a:pPr marL="342900" indent="-342900">
              <a:buFont typeface="Wingdings" pitchFamily="2" charset="2"/>
              <a:buChar char="q"/>
            </a:pPr>
            <a:r>
              <a:rPr lang="en-US" sz="2000" dirty="0"/>
              <a:t>Analysis limited by sparse data in adherence categories</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pic>
        <p:nvPicPr>
          <p:cNvPr id="9" name="Picture 8">
            <a:extLst>
              <a:ext uri="{FF2B5EF4-FFF2-40B4-BE49-F238E27FC236}">
                <a16:creationId xmlns:a16="http://schemas.microsoft.com/office/drawing/2014/main" id="{FF560D31-57C2-F34D-10FD-70C200250EBB}"/>
              </a:ext>
            </a:extLst>
          </p:cNvPr>
          <p:cNvPicPr>
            <a:picLocks noChangeAspect="1"/>
          </p:cNvPicPr>
          <p:nvPr/>
        </p:nvPicPr>
        <p:blipFill>
          <a:blip r:embed="rId4"/>
          <a:stretch>
            <a:fillRect/>
          </a:stretch>
        </p:blipFill>
        <p:spPr>
          <a:xfrm>
            <a:off x="3841322" y="1810161"/>
            <a:ext cx="8217579" cy="386370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7BFF8-83E8-1705-B857-C1662A4C399D}"/>
            </a:ext>
          </a:extLst>
        </p:cNvPr>
        <p:cNvGrpSpPr/>
        <p:nvPr/>
      </p:nvGrpSpPr>
      <p:grpSpPr>
        <a:xfrm>
          <a:off x="0" y="0"/>
          <a:ext cx="0" cy="0"/>
          <a:chOff x="0" y="0"/>
          <a:chExt cx="0" cy="0"/>
        </a:xfrm>
      </p:grpSpPr>
      <p:sp>
        <p:nvSpPr>
          <p:cNvPr id="2" name="object 1">
            <a:extLst>
              <a:ext uri="{FF2B5EF4-FFF2-40B4-BE49-F238E27FC236}">
                <a16:creationId xmlns:a16="http://schemas.microsoft.com/office/drawing/2014/main" id="{893EAD98-92CD-50E2-1499-119554E29617}"/>
              </a:ext>
            </a:extLst>
          </p:cNvPr>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a:extLst>
              <a:ext uri="{FF2B5EF4-FFF2-40B4-BE49-F238E27FC236}">
                <a16:creationId xmlns:a16="http://schemas.microsoft.com/office/drawing/2014/main" id="{918818CD-D913-2EBD-9985-7DE114355D85}"/>
              </a:ext>
            </a:extLst>
          </p:cNvPr>
          <p:cNvSpPr txBox="1"/>
          <p:nvPr/>
        </p:nvSpPr>
        <p:spPr>
          <a:xfrm>
            <a:off x="1271464" y="132743"/>
            <a:ext cx="4528479" cy="641201"/>
          </a:xfrm>
          <a:prstGeom prst="rect">
            <a:avLst/>
          </a:prstGeom>
        </p:spPr>
        <p:txBody>
          <a:bodyPr vert="horz" wrap="square" lIns="0" tIns="0" rIns="0" bIns="0" rtlCol="0">
            <a:spAutoFit/>
          </a:bodyPr>
          <a:lstStyle/>
          <a:p>
            <a:pPr marL="0" marR="0">
              <a:lnSpc>
                <a:spcPts val="4979"/>
              </a:lnSpc>
              <a:spcBef>
                <a:spcPts val="0"/>
              </a:spcBef>
              <a:spcAft>
                <a:spcPts val="0"/>
              </a:spcAft>
            </a:pPr>
            <a:r>
              <a:rPr sz="4400" spc="-11" dirty="0">
                <a:solidFill>
                  <a:srgbClr val="181A0D"/>
                </a:solidFill>
                <a:cs typeface="WPQCJM+FranklinGothic-Book"/>
              </a:rPr>
              <a:t>Results</a:t>
            </a:r>
            <a:r>
              <a:rPr lang="en-US" sz="4400" spc="-11" dirty="0">
                <a:solidFill>
                  <a:srgbClr val="181A0D"/>
                </a:solidFill>
                <a:cs typeface="WPQCJM+FranklinGothic-Book"/>
              </a:rPr>
              <a:t> – Dropouts</a:t>
            </a:r>
            <a:endParaRPr sz="4400" dirty="0">
              <a:solidFill>
                <a:srgbClr val="181A0D"/>
              </a:solidFill>
              <a:cs typeface="WPQCJM+FranklinGothic-Book"/>
            </a:endParaRPr>
          </a:p>
        </p:txBody>
      </p:sp>
      <p:sp>
        <p:nvSpPr>
          <p:cNvPr id="8" name="object 4">
            <a:extLst>
              <a:ext uri="{FF2B5EF4-FFF2-40B4-BE49-F238E27FC236}">
                <a16:creationId xmlns:a16="http://schemas.microsoft.com/office/drawing/2014/main" id="{7A565ACD-C3A5-C6FF-175E-9FA2948A8278}"/>
              </a:ext>
            </a:extLst>
          </p:cNvPr>
          <p:cNvSpPr txBox="1"/>
          <p:nvPr/>
        </p:nvSpPr>
        <p:spPr>
          <a:xfrm>
            <a:off x="911424" y="1196752"/>
            <a:ext cx="2905849" cy="6783908"/>
          </a:xfrm>
          <a:prstGeom prst="rect">
            <a:avLst/>
          </a:prstGeom>
        </p:spPr>
        <p:txBody>
          <a:bodyPr vert="horz" wrap="square" lIns="0" tIns="0" rIns="0" bIns="0" rtlCol="0">
            <a:spAutoFit/>
          </a:bodyPr>
          <a:lstStyle/>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indent="-342900">
              <a:lnSpc>
                <a:spcPts val="2258"/>
              </a:lnSpc>
              <a:buFont typeface="Wingdings" pitchFamily="2" charset="2"/>
              <a:buChar char="q"/>
            </a:pPr>
            <a:r>
              <a:rPr lang="en-US" b="1" dirty="0"/>
              <a:t>252 participants were missing Year 2 data (≈35%)</a:t>
            </a:r>
            <a:endParaRPr lang="en-US" dirty="0"/>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indent="-342900">
              <a:lnSpc>
                <a:spcPts val="2258"/>
              </a:lnSpc>
              <a:buFont typeface="Wingdings" pitchFamily="2" charset="2"/>
              <a:buChar char="q"/>
            </a:pPr>
            <a:r>
              <a:rPr lang="en-US" b="1" dirty="0"/>
              <a:t>Lower baseline physical QOL associated with dropout</a:t>
            </a:r>
          </a:p>
          <a:p>
            <a:pPr marL="342900" indent="-342900">
              <a:lnSpc>
                <a:spcPts val="2258"/>
              </a:lnSpc>
              <a:buFont typeface="Wingdings" pitchFamily="2" charset="2"/>
              <a:buChar char="q"/>
            </a:pPr>
            <a:endParaRPr lang="en-US" b="1" dirty="0"/>
          </a:p>
          <a:p>
            <a:pPr marL="342900" indent="-342900">
              <a:lnSpc>
                <a:spcPts val="2258"/>
              </a:lnSpc>
              <a:buFont typeface="Wingdings" pitchFamily="2" charset="2"/>
              <a:buChar char="q"/>
            </a:pPr>
            <a:r>
              <a:rPr lang="en-US" b="1" dirty="0"/>
              <a:t>Younger age associated with dropout</a:t>
            </a:r>
          </a:p>
          <a:p>
            <a:pPr marL="342900" marR="0" indent="-342900">
              <a:lnSpc>
                <a:spcPts val="2258"/>
              </a:lnSpc>
              <a:spcBef>
                <a:spcPts val="0"/>
              </a:spcBef>
              <a:spcAft>
                <a:spcPts val="0"/>
              </a:spcAft>
              <a:buFont typeface="Wingdings" pitchFamily="2" charset="2"/>
              <a:buChar char="Ø"/>
            </a:pPr>
            <a:endParaRPr lang="en-US" sz="2000" b="1" spc="-25" dirty="0">
              <a:solidFill>
                <a:srgbClr val="181A0D"/>
              </a:solidFill>
              <a:cs typeface="OAGDQN+FranklinGothic-BookItalic"/>
            </a:endParaRPr>
          </a:p>
          <a:p>
            <a:pPr>
              <a:lnSpc>
                <a:spcPts val="2258"/>
              </a:lnSpc>
            </a:pPr>
            <a:endParaRPr lang="en-US" sz="2000" spc="-25" dirty="0">
              <a:solidFill>
                <a:srgbClr val="181A0D"/>
              </a:solidFill>
              <a:cs typeface="OAGDQN+FranklinGothic-BookItalic"/>
            </a:endParaRPr>
          </a:p>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800100" lvl="1" indent="-342900">
              <a:lnSpc>
                <a:spcPts val="2258"/>
              </a:lnSpc>
              <a:buFont typeface="Arial" panose="020B0604020202020204" pitchFamily="34" charset="0"/>
              <a:buChar char="•"/>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pic>
        <p:nvPicPr>
          <p:cNvPr id="5" name="Picture 4" descr="A screenshot of a computer&#10;&#10;AI-generated content may be incorrect.">
            <a:extLst>
              <a:ext uri="{FF2B5EF4-FFF2-40B4-BE49-F238E27FC236}">
                <a16:creationId xmlns:a16="http://schemas.microsoft.com/office/drawing/2014/main" id="{971385C0-40DF-79F0-D47A-5B1F28B42EAA}"/>
              </a:ext>
            </a:extLst>
          </p:cNvPr>
          <p:cNvPicPr>
            <a:picLocks noChangeAspect="1"/>
          </p:cNvPicPr>
          <p:nvPr/>
        </p:nvPicPr>
        <p:blipFill>
          <a:blip r:embed="rId4"/>
          <a:stretch>
            <a:fillRect/>
          </a:stretch>
        </p:blipFill>
        <p:spPr>
          <a:xfrm>
            <a:off x="4187660" y="826193"/>
            <a:ext cx="7923482" cy="4396008"/>
          </a:xfrm>
          <a:prstGeom prst="rect">
            <a:avLst/>
          </a:prstGeom>
        </p:spPr>
      </p:pic>
      <p:pic>
        <p:nvPicPr>
          <p:cNvPr id="9" name="Picture 8">
            <a:extLst>
              <a:ext uri="{FF2B5EF4-FFF2-40B4-BE49-F238E27FC236}">
                <a16:creationId xmlns:a16="http://schemas.microsoft.com/office/drawing/2014/main" id="{D76EAC4B-A053-6B41-3285-C4D31E821E0B}"/>
              </a:ext>
            </a:extLst>
          </p:cNvPr>
          <p:cNvPicPr>
            <a:picLocks noChangeAspect="1"/>
          </p:cNvPicPr>
          <p:nvPr/>
        </p:nvPicPr>
        <p:blipFill>
          <a:blip r:embed="rId5"/>
          <a:stretch>
            <a:fillRect/>
          </a:stretch>
        </p:blipFill>
        <p:spPr>
          <a:xfrm>
            <a:off x="4143300" y="5274450"/>
            <a:ext cx="8012202" cy="1450807"/>
          </a:xfrm>
          <a:prstGeom prst="rect">
            <a:avLst/>
          </a:prstGeom>
        </p:spPr>
      </p:pic>
      <p:sp>
        <p:nvSpPr>
          <p:cNvPr id="10" name="Process 9">
            <a:extLst>
              <a:ext uri="{FF2B5EF4-FFF2-40B4-BE49-F238E27FC236}">
                <a16:creationId xmlns:a16="http://schemas.microsoft.com/office/drawing/2014/main" id="{BB1EA9AF-CF3B-589F-E74B-6D7D9947D0CD}"/>
              </a:ext>
            </a:extLst>
          </p:cNvPr>
          <p:cNvSpPr/>
          <p:nvPr/>
        </p:nvSpPr>
        <p:spPr>
          <a:xfrm>
            <a:off x="4187660" y="3284984"/>
            <a:ext cx="8004340" cy="720080"/>
          </a:xfrm>
          <a:prstGeom prst="flowChartProcess">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58924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a:p>
        </p:txBody>
      </p:sp>
      <p:sp>
        <p:nvSpPr>
          <p:cNvPr id="3" name="object 3"/>
          <p:cNvSpPr txBox="1"/>
          <p:nvPr/>
        </p:nvSpPr>
        <p:spPr>
          <a:xfrm>
            <a:off x="1343472" y="260648"/>
            <a:ext cx="2704871" cy="641201"/>
          </a:xfrm>
          <a:prstGeom prst="rect">
            <a:avLst/>
          </a:prstGeom>
        </p:spPr>
        <p:txBody>
          <a:bodyPr vert="horz" wrap="square" lIns="0" tIns="0" rIns="0" bIns="0" rtlCol="0">
            <a:spAutoFit/>
          </a:bodyPr>
          <a:lstStyle/>
          <a:p>
            <a:pPr marL="0" marR="0">
              <a:lnSpc>
                <a:spcPts val="4979"/>
              </a:lnSpc>
              <a:spcBef>
                <a:spcPts val="0"/>
              </a:spcBef>
              <a:spcAft>
                <a:spcPts val="0"/>
              </a:spcAft>
            </a:pPr>
            <a:r>
              <a:rPr lang="en-US" sz="4400" dirty="0">
                <a:solidFill>
                  <a:srgbClr val="181A0D"/>
                </a:solidFill>
                <a:cs typeface="LVLFDH+FranklinGothic-Book"/>
              </a:rPr>
              <a:t>Conclusions</a:t>
            </a:r>
            <a:endParaRPr sz="4400" dirty="0">
              <a:solidFill>
                <a:srgbClr val="181A0D"/>
              </a:solidFill>
              <a:cs typeface="LVLFDH+FranklinGothic-Book"/>
            </a:endParaRPr>
          </a:p>
        </p:txBody>
      </p:sp>
      <p:sp>
        <p:nvSpPr>
          <p:cNvPr id="5" name="object 4">
            <a:extLst>
              <a:ext uri="{FF2B5EF4-FFF2-40B4-BE49-F238E27FC236}">
                <a16:creationId xmlns:a16="http://schemas.microsoft.com/office/drawing/2014/main" id="{CAB99B72-60A9-3C59-378B-AECE9E804BCF}"/>
              </a:ext>
            </a:extLst>
          </p:cNvPr>
          <p:cNvSpPr txBox="1"/>
          <p:nvPr/>
        </p:nvSpPr>
        <p:spPr>
          <a:xfrm>
            <a:off x="1127448" y="1132209"/>
            <a:ext cx="10297144" cy="5899051"/>
          </a:xfrm>
          <a:prstGeom prst="rect">
            <a:avLst/>
          </a:prstGeom>
        </p:spPr>
        <p:txBody>
          <a:bodyPr vert="horz" wrap="square" lIns="0" tIns="0" rIns="0" bIns="0" rtlCol="0">
            <a:spAutoFit/>
          </a:bodyPr>
          <a:lstStyle/>
          <a:p>
            <a:pPr marL="342900" indent="-342900">
              <a:lnSpc>
                <a:spcPts val="2258"/>
              </a:lnSpc>
              <a:buFont typeface="Wingdings" pitchFamily="2" charset="2"/>
              <a:buChar char="q"/>
            </a:pPr>
            <a:r>
              <a:rPr lang="en-US" sz="2000" b="1" spc="-25" dirty="0">
                <a:solidFill>
                  <a:srgbClr val="181A0D"/>
                </a:solidFill>
                <a:cs typeface="OAGDQN+FranklinGothic-BookItalic"/>
              </a:rPr>
              <a:t>Findings:</a:t>
            </a:r>
          </a:p>
          <a:p>
            <a:pPr marL="800100" lvl="1" indent="-342900">
              <a:lnSpc>
                <a:spcPts val="2258"/>
              </a:lnSpc>
              <a:buFont typeface="Wingdings" pitchFamily="2" charset="2"/>
              <a:buChar char="Ø"/>
            </a:pPr>
            <a:r>
              <a:rPr lang="en-US" sz="2000" spc="-25" dirty="0">
                <a:solidFill>
                  <a:srgbClr val="181A0D"/>
                </a:solidFill>
                <a:cs typeface="OAGDQN+FranklinGothic-BookItalic"/>
              </a:rPr>
              <a:t>Lower CD4 T-cell counts among baseline hard drug users</a:t>
            </a:r>
          </a:p>
          <a:p>
            <a:pPr marL="800100" lvl="1" indent="-342900">
              <a:lnSpc>
                <a:spcPts val="2258"/>
              </a:lnSpc>
              <a:buFont typeface="Wingdings" pitchFamily="2" charset="2"/>
              <a:buChar char="Ø"/>
            </a:pPr>
            <a:r>
              <a:rPr lang="en-US" sz="2000" spc="-25" dirty="0">
                <a:solidFill>
                  <a:srgbClr val="181A0D"/>
                </a:solidFill>
                <a:cs typeface="OAGDQN+FranklinGothic-BookItalic"/>
              </a:rPr>
              <a:t>Lower physical QOL scores</a:t>
            </a:r>
          </a:p>
          <a:p>
            <a:pPr marL="800100" lvl="1" indent="-342900">
              <a:lnSpc>
                <a:spcPts val="2258"/>
              </a:lnSpc>
              <a:buFont typeface="Wingdings" pitchFamily="2" charset="2"/>
              <a:buChar char="Ø"/>
            </a:pPr>
            <a:r>
              <a:rPr lang="en-US" sz="2000" spc="-25" dirty="0">
                <a:solidFill>
                  <a:srgbClr val="181A0D"/>
                </a:solidFill>
                <a:cs typeface="OAGDQN+FranklinGothic-BookItalic"/>
              </a:rPr>
              <a:t>No meaningful differences in viral load or mental QOL</a:t>
            </a:r>
          </a:p>
          <a:p>
            <a:pPr marL="800100" lvl="1" indent="-342900">
              <a:lnSpc>
                <a:spcPts val="2258"/>
              </a:lnSpc>
              <a:buFont typeface="Wingdings" pitchFamily="2" charset="2"/>
              <a:buChar char="Ø"/>
            </a:pPr>
            <a:r>
              <a:rPr lang="en-US" sz="2000" spc="-25" dirty="0">
                <a:solidFill>
                  <a:srgbClr val="181A0D"/>
                </a:solidFill>
                <a:cs typeface="OAGDQN+FranklinGothic-BookItalic"/>
              </a:rPr>
              <a:t>Adherence wasn’t meaningful</a:t>
            </a:r>
          </a:p>
          <a:p>
            <a:pPr marL="800100" lvl="1" indent="-342900">
              <a:lnSpc>
                <a:spcPts val="2258"/>
              </a:lnSpc>
              <a:buFont typeface="Wingdings" pitchFamily="2" charset="2"/>
              <a:buChar char="Ø"/>
            </a:pPr>
            <a:r>
              <a:rPr lang="en-US" sz="2000" spc="-25" dirty="0">
                <a:solidFill>
                  <a:srgbClr val="181A0D"/>
                </a:solidFill>
                <a:cs typeface="OAGDQN+FranklinGothic-BookItalic"/>
              </a:rPr>
              <a:t>Younger age and physical QOL was associated with dropout</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q"/>
            </a:pPr>
            <a:r>
              <a:rPr lang="en-US" sz="2000" b="1" spc="-25" dirty="0">
                <a:solidFill>
                  <a:srgbClr val="181A0D"/>
                </a:solidFill>
                <a:cs typeface="OAGDQN+FranklinGothic-BookItalic"/>
              </a:rPr>
              <a:t>Limitations:</a:t>
            </a:r>
          </a:p>
          <a:p>
            <a:pPr marL="800100" lvl="1" indent="-342900">
              <a:lnSpc>
                <a:spcPts val="2258"/>
              </a:lnSpc>
              <a:buFont typeface="Wingdings" pitchFamily="2" charset="2"/>
              <a:buChar char="Ø"/>
            </a:pPr>
            <a:r>
              <a:rPr lang="en-US" sz="2000" spc="-25" dirty="0">
                <a:solidFill>
                  <a:srgbClr val="181A0D"/>
                </a:solidFill>
                <a:cs typeface="OAGDQN+FranklinGothic-BookItalic"/>
              </a:rPr>
              <a:t>Observational study design</a:t>
            </a:r>
          </a:p>
          <a:p>
            <a:pPr marL="800100" lvl="1" indent="-342900">
              <a:lnSpc>
                <a:spcPts val="2258"/>
              </a:lnSpc>
              <a:buFont typeface="Wingdings" pitchFamily="2" charset="2"/>
              <a:buChar char="Ø"/>
            </a:pPr>
            <a:r>
              <a:rPr lang="en-US" sz="2000" spc="-25" dirty="0">
                <a:solidFill>
                  <a:srgbClr val="181A0D"/>
                </a:solidFill>
                <a:cs typeface="OAGDQN+FranklinGothic-BookItalic"/>
              </a:rPr>
              <a:t>Adherence coded as binary (&lt;95% vs ≥95%)</a:t>
            </a:r>
          </a:p>
          <a:p>
            <a:pPr marL="800100" lvl="1" indent="-342900">
              <a:lnSpc>
                <a:spcPts val="2258"/>
              </a:lnSpc>
              <a:buFont typeface="Wingdings" pitchFamily="2" charset="2"/>
              <a:buChar char="Ø"/>
            </a:pPr>
            <a:r>
              <a:rPr lang="en-US" sz="2000" spc="-25" dirty="0">
                <a:solidFill>
                  <a:srgbClr val="181A0D"/>
                </a:solidFill>
                <a:cs typeface="OAGDQN+FranklinGothic-BookItalic"/>
              </a:rPr>
              <a:t>Mediation = exploratory/descriptive</a:t>
            </a:r>
          </a:p>
          <a:p>
            <a:pPr marL="800100" lvl="1" indent="-342900">
              <a:lnSpc>
                <a:spcPts val="2258"/>
              </a:lnSpc>
              <a:buFont typeface="Wingdings" pitchFamily="2" charset="2"/>
              <a:buChar char="Ø"/>
            </a:pPr>
            <a:r>
              <a:rPr lang="en-US" sz="2000" spc="-25" dirty="0">
                <a:solidFill>
                  <a:srgbClr val="181A0D"/>
                </a:solidFill>
                <a:cs typeface="OAGDQN+FranklinGothic-BookItalic"/>
              </a:rPr>
              <a:t>Hard drug user group was relatively small (36)</a:t>
            </a:r>
          </a:p>
          <a:p>
            <a:pPr marL="800100" lvl="1" indent="-342900">
              <a:lnSpc>
                <a:spcPts val="2258"/>
              </a:lnSpc>
              <a:buFont typeface="Wingdings" pitchFamily="2" charset="2"/>
              <a:buChar char="Ø"/>
            </a:pPr>
            <a:r>
              <a:rPr lang="en-US" sz="2000" spc="-25" dirty="0">
                <a:solidFill>
                  <a:srgbClr val="181A0D"/>
                </a:solidFill>
                <a:cs typeface="OAGDQN+FranklinGothic-BookItalic"/>
              </a:rPr>
              <a:t>Missing data suggests MAR but not proven</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spTree>
  </p:cSld>
  <p:clrMapOvr>
    <a:masterClrMapping/>
  </p:clrMapOvr>
</p:sld>
</file>

<file path=ppt/theme/theme1.xml><?xml version="1.0" encoding="utf-8"?>
<a:theme xmlns:a="http://schemas.openxmlformats.org/drawingml/2006/main" name="Theme Office">
  <a:themeElements>
    <a:clrScheme name="Standard">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tandar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9155</TotalTime>
  <Words>1370</Words>
  <Application>Microsoft Macintosh PowerPoint</Application>
  <PresentationFormat>Widescreen</PresentationFormat>
  <Paragraphs>206</Paragraphs>
  <Slides>8</Slides>
  <Notes>8</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8</vt:i4>
      </vt:variant>
    </vt:vector>
  </HeadingPairs>
  <TitlesOfParts>
    <vt:vector size="23" baseType="lpstr">
      <vt:lpstr>WPQCJM+FranklinGothic-Book</vt:lpstr>
      <vt:lpstr>MPIRPG+FranklinGothic-Book</vt:lpstr>
      <vt:lpstr>GEHAIV+FranklinGothic-Book</vt:lpstr>
      <vt:lpstr>NOOILK+FranklinGothic-Book</vt:lpstr>
      <vt:lpstr>KDMFEK+FranklinGothic-Book</vt:lpstr>
      <vt:lpstr>Cambria Math</vt:lpstr>
      <vt:lpstr>Calibri</vt:lpstr>
      <vt:lpstr>VTCKGD+FranklinGothic-Book</vt:lpstr>
      <vt:lpstr>LVLFDH+FranklinGothic-Book</vt:lpstr>
      <vt:lpstr>Wingdings</vt:lpstr>
      <vt:lpstr>OAGDQN+FranklinGothic-BookItalic</vt:lpstr>
      <vt:lpstr>Courier New</vt:lpstr>
      <vt:lpstr>Aptos</vt:lpstr>
      <vt:lpstr>Arial</vt:lpstr>
      <vt:lpstr>Theme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PowerPoint</dc:title>
  <dc:creator>root</dc:creator>
  <cp:lastModifiedBy>Ryan Summers</cp:lastModifiedBy>
  <cp:revision>298</cp:revision>
  <dcterms:modified xsi:type="dcterms:W3CDTF">2026-03-02T18:56:41Z</dcterms:modified>
</cp:coreProperties>
</file>