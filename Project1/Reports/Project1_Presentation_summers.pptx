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60" r:id="rId2"/>
    <p:sldId id="261" r:id="rId3"/>
    <p:sldId id="262" r:id="rId4"/>
    <p:sldId id="263" r:id="rId5"/>
    <p:sldId id="264" r:id="rId6"/>
    <p:sldId id="265" r:id="rId7"/>
    <p:sldId id="267" r:id="rId8"/>
    <p:sldId id="266" r:id="rId9"/>
  </p:sldIdLst>
  <p:sldSz cx="12192000" cy="6858000"/>
  <p:notesSz cx="12192000" cy="6858000"/>
  <p:embeddedFontLst>
    <p:embeddedFont>
      <p:font typeface="Cambria Math" panose="02040503050406030204" pitchFamily="18" charset="0"/>
      <p:regular r:id="rId11"/>
    </p:embeddedFont>
    <p:embeddedFont>
      <p:font typeface="GEHAIV+FranklinGothic-Book" panose="02000500000000000000" pitchFamily="2" charset="0"/>
      <p:regular r:id="rId12"/>
    </p:embeddedFont>
    <p:embeddedFont>
      <p:font typeface="KDMFEK+FranklinGothic-Book" panose="02000500000000000000" pitchFamily="2" charset="0"/>
      <p:regular r:id="rId13"/>
    </p:embeddedFont>
    <p:embeddedFont>
      <p:font typeface="LVLFDH+FranklinGothic-Book" panose="02000500000000000000" pitchFamily="2" charset="0"/>
      <p:regular r:id="rId14"/>
    </p:embeddedFont>
    <p:embeddedFont>
      <p:font typeface="MPIRPG+FranklinGothic-Book" panose="02000500000000000000" pitchFamily="2" charset="0"/>
      <p:regular r:id="rId15"/>
    </p:embeddedFont>
    <p:embeddedFont>
      <p:font typeface="NOOILK+FranklinGothic-Book" panose="02000500000000000000" pitchFamily="2" charset="0"/>
      <p:regular r:id="rId16"/>
    </p:embeddedFont>
    <p:embeddedFont>
      <p:font typeface="OAGDQN+FranklinGothic-BookItalic" panose="02000500000000000000" pitchFamily="2" charset="0"/>
      <p:regular r:id="rId17"/>
    </p:embeddedFont>
    <p:embeddedFont>
      <p:font typeface="VTCKGD+FranklinGothic-Book" panose="02000500000000000000" pitchFamily="2" charset="0"/>
      <p:regular r:id="rId18"/>
    </p:embeddedFont>
    <p:embeddedFont>
      <p:font typeface="WPQCJM+FranklinGothic-Book" panose="02000500000000000000"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34"/>
    <p:restoredTop sz="70626"/>
  </p:normalViewPr>
  <p:slideViewPr>
    <p:cSldViewPr>
      <p:cViewPr varScale="1">
        <p:scale>
          <a:sx n="84" d="100"/>
          <a:sy n="84" d="100"/>
        </p:scale>
        <p:origin x="1208"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8F60B00-F7D7-A048-9DE8-3D2F737BCA40}" type="datetimeFigureOut">
              <a:rPr lang="en-US" smtClean="0"/>
              <a:t>2/27/26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055A014-AA40-5B4A-A5FD-4F58A1D7AE4A}" type="slidenum">
              <a:rPr lang="en-US" smtClean="0"/>
              <a:t>‹#›</a:t>
            </a:fld>
            <a:endParaRPr lang="en-US"/>
          </a:p>
        </p:txBody>
      </p:sp>
    </p:spTree>
    <p:extLst>
      <p:ext uri="{BB962C8B-B14F-4D97-AF65-F5344CB8AC3E}">
        <p14:creationId xmlns:p14="http://schemas.microsoft.com/office/powerpoint/2010/main" val="1528169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055A014-AA40-5B4A-A5FD-4F58A1D7AE4A}" type="slidenum">
              <a:rPr lang="en-US" smtClean="0"/>
              <a:t>1</a:t>
            </a:fld>
            <a:endParaRPr lang="en-US"/>
          </a:p>
        </p:txBody>
      </p:sp>
    </p:spTree>
    <p:extLst>
      <p:ext uri="{BB962C8B-B14F-4D97-AF65-F5344CB8AC3E}">
        <p14:creationId xmlns:p14="http://schemas.microsoft.com/office/powerpoint/2010/main" val="720008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project was guided by three research questions: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question is addressing whether there will be decrease in viral load and an increase in CD4 counts at year-2 check up.</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Its hypothesized that Year 2 viral load will be higher among hard drug users as compared to non-users and CD4 counts lower</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Second question is looking at physical and mental QOL metrics.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Hypothesis is addressing any differences between hard drug users and non-users</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Third question is determining adherence mediates the association between hard drug use and year-2 outcomes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Lastly, we are determining if there is a difference in drop out rates between users and non-users</a:t>
            </a:r>
            <a:endParaRPr lang="en-US" dirty="0"/>
          </a:p>
        </p:txBody>
      </p:sp>
      <p:sp>
        <p:nvSpPr>
          <p:cNvPr id="4" name="Slide Number Placeholder 3"/>
          <p:cNvSpPr>
            <a:spLocks noGrp="1"/>
          </p:cNvSpPr>
          <p:nvPr>
            <p:ph type="sldNum" sz="quarter" idx="5"/>
          </p:nvPr>
        </p:nvSpPr>
        <p:spPr/>
        <p:txBody>
          <a:bodyPr/>
          <a:lstStyle/>
          <a:p>
            <a:fld id="{8055A014-AA40-5B4A-A5FD-4F58A1D7AE4A}" type="slidenum">
              <a:rPr lang="en-US" smtClean="0"/>
              <a:t>2</a:t>
            </a:fld>
            <a:endParaRPr lang="en-US"/>
          </a:p>
        </p:txBody>
      </p:sp>
    </p:spTree>
    <p:extLst>
      <p:ext uri="{BB962C8B-B14F-4D97-AF65-F5344CB8AC3E}">
        <p14:creationId xmlns:p14="http://schemas.microsoft.com/office/powerpoint/2010/main" val="2469612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Data comes from the MAC study which is a prospective cohort study of HIV-1 infection in homosexual and bisexual men from four major cities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715 subjects were in the original dataset</a:t>
            </a:r>
          </a:p>
          <a:p>
            <a:r>
              <a:rPr lang="en-US" sz="1200" kern="1200" dirty="0">
                <a:solidFill>
                  <a:schemeClr val="tx1"/>
                </a:solidFill>
                <a:effectLst/>
                <a:latin typeface="+mn-lt"/>
                <a:ea typeface="+mn-ea"/>
                <a:cs typeface="+mn-cs"/>
              </a:rPr>
              <a:t>With the implausible BMI values labeled as missing and doing a complete-case analysis on all outcomes and covariates reduced the dataset to 463 subjects being used</a:t>
            </a:r>
          </a:p>
          <a:p>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8055A014-AA40-5B4A-A5FD-4F58A1D7AE4A}" type="slidenum">
              <a:rPr lang="en-US" smtClean="0"/>
              <a:t>3</a:t>
            </a:fld>
            <a:endParaRPr lang="en-US"/>
          </a:p>
        </p:txBody>
      </p:sp>
    </p:spTree>
    <p:extLst>
      <p:ext uri="{BB962C8B-B14F-4D97-AF65-F5344CB8AC3E}">
        <p14:creationId xmlns:p14="http://schemas.microsoft.com/office/powerpoint/2010/main" val="774045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a:t>
            </a:r>
            <a:r>
              <a:rPr lang="en-US" dirty="0"/>
              <a:t>=3 gives heavy tails to give less influence</a:t>
            </a:r>
          </a:p>
        </p:txBody>
      </p:sp>
      <p:sp>
        <p:nvSpPr>
          <p:cNvPr id="4" name="Slide Number Placeholder 3"/>
          <p:cNvSpPr>
            <a:spLocks noGrp="1"/>
          </p:cNvSpPr>
          <p:nvPr>
            <p:ph type="sldNum" sz="quarter" idx="5"/>
          </p:nvPr>
        </p:nvSpPr>
        <p:spPr/>
        <p:txBody>
          <a:bodyPr/>
          <a:lstStyle/>
          <a:p>
            <a:fld id="{8055A014-AA40-5B4A-A5FD-4F58A1D7AE4A}" type="slidenum">
              <a:rPr lang="en-US" smtClean="0"/>
              <a:t>4</a:t>
            </a:fld>
            <a:endParaRPr lang="en-US"/>
          </a:p>
        </p:txBody>
      </p:sp>
    </p:spTree>
    <p:extLst>
      <p:ext uri="{BB962C8B-B14F-4D97-AF65-F5344CB8AC3E}">
        <p14:creationId xmlns:p14="http://schemas.microsoft.com/office/powerpoint/2010/main" val="1144915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for results</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055A014-AA40-5B4A-A5FD-4F58A1D7AE4A}" type="slidenum">
              <a:rPr lang="en-US" smtClean="0"/>
              <a:t>5</a:t>
            </a:fld>
            <a:endParaRPr lang="en-US"/>
          </a:p>
        </p:txBody>
      </p:sp>
    </p:spTree>
    <p:extLst>
      <p:ext uri="{BB962C8B-B14F-4D97-AF65-F5344CB8AC3E}">
        <p14:creationId xmlns:p14="http://schemas.microsoft.com/office/powerpoint/2010/main" val="826435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Loss to follow-up was associated with lower baseline physical QOL scores within both hard drug users and non-</a:t>
            </a:r>
            <a:r>
              <a:rPr lang="en-US" dirty="0" err="1"/>
              <a:t>busers</a:t>
            </a:r>
            <a:r>
              <a:rPr lang="en-US" dirty="0"/>
              <a:t> but not associated with baseline laboratory measures</a:t>
            </a:r>
          </a:p>
        </p:txBody>
      </p:sp>
      <p:sp>
        <p:nvSpPr>
          <p:cNvPr id="4" name="Slide Number Placeholder 3"/>
          <p:cNvSpPr>
            <a:spLocks noGrp="1"/>
          </p:cNvSpPr>
          <p:nvPr>
            <p:ph type="sldNum" sz="quarter" idx="5"/>
          </p:nvPr>
        </p:nvSpPr>
        <p:spPr/>
        <p:txBody>
          <a:bodyPr/>
          <a:lstStyle/>
          <a:p>
            <a:fld id="{8055A014-AA40-5B4A-A5FD-4F58A1D7AE4A}" type="slidenum">
              <a:rPr lang="en-US" smtClean="0"/>
              <a:t>6</a:t>
            </a:fld>
            <a:endParaRPr lang="en-US"/>
          </a:p>
        </p:txBody>
      </p:sp>
    </p:spTree>
    <p:extLst>
      <p:ext uri="{BB962C8B-B14F-4D97-AF65-F5344CB8AC3E}">
        <p14:creationId xmlns:p14="http://schemas.microsoft.com/office/powerpoint/2010/main" val="3152127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2795-C7C6-4CFF-FB8D-74FB9212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F8C60-3717-8C63-2521-FF787C813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63FB7-7ADD-CDBA-2977-663E8B4F44BE}"/>
              </a:ext>
            </a:extLst>
          </p:cNvPr>
          <p:cNvSpPr>
            <a:spLocks noGrp="1"/>
          </p:cNvSpPr>
          <p:nvPr>
            <p:ph type="body" idx="1"/>
          </p:nvPr>
        </p:nvSpPr>
        <p:spPr/>
        <p:txBody>
          <a:bodyPr/>
          <a:lstStyle/>
          <a:p>
            <a:pPr marL="0" indent="0">
              <a:buFont typeface="Arial" panose="020B0604020202020204" pitchFamily="34" charset="0"/>
              <a:buNone/>
            </a:pPr>
            <a:r>
              <a:rPr lang="en-US" sz="1200" kern="1200" dirty="0">
                <a:solidFill>
                  <a:schemeClr val="tx1"/>
                </a:solidFill>
                <a:effectLst/>
                <a:latin typeface="+mn-lt"/>
                <a:ea typeface="+mn-ea"/>
                <a:cs typeface="+mn-cs"/>
              </a:rPr>
              <a:t>Baseline lab and quality-of-life measures between participants by whether they had complete measurements or not, and stratified by baseline hard drug use</a:t>
            </a:r>
            <a:r>
              <a:rPr lang="en-US" dirty="0">
                <a:effectLst/>
              </a:rPr>
              <a:t> </a:t>
            </a: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Loss to follow-up appeared to be most associated with lower baseline physical QOL scores within both hard drug users and non-users but not so with baseline laboratory measures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Younger age -&gt; higher odds of dropping out</a:t>
            </a:r>
          </a:p>
          <a:p>
            <a:pPr marL="171450" indent="-171450">
              <a:buFont typeface="Arial" panose="020B0604020202020204" pitchFamily="34" charset="0"/>
              <a:buChar char="•"/>
            </a:pPr>
            <a:r>
              <a:rPr lang="en-US" dirty="0"/>
              <a:t>Lower physical QOL = higher odds of dropping out</a:t>
            </a:r>
          </a:p>
        </p:txBody>
      </p:sp>
      <p:sp>
        <p:nvSpPr>
          <p:cNvPr id="4" name="Slide Number Placeholder 3">
            <a:extLst>
              <a:ext uri="{FF2B5EF4-FFF2-40B4-BE49-F238E27FC236}">
                <a16:creationId xmlns:a16="http://schemas.microsoft.com/office/drawing/2014/main" id="{4BF687E7-EE41-77F6-A19D-4CEC4F60E66B}"/>
              </a:ext>
            </a:extLst>
          </p:cNvPr>
          <p:cNvSpPr>
            <a:spLocks noGrp="1"/>
          </p:cNvSpPr>
          <p:nvPr>
            <p:ph type="sldNum" sz="quarter" idx="5"/>
          </p:nvPr>
        </p:nvSpPr>
        <p:spPr/>
        <p:txBody>
          <a:bodyPr/>
          <a:lstStyle/>
          <a:p>
            <a:fld id="{8055A014-AA40-5B4A-A5FD-4F58A1D7AE4A}" type="slidenum">
              <a:rPr lang="en-US" smtClean="0"/>
              <a:t>7</a:t>
            </a:fld>
            <a:endParaRPr lang="en-US"/>
          </a:p>
        </p:txBody>
      </p:sp>
    </p:spTree>
    <p:extLst>
      <p:ext uri="{BB962C8B-B14F-4D97-AF65-F5344CB8AC3E}">
        <p14:creationId xmlns:p14="http://schemas.microsoft.com/office/powerpoint/2010/main" val="3777470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summary,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year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Overall, these findings suggest that baseline hard drug use is associated with poorer immunologic recovery and lower physical quality of life following HAART initiation, but adherence does not appear to meaningfully mediate these associations.</a:t>
            </a:r>
          </a:p>
          <a:p>
            <a:endParaRPr lang="en-US" sz="1200" kern="1200" dirty="0">
              <a:solidFill>
                <a:schemeClr val="tx1"/>
              </a:solidFill>
              <a:effectLst/>
              <a:latin typeface="+mn-lt"/>
              <a:ea typeface="+mn-ea"/>
              <a:cs typeface="+mn-cs"/>
            </a:endParaRPr>
          </a:p>
          <a:p>
            <a:endParaRPr lang="en-US" dirty="0"/>
          </a:p>
          <a:p>
            <a:r>
              <a:rPr lang="en-US" dirty="0"/>
              <a:t>Limitations:</a:t>
            </a:r>
          </a:p>
          <a:p>
            <a:r>
              <a:rPr lang="en-US" dirty="0"/>
              <a:t>Study can suffer bias from lack of randomization and unmeasured variables</a:t>
            </a:r>
          </a:p>
          <a:p>
            <a:r>
              <a:rPr lang="en-US" dirty="0"/>
              <a:t>Adherence was coded as binary – which may be too simplistic for classification. </a:t>
            </a:r>
          </a:p>
          <a:p>
            <a:pPr marL="171450" indent="-171450">
              <a:buFont typeface="Arial" panose="020B0604020202020204" pitchFamily="34" charset="0"/>
              <a:buChar char="•"/>
            </a:pPr>
            <a:r>
              <a:rPr lang="en-US" dirty="0"/>
              <a:t>Because of this classification and the negative proportion mediated, Adherence overall should be interpretated as more descriptive rather than a formal mediation approach</a:t>
            </a:r>
          </a:p>
          <a:p>
            <a:pPr marL="171450" indent="-171450">
              <a:buFont typeface="Arial" panose="020B0604020202020204" pitchFamily="34" charset="0"/>
              <a:buChar char="•"/>
            </a:pPr>
            <a:r>
              <a:rPr lang="en-US" dirty="0"/>
              <a:t>It also has strong confounding assumptions which can never be fully verified with observation studies </a:t>
            </a:r>
          </a:p>
          <a:p>
            <a:r>
              <a:rPr lang="en-US" dirty="0"/>
              <a:t>Hard drug user group was relatively small so we may not have had enough to power to make precise comparisons</a:t>
            </a:r>
          </a:p>
          <a:p>
            <a:r>
              <a:rPr lang="en-US" dirty="0"/>
              <a:t>SF-36 scores are limited in interpretation because it typically requires comparisons matched on </a:t>
            </a:r>
            <a:r>
              <a:rPr lang="en-US" dirty="0" err="1"/>
              <a:t>Age,Sex</a:t>
            </a:r>
            <a:r>
              <a:rPr lang="en-US" dirty="0"/>
              <a:t>, or other demographics, which was not done here</a:t>
            </a:r>
          </a:p>
          <a:p>
            <a:r>
              <a:rPr lang="en-US" dirty="0"/>
              <a:t>Lastly, missingness appeared to be associated with age and physical health, which were observed, but it may depend on some unmeasured factor that we did not model. So it suggests MAR but doesn’t prove it</a:t>
            </a:r>
          </a:p>
        </p:txBody>
      </p:sp>
      <p:sp>
        <p:nvSpPr>
          <p:cNvPr id="4" name="Slide Number Placeholder 3"/>
          <p:cNvSpPr>
            <a:spLocks noGrp="1"/>
          </p:cNvSpPr>
          <p:nvPr>
            <p:ph type="sldNum" sz="quarter" idx="5"/>
          </p:nvPr>
        </p:nvSpPr>
        <p:spPr/>
        <p:txBody>
          <a:bodyPr/>
          <a:lstStyle/>
          <a:p>
            <a:fld id="{8055A014-AA40-5B4A-A5FD-4F58A1D7AE4A}" type="slidenum">
              <a:rPr lang="en-US" smtClean="0"/>
              <a:t>8</a:t>
            </a:fld>
            <a:endParaRPr lang="en-US"/>
          </a:p>
        </p:txBody>
      </p:sp>
    </p:spTree>
    <p:extLst>
      <p:ext uri="{BB962C8B-B14F-4D97-AF65-F5344CB8AC3E}">
        <p14:creationId xmlns:p14="http://schemas.microsoft.com/office/powerpoint/2010/main" val="400297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2/27/26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2/27/26</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a:p>
        </p:txBody>
      </p:sp>
      <p:sp>
        <p:nvSpPr>
          <p:cNvPr id="3" name="object 3"/>
          <p:cNvSpPr txBox="1"/>
          <p:nvPr/>
        </p:nvSpPr>
        <p:spPr>
          <a:xfrm>
            <a:off x="-240704" y="1453331"/>
            <a:ext cx="10729192" cy="1958678"/>
          </a:xfrm>
          <a:prstGeom prst="rect">
            <a:avLst/>
          </a:prstGeom>
        </p:spPr>
        <p:txBody>
          <a:bodyPr vert="horz" wrap="square" lIns="0" tIns="0" rIns="0" bIns="0" rtlCol="0">
            <a:spAutoFit/>
          </a:bodyPr>
          <a:lstStyle/>
          <a:p>
            <a:pPr marL="1816354" marR="0" algn="ctr">
              <a:lnSpc>
                <a:spcPts val="8163"/>
              </a:lnSpc>
              <a:spcBef>
                <a:spcPts val="0"/>
              </a:spcBef>
              <a:spcAft>
                <a:spcPts val="0"/>
              </a:spcAft>
            </a:pPr>
            <a:r>
              <a:rPr lang="en-US" sz="3500" dirty="0">
                <a:solidFill>
                  <a:srgbClr val="181A0D"/>
                </a:solidFill>
                <a:cs typeface="GEHAIV+FranklinGothic-Book"/>
              </a:rPr>
              <a:t>Evaluating Two-Year HAART Treatment Response Among Hard Drug Users and Non-Users</a:t>
            </a:r>
            <a:endParaRPr sz="3500" spc="-75" dirty="0">
              <a:solidFill>
                <a:srgbClr val="181A0D"/>
              </a:solidFill>
              <a:cs typeface="GEHAIV+FranklinGothic-Book"/>
            </a:endParaRPr>
          </a:p>
        </p:txBody>
      </p:sp>
      <p:sp>
        <p:nvSpPr>
          <p:cNvPr id="4" name="object 4"/>
          <p:cNvSpPr txBox="1"/>
          <p:nvPr/>
        </p:nvSpPr>
        <p:spPr>
          <a:xfrm>
            <a:off x="4507565" y="3861048"/>
            <a:ext cx="3176870" cy="730969"/>
          </a:xfrm>
          <a:prstGeom prst="rect">
            <a:avLst/>
          </a:prstGeom>
        </p:spPr>
        <p:txBody>
          <a:bodyPr vert="horz" wrap="square" lIns="0" tIns="0" rIns="0" bIns="0" rtlCol="0">
            <a:spAutoFit/>
          </a:bodyPr>
          <a:lstStyle/>
          <a:p>
            <a:pPr marL="0" marR="0" algn="ctr">
              <a:lnSpc>
                <a:spcPts val="2612"/>
              </a:lnSpc>
              <a:spcBef>
                <a:spcPts val="0"/>
              </a:spcBef>
              <a:spcAft>
                <a:spcPts val="0"/>
              </a:spcAft>
            </a:pPr>
            <a:r>
              <a:rPr lang="en-US" sz="2300" dirty="0">
                <a:solidFill>
                  <a:srgbClr val="181A0D"/>
                </a:solidFill>
                <a:cs typeface="GEHAIV+FranklinGothic-Book"/>
              </a:rPr>
              <a:t>Ryan Summers</a:t>
            </a:r>
            <a:endParaRPr sz="2300" dirty="0">
              <a:solidFill>
                <a:srgbClr val="181A0D"/>
              </a:solidFill>
              <a:cs typeface="GEHAIV+FranklinGothic-Book"/>
            </a:endParaRPr>
          </a:p>
          <a:p>
            <a:pPr marL="77914" marR="0" algn="ctr">
              <a:lnSpc>
                <a:spcPts val="2612"/>
              </a:lnSpc>
              <a:spcBef>
                <a:spcPts val="459"/>
              </a:spcBef>
              <a:spcAft>
                <a:spcPts val="0"/>
              </a:spcAft>
            </a:pPr>
            <a:r>
              <a:rPr lang="en-US" sz="2300" spc="-13" dirty="0">
                <a:solidFill>
                  <a:srgbClr val="181A0D"/>
                </a:solidFill>
                <a:cs typeface="GEHAIV+FranklinGothic-Book"/>
              </a:rPr>
              <a:t>3/2/26</a:t>
            </a:r>
            <a:endParaRPr sz="2300" spc="-13" dirty="0">
              <a:solidFill>
                <a:srgbClr val="181A0D"/>
              </a:solidFill>
              <a:cs typeface="GEHAIV+FranklinGothic-Boo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17029" y="16706"/>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1199456" y="181814"/>
            <a:ext cx="5065008"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spc="-21" dirty="0">
                <a:solidFill>
                  <a:srgbClr val="181A0D"/>
                </a:solidFill>
                <a:cs typeface="KDMFEK+FranklinGothic-Book"/>
              </a:rPr>
              <a:t>Research</a:t>
            </a:r>
            <a:r>
              <a:rPr sz="4400" spc="21" dirty="0">
                <a:solidFill>
                  <a:srgbClr val="181A0D"/>
                </a:solidFill>
                <a:cs typeface="KDMFEK+FranklinGothic-Book"/>
              </a:rPr>
              <a:t> </a:t>
            </a:r>
            <a:r>
              <a:rPr sz="4400" dirty="0">
                <a:solidFill>
                  <a:srgbClr val="181A0D"/>
                </a:solidFill>
                <a:cs typeface="KDMFEK+FranklinGothic-Book"/>
              </a:rPr>
              <a:t>Question</a:t>
            </a:r>
            <a:r>
              <a:rPr lang="en-US" sz="4400" dirty="0">
                <a:solidFill>
                  <a:srgbClr val="181A0D"/>
                </a:solidFill>
                <a:cs typeface="KDMFEK+FranklinGothic-Book"/>
              </a:rPr>
              <a:t>s</a:t>
            </a:r>
            <a:endParaRPr sz="4400" dirty="0">
              <a:solidFill>
                <a:srgbClr val="181A0D"/>
              </a:solidFill>
              <a:cs typeface="KDMFEK+FranklinGothic-Book"/>
            </a:endParaRPr>
          </a:p>
        </p:txBody>
      </p:sp>
      <p:sp>
        <p:nvSpPr>
          <p:cNvPr id="6" name="TextBox 5">
            <a:extLst>
              <a:ext uri="{FF2B5EF4-FFF2-40B4-BE49-F238E27FC236}">
                <a16:creationId xmlns:a16="http://schemas.microsoft.com/office/drawing/2014/main" id="{8701BA5A-512C-C680-9EBD-36CA578908FA}"/>
              </a:ext>
            </a:extLst>
          </p:cNvPr>
          <p:cNvSpPr txBox="1"/>
          <p:nvPr/>
        </p:nvSpPr>
        <p:spPr>
          <a:xfrm>
            <a:off x="1055440" y="971873"/>
            <a:ext cx="10801200" cy="6088846"/>
          </a:xfrm>
          <a:prstGeom prst="rect">
            <a:avLst/>
          </a:prstGeom>
          <a:noFill/>
        </p:spPr>
        <p:txBody>
          <a:bodyPr wrap="square">
            <a:spAutoFit/>
          </a:bodyPr>
          <a:lstStyle/>
          <a:p>
            <a:pPr marL="285750" indent="-285750">
              <a:lnSpc>
                <a:spcPts val="2258"/>
              </a:lnSpc>
              <a:buFont typeface="Wingdings" pitchFamily="2" charset="2"/>
              <a:buChar char="q"/>
            </a:pPr>
            <a:r>
              <a:rPr lang="en-US" sz="2000" b="1" dirty="0">
                <a:solidFill>
                  <a:srgbClr val="181A0D"/>
                </a:solidFill>
              </a:rPr>
              <a:t>Once HAART is initiated, is there a decrease in viral load (HIV copies per mL) and an increase in CD4+ T counts (cells/mm³)</a:t>
            </a:r>
            <a:r>
              <a:rPr lang="en-US" sz="2000" b="1" dirty="0"/>
              <a:t>?</a:t>
            </a:r>
            <a:endParaRPr lang="en-US" sz="2000" b="1" dirty="0">
              <a:solidFill>
                <a:srgbClr val="181A0D"/>
              </a:solidFill>
            </a:endParaRPr>
          </a:p>
          <a:p>
            <a:pPr marL="742950" lvl="1" indent="-285750">
              <a:lnSpc>
                <a:spcPts val="2258"/>
              </a:lnSpc>
              <a:buFont typeface="Wingdings" pitchFamily="2" charset="2"/>
              <a:buChar char="Ø"/>
            </a:pPr>
            <a:r>
              <a:rPr lang="en-US" sz="2000" i="1" dirty="0">
                <a:solidFill>
                  <a:srgbClr val="181A0D"/>
                </a:solidFill>
                <a:cs typeface="OAGDQN+FranklinGothic-BookItalic"/>
              </a:rPr>
              <a:t>Hypothesis</a:t>
            </a:r>
            <a:r>
              <a:rPr lang="en-US" sz="2000" dirty="0">
                <a:solidFill>
                  <a:srgbClr val="181A0D"/>
                </a:solidFill>
                <a:cs typeface="OAGDQN+FranklinGothic-BookItalic"/>
              </a:rPr>
              <a:t>: Year-2 viral load will be higher among homosexual and bisexual men with HIV-1, who reported baseline hard drug use as compared with non-users</a:t>
            </a:r>
          </a:p>
          <a:p>
            <a:pPr marL="742950" lvl="1" indent="-285750">
              <a:lnSpc>
                <a:spcPts val="2258"/>
              </a:lnSpc>
              <a:buFont typeface="Wingdings" pitchFamily="2" charset="2"/>
              <a:buChar char="Ø"/>
            </a:pPr>
            <a:r>
              <a:rPr lang="en-US" sz="2000" i="1" dirty="0">
                <a:solidFill>
                  <a:srgbClr val="181A0D"/>
                </a:solidFill>
                <a:cs typeface="OAGDQN+FranklinGothic-BookItalic"/>
              </a:rPr>
              <a:t>Hypothesis</a:t>
            </a:r>
            <a:r>
              <a:rPr lang="en-US" sz="2000" dirty="0">
                <a:solidFill>
                  <a:srgbClr val="181A0D"/>
                </a:solidFill>
                <a:cs typeface="OAGDQN+FranklinGothic-BookItalic"/>
              </a:rPr>
              <a:t>: Year-2 CD4+ T-cell counts will be lower among homosexual and bisexual men with HIV-1, who reported baseline hard drug use as compared with non-users</a:t>
            </a:r>
          </a:p>
          <a:p>
            <a:pPr lvl="1">
              <a:lnSpc>
                <a:spcPts val="2258"/>
              </a:lnSpc>
            </a:pPr>
            <a:endParaRPr lang="en-US" sz="2000" dirty="0">
              <a:solidFill>
                <a:srgbClr val="181A0D"/>
              </a:solidFill>
              <a:cs typeface="OAGDQN+FranklinGothic-BookItalic"/>
            </a:endParaRPr>
          </a:p>
          <a:p>
            <a:pPr marL="285750" indent="-285750">
              <a:buFont typeface="Wingdings" pitchFamily="2" charset="2"/>
              <a:buChar char="q"/>
            </a:pPr>
            <a:r>
              <a:rPr lang="en-US" sz="2000" b="1" dirty="0"/>
              <a:t>What happens to physical and mental quality-of-life (QOL) scores after HAART initiation?</a:t>
            </a:r>
          </a:p>
          <a:p>
            <a:pPr marL="742950" lvl="1" indent="-285750">
              <a:lnSpc>
                <a:spcPts val="2258"/>
              </a:lnSpc>
              <a:buFont typeface="Wingdings" pitchFamily="2" charset="2"/>
              <a:buChar char="Ø"/>
            </a:pPr>
            <a:r>
              <a:rPr lang="en-US" sz="2000" i="1" dirty="0">
                <a:solidFill>
                  <a:srgbClr val="181A0D"/>
                </a:solidFill>
                <a:cs typeface="OAGDQN+FranklinGothic-BookItalic"/>
              </a:rPr>
              <a:t>Hypothesis</a:t>
            </a:r>
            <a:r>
              <a:rPr lang="en-US" sz="2000" dirty="0">
                <a:solidFill>
                  <a:srgbClr val="181A0D"/>
                </a:solidFill>
                <a:cs typeface="OAGDQN+FranklinGothic-BookItalic"/>
              </a:rPr>
              <a:t>: Year-2 physical QOL will differ between hard drug users and non-users</a:t>
            </a:r>
          </a:p>
          <a:p>
            <a:pPr marL="742950" lvl="1" indent="-285750">
              <a:lnSpc>
                <a:spcPts val="2258"/>
              </a:lnSpc>
              <a:buFont typeface="Wingdings" pitchFamily="2" charset="2"/>
              <a:buChar char="Ø"/>
            </a:pPr>
            <a:r>
              <a:rPr lang="en-US" sz="2000" i="1" dirty="0">
                <a:solidFill>
                  <a:srgbClr val="181A0D"/>
                </a:solidFill>
                <a:cs typeface="OAGDQN+FranklinGothic-BookItalic"/>
              </a:rPr>
              <a:t>Hypothesis</a:t>
            </a:r>
            <a:r>
              <a:rPr lang="en-US" sz="2000" dirty="0">
                <a:solidFill>
                  <a:srgbClr val="181A0D"/>
                </a:solidFill>
                <a:cs typeface="OAGDQN+FranklinGothic-BookItalic"/>
              </a:rPr>
              <a:t>: Year-2 mental QOL will differ between hard drug users and non-users</a:t>
            </a:r>
          </a:p>
          <a:p>
            <a:pPr marL="742950" lvl="1" indent="-285750">
              <a:lnSpc>
                <a:spcPts val="2258"/>
              </a:lnSpc>
              <a:buFont typeface="Wingdings" pitchFamily="2" charset="2"/>
              <a:buChar char="Ø"/>
            </a:pPr>
            <a:endParaRPr lang="en-US" sz="2000" b="1" dirty="0">
              <a:solidFill>
                <a:srgbClr val="181A0D"/>
              </a:solidFill>
            </a:endParaRPr>
          </a:p>
          <a:p>
            <a:pPr marL="285750" indent="-285750">
              <a:buFont typeface="Wingdings" pitchFamily="2" charset="2"/>
              <a:buChar char="q"/>
            </a:pPr>
            <a:r>
              <a:rPr lang="en-US" sz="2000" b="1" dirty="0">
                <a:solidFill>
                  <a:srgbClr val="181A0D"/>
                </a:solidFill>
              </a:rPr>
              <a:t>Does adherence mediate the association between hard drug use and year-2 outcomes?</a:t>
            </a:r>
          </a:p>
          <a:p>
            <a:pPr marL="742950" lvl="1" indent="-285750">
              <a:buFont typeface="Wingdings" pitchFamily="2" charset="2"/>
              <a:buChar char="Ø"/>
            </a:pPr>
            <a:r>
              <a:rPr lang="en-US" sz="2000" i="1" dirty="0"/>
              <a:t>Hypothesis</a:t>
            </a:r>
            <a:r>
              <a:rPr lang="en-US" sz="2000" dirty="0"/>
              <a:t>: The association between hard drug use and treatment response will be weaker after accounting for adherence.</a:t>
            </a:r>
          </a:p>
          <a:p>
            <a:pPr lvl="1"/>
            <a:endParaRPr lang="en-US" sz="2000" dirty="0"/>
          </a:p>
          <a:p>
            <a:pPr marL="285750" indent="-285750">
              <a:buFont typeface="Wingdings" pitchFamily="2" charset="2"/>
              <a:buChar char="q"/>
            </a:pPr>
            <a:r>
              <a:rPr lang="en-US" sz="2000" b="1" dirty="0"/>
              <a:t>What are the dropout rates between hard drug users and non-users and how does that affect results?</a:t>
            </a:r>
          </a:p>
          <a:p>
            <a:pPr marL="742950" lvl="1" indent="-285750">
              <a:buFont typeface="Wingdings" pitchFamily="2" charset="2"/>
              <a:buChar char="Ø"/>
            </a:pPr>
            <a:r>
              <a:rPr lang="en-US" sz="2000" i="1" dirty="0"/>
              <a:t>Hypothesis</a:t>
            </a:r>
            <a:r>
              <a:rPr lang="en-US" sz="2000" dirty="0"/>
              <a:t>: Baseline characteristics differ between participants with complete and incomplete cases</a:t>
            </a:r>
            <a:endParaRPr lang="en-US" dirty="0">
              <a:solidFill>
                <a:srgbClr val="181A0D"/>
              </a:solidFill>
              <a:cs typeface="OAGDQN+FranklinGothic-BookItalic"/>
            </a:endParaRPr>
          </a:p>
          <a:p>
            <a:pPr marL="285750" indent="-285750">
              <a:buFont typeface="Wingdings" pitchFamily="2" charset="2"/>
              <a:buChar cha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3713"/>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1199456" y="133760"/>
            <a:ext cx="3530821"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dirty="0">
                <a:solidFill>
                  <a:srgbClr val="181A0D"/>
                </a:solidFill>
                <a:cs typeface="NOOILK+FranklinGothic-Book"/>
              </a:rPr>
              <a:t>Data </a:t>
            </a:r>
            <a:r>
              <a:rPr lang="en-US" sz="4400" spc="-18" dirty="0">
                <a:solidFill>
                  <a:srgbClr val="181A0D"/>
                </a:solidFill>
                <a:cs typeface="NOOILK+FranklinGothic-Book"/>
              </a:rPr>
              <a:t>Overview</a:t>
            </a:r>
            <a:endParaRPr sz="4400" spc="-19" dirty="0">
              <a:solidFill>
                <a:srgbClr val="181A0D"/>
              </a:solidFill>
              <a:cs typeface="NOOILK+FranklinGothic-Book"/>
            </a:endParaRPr>
          </a:p>
        </p:txBody>
      </p:sp>
      <p:sp>
        <p:nvSpPr>
          <p:cNvPr id="13" name="TextBox 12">
            <a:extLst>
              <a:ext uri="{FF2B5EF4-FFF2-40B4-BE49-F238E27FC236}">
                <a16:creationId xmlns:a16="http://schemas.microsoft.com/office/drawing/2014/main" id="{2F490F4B-F9EE-36A8-DC87-2A09F4C4F2EF}"/>
              </a:ext>
            </a:extLst>
          </p:cNvPr>
          <p:cNvSpPr txBox="1"/>
          <p:nvPr/>
        </p:nvSpPr>
        <p:spPr>
          <a:xfrm>
            <a:off x="839416" y="1340768"/>
            <a:ext cx="3672408" cy="6124754"/>
          </a:xfrm>
          <a:prstGeom prst="rect">
            <a:avLst/>
          </a:prstGeom>
          <a:noFill/>
        </p:spPr>
        <p:txBody>
          <a:bodyPr wrap="square">
            <a:spAutoFit/>
          </a:bodyPr>
          <a:lstStyle/>
          <a:p>
            <a:pPr marL="285750" indent="-285750">
              <a:lnSpc>
                <a:spcPts val="2258"/>
              </a:lnSpc>
              <a:buFont typeface="Wingdings" pitchFamily="2" charset="2"/>
              <a:buChar char="q"/>
            </a:pPr>
            <a:r>
              <a:rPr lang="en-US" b="1" dirty="0">
                <a:solidFill>
                  <a:srgbClr val="181A0D"/>
                </a:solidFill>
              </a:rPr>
              <a:t>Multicenter AIDS Cohort Study (MACS)</a:t>
            </a:r>
          </a:p>
          <a:p>
            <a:pPr marL="742950" lvl="1" indent="-285750">
              <a:lnSpc>
                <a:spcPts val="2258"/>
              </a:lnSpc>
              <a:buFont typeface="Wingdings" pitchFamily="2" charset="2"/>
              <a:buChar char="Ø"/>
            </a:pPr>
            <a:r>
              <a:rPr lang="en-US" dirty="0">
                <a:solidFill>
                  <a:srgbClr val="181A0D"/>
                </a:solidFill>
              </a:rPr>
              <a:t>Prospective study of HIV-1 in homosexual/bisexual men in four major cities</a:t>
            </a:r>
          </a:p>
          <a:p>
            <a:pPr marL="285750" indent="-285750">
              <a:lnSpc>
                <a:spcPts val="2258"/>
              </a:lnSpc>
              <a:buFont typeface="Wingdings" pitchFamily="2" charset="2"/>
              <a:buChar char="q"/>
            </a:pPr>
            <a:endParaRPr lang="en-US" b="1" dirty="0">
              <a:solidFill>
                <a:srgbClr val="181A0D"/>
              </a:solidFill>
            </a:endParaRPr>
          </a:p>
          <a:p>
            <a:pPr marL="285750" indent="-285750">
              <a:lnSpc>
                <a:spcPts val="2258"/>
              </a:lnSpc>
              <a:buFont typeface="Wingdings" pitchFamily="2" charset="2"/>
              <a:buChar char="q"/>
            </a:pPr>
            <a:r>
              <a:rPr lang="en-US" b="1" dirty="0">
                <a:solidFill>
                  <a:srgbClr val="181A0D"/>
                </a:solidFill>
              </a:rPr>
              <a:t>715 subjects in initial dataset</a:t>
            </a:r>
          </a:p>
          <a:p>
            <a:pPr marL="742950" lvl="1" indent="-285750">
              <a:lnSpc>
                <a:spcPts val="2258"/>
              </a:lnSpc>
              <a:buFont typeface="Wingdings" pitchFamily="2" charset="2"/>
              <a:buChar char="Ø"/>
            </a:pPr>
            <a:r>
              <a:rPr lang="en-US" dirty="0">
                <a:solidFill>
                  <a:srgbClr val="181A0D"/>
                </a:solidFill>
              </a:rPr>
              <a:t>Implausible BMI values labeled as missing</a:t>
            </a:r>
          </a:p>
          <a:p>
            <a:pPr marL="742950" lvl="1" indent="-285750">
              <a:lnSpc>
                <a:spcPts val="2258"/>
              </a:lnSpc>
              <a:buFont typeface="Wingdings" pitchFamily="2" charset="2"/>
              <a:buChar char="Ø"/>
            </a:pPr>
            <a:r>
              <a:rPr lang="en-US" dirty="0">
                <a:solidFill>
                  <a:srgbClr val="181A0D"/>
                </a:solidFill>
              </a:rPr>
              <a:t>Complete-case analysis</a:t>
            </a:r>
          </a:p>
          <a:p>
            <a:pPr marL="1200150" lvl="2" indent="-285750">
              <a:lnSpc>
                <a:spcPts val="2258"/>
              </a:lnSpc>
              <a:buFont typeface="Arial" panose="020B0604020202020204" pitchFamily="34" charset="0"/>
              <a:buChar char="•"/>
            </a:pPr>
            <a:r>
              <a:rPr lang="en-US" dirty="0">
                <a:solidFill>
                  <a:srgbClr val="181A0D"/>
                </a:solidFill>
              </a:rPr>
              <a:t>463 subjects used</a:t>
            </a:r>
          </a:p>
          <a:p>
            <a:pPr lvl="1">
              <a:lnSpc>
                <a:spcPts val="2258"/>
              </a:lnSpc>
            </a:pPr>
            <a:endParaRPr lang="en-US" dirty="0">
              <a:solidFill>
                <a:srgbClr val="181A0D"/>
              </a:solidFill>
              <a:cs typeface="OAGDQN+FranklinGothic-BookItalic"/>
            </a:endParaRPr>
          </a:p>
          <a:p>
            <a:pPr marL="285750" indent="-285750">
              <a:buFont typeface="Wingdings" pitchFamily="2" charset="2"/>
              <a:buChar char="q"/>
            </a:pPr>
            <a:r>
              <a:rPr lang="en-US" b="1" dirty="0"/>
              <a:t>Transformations</a:t>
            </a:r>
          </a:p>
          <a:p>
            <a:pPr marL="742950" lvl="1" indent="-285750">
              <a:buFont typeface="Wingdings" pitchFamily="2" charset="2"/>
              <a:buChar char="Ø"/>
            </a:pPr>
            <a:r>
              <a:rPr lang="en-US" dirty="0"/>
              <a:t>Log10 transformed viral load</a:t>
            </a:r>
          </a:p>
          <a:p>
            <a:pPr marL="742950" lvl="1" indent="-285750">
              <a:buFont typeface="Wingdings" pitchFamily="2" charset="2"/>
              <a:buChar char="Ø"/>
            </a:pPr>
            <a:r>
              <a:rPr lang="en-US" dirty="0"/>
              <a:t>All other variables kept on original scale</a:t>
            </a:r>
          </a:p>
          <a:p>
            <a:pPr marL="742950" lvl="1" indent="-285750">
              <a:buFont typeface="Wingdings" pitchFamily="2" charset="2"/>
              <a:buChar char="Ø"/>
            </a:pPr>
            <a:endParaRPr lang="en-US" dirty="0"/>
          </a:p>
          <a:p>
            <a:pPr marL="285750" indent="-285750">
              <a:buFont typeface="Wingdings" pitchFamily="2" charset="2"/>
              <a:buChar char="Ø"/>
            </a:pPr>
            <a:endParaRPr lang="en-US" dirty="0"/>
          </a:p>
          <a:p>
            <a:pPr marL="285750" indent="-285750">
              <a:buFont typeface="Wingdings" pitchFamily="2" charset="2"/>
              <a:buChar char="Ø"/>
            </a:pPr>
            <a:endParaRPr lang="en-US" dirty="0"/>
          </a:p>
          <a:p>
            <a:endParaRPr lang="en-US" dirty="0">
              <a:solidFill>
                <a:srgbClr val="181A0D"/>
              </a:solidFill>
              <a:cs typeface="OAGDQN+FranklinGothic-BookItalic"/>
            </a:endParaRPr>
          </a:p>
          <a:p>
            <a:pPr marL="285750" indent="-285750">
              <a:buFont typeface="Wingdings" pitchFamily="2" charset="2"/>
              <a:buChar char="§"/>
            </a:pPr>
            <a:endParaRPr lang="en-US" dirty="0"/>
          </a:p>
        </p:txBody>
      </p:sp>
      <p:pic>
        <p:nvPicPr>
          <p:cNvPr id="4" name="Picture 3">
            <a:extLst>
              <a:ext uri="{FF2B5EF4-FFF2-40B4-BE49-F238E27FC236}">
                <a16:creationId xmlns:a16="http://schemas.microsoft.com/office/drawing/2014/main" id="{696B5A69-3CE0-0868-E452-383521A26C4B}"/>
              </a:ext>
            </a:extLst>
          </p:cNvPr>
          <p:cNvPicPr>
            <a:picLocks noChangeAspect="1"/>
          </p:cNvPicPr>
          <p:nvPr/>
        </p:nvPicPr>
        <p:blipFill>
          <a:blip r:embed="rId4"/>
          <a:stretch>
            <a:fillRect/>
          </a:stretch>
        </p:blipFill>
        <p:spPr>
          <a:xfrm>
            <a:off x="6312024" y="-3713"/>
            <a:ext cx="4964426"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1463040" y="206635"/>
            <a:ext cx="2057883"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dirty="0">
                <a:solidFill>
                  <a:srgbClr val="181A0D"/>
                </a:solidFill>
                <a:cs typeface="VTCKGD+FranklinGothic-Book"/>
              </a:rPr>
              <a:t>Analysis</a:t>
            </a:r>
          </a:p>
        </p:txBody>
      </p:sp>
      <mc:AlternateContent xmlns:mc="http://schemas.openxmlformats.org/markup-compatibility/2006">
        <mc:Choice xmlns:a14="http://schemas.microsoft.com/office/drawing/2010/main" Requires="a14">
          <p:sp>
            <p:nvSpPr>
              <p:cNvPr id="4" name="object 4"/>
              <p:cNvSpPr txBox="1"/>
              <p:nvPr/>
            </p:nvSpPr>
            <p:spPr>
              <a:xfrm>
                <a:off x="1092464" y="1054471"/>
                <a:ext cx="11089232" cy="6488956"/>
              </a:xfrm>
              <a:prstGeom prst="rect">
                <a:avLst/>
              </a:prstGeom>
            </p:spPr>
            <p:txBody>
              <a:bodyPr vert="horz" wrap="square" lIns="0" tIns="0" rIns="0" bIns="0" rtlCol="0">
                <a:spAutoFit/>
              </a:bodyPr>
              <a:lstStyle/>
              <a:p>
                <a:pPr marL="342900" marR="0" indent="-342900">
                  <a:lnSpc>
                    <a:spcPts val="2258"/>
                  </a:lnSpc>
                  <a:spcBef>
                    <a:spcPts val="0"/>
                  </a:spcBef>
                  <a:spcAft>
                    <a:spcPts val="0"/>
                  </a:spcAft>
                  <a:buFont typeface="Wingdings" pitchFamily="2" charset="2"/>
                  <a:buChar char="q"/>
                </a:pPr>
                <a:r>
                  <a:rPr lang="en-US" sz="2400" b="1" spc="-25" dirty="0">
                    <a:solidFill>
                      <a:srgbClr val="181A0D"/>
                    </a:solidFill>
                    <a:cs typeface="OAGDQN+FranklinGothic-BookItalic"/>
                  </a:rPr>
                  <a:t>Treatment response after 2yrs of HAART</a:t>
                </a:r>
                <a:r>
                  <a:rPr lang="en-US" sz="2000" spc="-25" dirty="0">
                    <a:solidFill>
                      <a:srgbClr val="181A0D"/>
                    </a:solidFill>
                    <a:cs typeface="OAGDQN+FranklinGothic-BookItalic"/>
                  </a:rPr>
                  <a:t> </a:t>
                </a:r>
              </a:p>
              <a:p>
                <a:pPr marL="800100" lvl="1" indent="-342900">
                  <a:lnSpc>
                    <a:spcPts val="2258"/>
                  </a:lnSpc>
                  <a:buFont typeface="Wingdings" pitchFamily="2" charset="2"/>
                  <a:buChar char="Ø"/>
                </a:pPr>
                <a:r>
                  <a:rPr lang="en-US" sz="2000" spc="-25" dirty="0">
                    <a:solidFill>
                      <a:srgbClr val="181A0D"/>
                    </a:solidFill>
                    <a:cs typeface="OAGDQN+FranklinGothic-BookItalic"/>
                  </a:rPr>
                  <a:t>Bayesian linear regression using </a:t>
                </a:r>
                <a:r>
                  <a:rPr lang="en-US" sz="2000" spc="-25" dirty="0" err="1">
                    <a:solidFill>
                      <a:srgbClr val="181A0D"/>
                    </a:solidFill>
                    <a:cs typeface="OAGDQN+FranklinGothic-BookItalic"/>
                  </a:rPr>
                  <a:t>brm</a:t>
                </a:r>
                <a:r>
                  <a:rPr lang="en-US" sz="2000" spc="-25" dirty="0">
                    <a:solidFill>
                      <a:srgbClr val="181A0D"/>
                    </a:solidFill>
                    <a:cs typeface="OAGDQN+FranklinGothic-BookItalic"/>
                  </a:rPr>
                  <a:t>() package for each treatment response</a:t>
                </a:r>
              </a:p>
              <a:p>
                <a:pPr marL="1257300" lvl="2" indent="-342900">
                  <a:lnSpc>
                    <a:spcPts val="2258"/>
                  </a:lnSpc>
                  <a:buFont typeface="Courier New" panose="02070309020205020404" pitchFamily="49" charset="0"/>
                  <a:buChar char="o"/>
                </a:pPr>
                <a:r>
                  <a:rPr lang="en-US" sz="2000" spc="-25" dirty="0">
                    <a:solidFill>
                      <a:srgbClr val="181A0D"/>
                    </a:solidFill>
                    <a:cs typeface="OAGDQN+FranklinGothic-BookItalic"/>
                  </a:rPr>
                  <a:t>Priors: weakly(vague)-informative </a:t>
                </a:r>
              </a:p>
              <a:p>
                <a:pPr marL="1714500" lvl="3" indent="-342900">
                  <a:lnSpc>
                    <a:spcPts val="2258"/>
                  </a:lnSpc>
                  <a:buFont typeface="Arial" panose="020B0604020202020204" pitchFamily="34" charset="0"/>
                  <a:buChar char="•"/>
                </a:pPr>
                <a:r>
                  <a:rPr lang="en-US" sz="2000" spc="-25" dirty="0">
                    <a:solidFill>
                      <a:srgbClr val="181A0D"/>
                    </a:solidFill>
                    <a:cs typeface="OAGDQN+FranklinGothic-BookItalic"/>
                  </a:rPr>
                  <a:t>N(0,</a:t>
                </a:r>
                <a14:m>
                  <m:oMath xmlns:m="http://schemas.openxmlformats.org/officeDocument/2006/math">
                    <m:sSup>
                      <m:sSupPr>
                        <m:ctrlPr>
                          <a:rPr lang="en-US" sz="2000" i="1" spc="-25" smtClean="0">
                            <a:solidFill>
                              <a:srgbClr val="181A0D"/>
                            </a:solidFill>
                            <a:latin typeface="Cambria Math" panose="02040503050406030204" pitchFamily="18" charset="0"/>
                          </a:rPr>
                        </m:ctrlPr>
                      </m:sSupPr>
                      <m:e>
                        <m:r>
                          <a:rPr lang="en-US" sz="2000" b="0" i="1" spc="-25" smtClean="0">
                            <a:solidFill>
                              <a:srgbClr val="181A0D"/>
                            </a:solidFill>
                            <a:latin typeface="Cambria Math" panose="02040503050406030204" pitchFamily="18" charset="0"/>
                          </a:rPr>
                          <m:t>100</m:t>
                        </m:r>
                      </m:e>
                      <m:sup>
                        <m:r>
                          <a:rPr lang="en-US" sz="2000" b="0" i="1" spc="-25" smtClean="0">
                            <a:solidFill>
                              <a:srgbClr val="181A0D"/>
                            </a:solidFill>
                            <a:latin typeface="Cambria Math" panose="02040503050406030204" pitchFamily="18" charset="0"/>
                          </a:rPr>
                          <m:t>2</m:t>
                        </m:r>
                      </m:sup>
                    </m:sSup>
                  </m:oMath>
                </a14:m>
                <a:r>
                  <a:rPr lang="en-US" sz="2000" spc="-25" dirty="0">
                    <a:solidFill>
                      <a:srgbClr val="181A0D"/>
                    </a:solidFill>
                    <a:cs typeface="OAGDQN+FranklinGothic-BookItalic"/>
                  </a:rPr>
                  <a:t>) on regression coefficients </a:t>
                </a:r>
              </a:p>
              <a:p>
                <a:pPr marL="1714500" lvl="3" indent="-342900">
                  <a:lnSpc>
                    <a:spcPts val="2258"/>
                  </a:lnSpc>
                  <a:buFont typeface="Arial" panose="020B0604020202020204" pitchFamily="34" charset="0"/>
                  <a:buChar char="•"/>
                </a:pPr>
                <a:r>
                  <a:rPr lang="en-US" sz="2000" spc="-25" dirty="0">
                    <a:solidFill>
                      <a:srgbClr val="181A0D"/>
                    </a:solidFill>
                    <a:cs typeface="OAGDQN+FranklinGothic-BookItalic"/>
                  </a:rPr>
                  <a:t>Half-t(3,0,</a:t>
                </a:r>
                <a:r>
                  <a:rPr lang="en-US" sz="2000" spc="-25" dirty="0">
                    <a:solidFill>
                      <a:srgbClr val="181A0D"/>
                    </a:solidFill>
                  </a:rPr>
                  <a:t> </a:t>
                </a:r>
                <a14:m>
                  <m:oMath xmlns:m="http://schemas.openxmlformats.org/officeDocument/2006/math">
                    <m:sSup>
                      <m:sSupPr>
                        <m:ctrlPr>
                          <a:rPr lang="en-US" sz="2000" i="1" spc="-25">
                            <a:solidFill>
                              <a:srgbClr val="181A0D"/>
                            </a:solidFill>
                            <a:latin typeface="Cambria Math" panose="02040503050406030204" pitchFamily="18" charset="0"/>
                          </a:rPr>
                        </m:ctrlPr>
                      </m:sSupPr>
                      <m:e>
                        <m:r>
                          <a:rPr lang="en-US" sz="2000" i="1" spc="-25">
                            <a:solidFill>
                              <a:srgbClr val="181A0D"/>
                            </a:solidFill>
                            <a:latin typeface="Cambria Math" panose="02040503050406030204" pitchFamily="18" charset="0"/>
                          </a:rPr>
                          <m:t>100</m:t>
                        </m:r>
                      </m:e>
                      <m:sup>
                        <m:r>
                          <a:rPr lang="en-US" sz="2000" i="1" spc="-25">
                            <a:solidFill>
                              <a:srgbClr val="181A0D"/>
                            </a:solidFill>
                            <a:latin typeface="Cambria Math" panose="02040503050406030204" pitchFamily="18" charset="0"/>
                          </a:rPr>
                          <m:t>2</m:t>
                        </m:r>
                      </m:sup>
                    </m:sSup>
                    <m:r>
                      <a:rPr lang="en-US" sz="2000" b="0" i="1" spc="-25" smtClean="0">
                        <a:solidFill>
                          <a:srgbClr val="181A0D"/>
                        </a:solidFill>
                        <a:latin typeface="Cambria Math" panose="02040503050406030204" pitchFamily="18" charset="0"/>
                      </a:rPr>
                      <m:t>)</m:t>
                    </m:r>
                  </m:oMath>
                </a14:m>
                <a:r>
                  <a:rPr lang="en-US" sz="2000" spc="-25" dirty="0">
                    <a:solidFill>
                      <a:srgbClr val="181A0D"/>
                    </a:solidFill>
                    <a:cs typeface="OAGDQN+FranklinGothic-BookItalic"/>
                  </a:rPr>
                  <a:t> on residual variance.</a:t>
                </a:r>
              </a:p>
              <a:p>
                <a:pPr marL="800100" lvl="1" indent="-342900">
                  <a:lnSpc>
                    <a:spcPts val="2258"/>
                  </a:lnSpc>
                  <a:buFont typeface="Wingdings" pitchFamily="2" charset="2"/>
                  <a:buChar char="Ø"/>
                </a:pPr>
                <a:r>
                  <a:rPr lang="en-US" sz="2000" spc="-25" dirty="0">
                    <a:solidFill>
                      <a:srgbClr val="181A0D"/>
                    </a:solidFill>
                    <a:cs typeface="OAGDQN+FranklinGothic-BookItalic"/>
                  </a:rPr>
                  <a:t>Each outcome was modeled as a function of baseline outcome values and covariates</a:t>
                </a:r>
              </a:p>
              <a:p>
                <a:pPr marL="1257300" lvl="2" indent="-342900">
                  <a:lnSpc>
                    <a:spcPts val="2258"/>
                  </a:lnSpc>
                  <a:buFont typeface="Courier New" panose="02070309020205020404" pitchFamily="49" charset="0"/>
                  <a:buChar char="o"/>
                </a:pPr>
                <a:r>
                  <a:rPr lang="en-US" sz="2000" dirty="0"/>
                  <a:t>Age, BMI, smoking status, education, race/ethnicity </a:t>
                </a:r>
                <a:endParaRPr lang="en-US" sz="2000" spc="-25" dirty="0">
                  <a:solidFill>
                    <a:srgbClr val="181A0D"/>
                  </a:solidFill>
                  <a:cs typeface="OAGDQN+FranklinGothic-BookItalic"/>
                </a:endParaRPr>
              </a:p>
              <a:p>
                <a:pPr marL="800100" lvl="1" indent="-342900">
                  <a:lnSpc>
                    <a:spcPts val="2258"/>
                  </a:lnSpc>
                  <a:buFont typeface="Wingdings" pitchFamily="2" charset="2"/>
                  <a:buChar char="Ø"/>
                </a:pPr>
                <a:r>
                  <a:rPr lang="en-US" sz="2000" spc="-25" dirty="0">
                    <a:solidFill>
                      <a:srgbClr val="181A0D"/>
                    </a:solidFill>
                    <a:cs typeface="OAGDQN+FranklinGothic-BookItalic"/>
                  </a:rPr>
                  <a:t>Log10 transformed viral load – others on original scale</a:t>
                </a:r>
              </a:p>
              <a:p>
                <a:pPr lvl="1">
                  <a:lnSpc>
                    <a:spcPts val="2258"/>
                  </a:lnSpc>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r>
                  <a:rPr lang="en-US" sz="2400" b="1" spc="-25" dirty="0">
                    <a:solidFill>
                      <a:srgbClr val="181A0D"/>
                    </a:solidFill>
                    <a:cs typeface="OAGDQN+FranklinGothic-BookItalic"/>
                  </a:rPr>
                  <a:t>Adherence</a:t>
                </a:r>
                <a:r>
                  <a:rPr lang="en-US" sz="2000" spc="-25" dirty="0">
                    <a:solidFill>
                      <a:srgbClr val="181A0D"/>
                    </a:solidFill>
                    <a:cs typeface="OAGDQN+FranklinGothic-BookItalic"/>
                  </a:rPr>
                  <a:t> </a:t>
                </a:r>
              </a:p>
              <a:p>
                <a:pPr marL="800100" lvl="1" indent="-342900">
                  <a:lnSpc>
                    <a:spcPts val="2258"/>
                  </a:lnSpc>
                  <a:buFont typeface="Wingdings" pitchFamily="2" charset="2"/>
                  <a:buChar char="Ø"/>
                </a:pPr>
                <a:r>
                  <a:rPr lang="en-US" sz="2000" spc="-25" dirty="0">
                    <a:solidFill>
                      <a:srgbClr val="181A0D"/>
                    </a:solidFill>
                    <a:cs typeface="OAGDQN+FranklinGothic-BookItalic"/>
                  </a:rPr>
                  <a:t>Bayesian linear regression using </a:t>
                </a:r>
                <a:r>
                  <a:rPr lang="en-US" sz="2000" spc="-25" dirty="0" err="1">
                    <a:solidFill>
                      <a:srgbClr val="181A0D"/>
                    </a:solidFill>
                    <a:cs typeface="OAGDQN+FranklinGothic-BookItalic"/>
                  </a:rPr>
                  <a:t>brm</a:t>
                </a:r>
                <a:r>
                  <a:rPr lang="en-US" sz="2000" spc="-25" dirty="0">
                    <a:solidFill>
                      <a:srgbClr val="181A0D"/>
                    </a:solidFill>
                    <a:cs typeface="OAGDQN+FranklinGothic-BookItalic"/>
                  </a:rPr>
                  <a:t>() package for each treatment response</a:t>
                </a:r>
              </a:p>
              <a:p>
                <a:pPr marL="800100" lvl="1" indent="-342900">
                  <a:lnSpc>
                    <a:spcPts val="2258"/>
                  </a:lnSpc>
                  <a:buFont typeface="Wingdings" pitchFamily="2" charset="2"/>
                  <a:buChar char="Ø"/>
                </a:pPr>
                <a:r>
                  <a:rPr lang="en-US" sz="2000" spc="-25" dirty="0">
                    <a:solidFill>
                      <a:srgbClr val="181A0D"/>
                    </a:solidFill>
                    <a:cs typeface="OAGDQN+FranklinGothic-BookItalic"/>
                  </a:rPr>
                  <a:t>Same priors</a:t>
                </a:r>
              </a:p>
              <a:p>
                <a:pPr marL="800100" lvl="1" indent="-342900">
                  <a:lnSpc>
                    <a:spcPts val="2258"/>
                  </a:lnSpc>
                  <a:buFont typeface="Wingdings" pitchFamily="2" charset="2"/>
                  <a:buChar char="Ø"/>
                </a:pPr>
                <a:r>
                  <a:rPr lang="en-US" sz="2000" spc="-25" dirty="0">
                    <a:solidFill>
                      <a:srgbClr val="181A0D"/>
                    </a:solidFill>
                    <a:cs typeface="OAGDQN+FranklinGothic-BookItalic"/>
                  </a:rPr>
                  <a:t>Binary adherence (&lt;95%, ≥95%) used to test association between hard drug users and response</a:t>
                </a: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r>
                  <a:rPr lang="en-US" sz="2400" b="1" spc="-25" dirty="0">
                    <a:solidFill>
                      <a:srgbClr val="181A0D"/>
                    </a:solidFill>
                    <a:cs typeface="OAGDQN+FranklinGothic-BookItalic"/>
                  </a:rPr>
                  <a:t>Dropout Rates</a:t>
                </a:r>
                <a:r>
                  <a:rPr lang="en-US" sz="2000" spc="-25" dirty="0">
                    <a:solidFill>
                      <a:srgbClr val="181A0D"/>
                    </a:solidFill>
                    <a:cs typeface="OAGDQN+FranklinGothic-BookItalic"/>
                  </a:rPr>
                  <a:t> </a:t>
                </a:r>
              </a:p>
              <a:p>
                <a:pPr marL="800100" lvl="1" indent="-342900">
                  <a:lnSpc>
                    <a:spcPts val="2258"/>
                  </a:lnSpc>
                  <a:buFont typeface="Wingdings" pitchFamily="2" charset="2"/>
                  <a:buChar char="Ø"/>
                </a:pPr>
                <a:r>
                  <a:rPr lang="en-US" sz="2000" spc="-25" dirty="0">
                    <a:solidFill>
                      <a:srgbClr val="181A0D"/>
                    </a:solidFill>
                    <a:cs typeface="OAGDQN+FranklinGothic-BookItalic"/>
                  </a:rPr>
                  <a:t>Complete cases vs incomplete (missing year2), stratified by hard drug users and non-users</a:t>
                </a:r>
              </a:p>
              <a:p>
                <a:pPr marL="1257300" lvl="2" indent="-342900">
                  <a:lnSpc>
                    <a:spcPts val="2258"/>
                  </a:lnSpc>
                  <a:buFont typeface="Courier New" panose="02070309020205020404" pitchFamily="49" charset="0"/>
                  <a:buChar char="o"/>
                </a:pPr>
                <a:r>
                  <a:rPr lang="en-US" sz="2000" spc="-25" dirty="0">
                    <a:solidFill>
                      <a:srgbClr val="181A0D"/>
                    </a:solidFill>
                    <a:cs typeface="OAGDQN+FranklinGothic-BookItalic"/>
                  </a:rPr>
                  <a:t>Wilcoxon rank sum test</a:t>
                </a:r>
              </a:p>
              <a:p>
                <a:pPr marL="800100" lvl="1" indent="-342900">
                  <a:lnSpc>
                    <a:spcPts val="2258"/>
                  </a:lnSpc>
                  <a:buFont typeface="Wingdings" pitchFamily="2" charset="2"/>
                  <a:buChar char="Ø"/>
                </a:pPr>
                <a:r>
                  <a:rPr lang="en-US" sz="2000" spc="-25" dirty="0">
                    <a:solidFill>
                      <a:srgbClr val="181A0D"/>
                    </a:solidFill>
                    <a:cs typeface="OAGDQN+FranklinGothic-BookItalic"/>
                  </a:rPr>
                  <a:t>Logistic regression w/complete measurements = 0 &amp; missing = 1</a:t>
                </a: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mc:Choice>
        <mc:Fallback>
          <p:sp>
            <p:nvSpPr>
              <p:cNvPr id="4" name="object 4"/>
              <p:cNvSpPr txBox="1">
                <a:spLocks noRot="1" noChangeAspect="1" noMove="1" noResize="1" noEditPoints="1" noAdjustHandles="1" noChangeArrowheads="1" noChangeShapeType="1" noTextEdit="1"/>
              </p:cNvSpPr>
              <p:nvPr/>
            </p:nvSpPr>
            <p:spPr>
              <a:xfrm>
                <a:off x="1092464" y="1054471"/>
                <a:ext cx="11089232" cy="6488956"/>
              </a:xfrm>
              <a:prstGeom prst="rect">
                <a:avLst/>
              </a:prstGeom>
              <a:blipFill>
                <a:blip r:embed="rId4"/>
                <a:stretch>
                  <a:fillRect l="-1486" t="-2544"/>
                </a:stretch>
              </a:blipFill>
            </p:spPr>
            <p:txBody>
              <a:bodyPr/>
              <a:lstStyle/>
              <a:p>
                <a:r>
                  <a:rPr 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6820"/>
            <a:ext cx="12192000" cy="6858000"/>
          </a:xfrm>
          <a:prstGeom prst="rect">
            <a:avLst/>
          </a:prstGeom>
          <a:blipFill>
            <a:blip r:embed="rId3" cstate="print"/>
            <a:stretch>
              <a:fillRect/>
            </a:stretch>
          </a:blipFill>
        </p:spPr>
        <p:txBody>
          <a:bodyPr wrap="square" lIns="0" tIns="0" rIns="0" bIns="0" rtlCol="0">
            <a:spAutoFit/>
          </a:bodyPr>
          <a:lstStyle/>
          <a:p>
            <a:endParaRPr/>
          </a:p>
        </p:txBody>
      </p:sp>
      <p:sp>
        <p:nvSpPr>
          <p:cNvPr id="3" name="object 3"/>
          <p:cNvSpPr txBox="1"/>
          <p:nvPr/>
        </p:nvSpPr>
        <p:spPr>
          <a:xfrm>
            <a:off x="1463069" y="173199"/>
            <a:ext cx="7657267"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spc="-12" dirty="0">
                <a:solidFill>
                  <a:srgbClr val="181A0D"/>
                </a:solidFill>
                <a:cs typeface="MPIRPG+FranklinGothic-Book"/>
              </a:rPr>
              <a:t>Results</a:t>
            </a:r>
            <a:r>
              <a:rPr lang="en-US" sz="4400" spc="-12" dirty="0">
                <a:solidFill>
                  <a:srgbClr val="181A0D"/>
                </a:solidFill>
                <a:cs typeface="MPIRPG+FranklinGothic-Book"/>
              </a:rPr>
              <a:t> - treatment response</a:t>
            </a:r>
            <a:endParaRPr sz="4400" spc="-12" dirty="0">
              <a:solidFill>
                <a:srgbClr val="181A0D"/>
              </a:solidFill>
              <a:cs typeface="MPIRPG+FranklinGothic-Book"/>
            </a:endParaRPr>
          </a:p>
        </p:txBody>
      </p:sp>
      <p:sp>
        <p:nvSpPr>
          <p:cNvPr id="12" name="object 4">
            <a:extLst>
              <a:ext uri="{FF2B5EF4-FFF2-40B4-BE49-F238E27FC236}">
                <a16:creationId xmlns:a16="http://schemas.microsoft.com/office/drawing/2014/main" id="{2FF3022D-87F7-BF6A-4366-54D58B6DC952}"/>
              </a:ext>
            </a:extLst>
          </p:cNvPr>
          <p:cNvSpPr txBox="1"/>
          <p:nvPr/>
        </p:nvSpPr>
        <p:spPr>
          <a:xfrm>
            <a:off x="1703512" y="4853634"/>
            <a:ext cx="4392488" cy="4129336"/>
          </a:xfrm>
          <a:prstGeom prst="rect">
            <a:avLst/>
          </a:prstGeom>
        </p:spPr>
        <p:txBody>
          <a:bodyPr vert="horz" wrap="square" lIns="0" tIns="0" rIns="0" bIns="0" rtlCol="0">
            <a:spAutoFit/>
          </a:bodyPr>
          <a:lstStyle/>
          <a:p>
            <a:pPr marL="342900" indent="-342900">
              <a:lnSpc>
                <a:spcPts val="2258"/>
              </a:lnSpc>
              <a:buFont typeface="Wingdings" pitchFamily="2" charset="2"/>
              <a:buChar char="q"/>
            </a:pPr>
            <a:r>
              <a:rPr lang="en-US" sz="2000" b="1" spc="-25" dirty="0">
                <a:solidFill>
                  <a:srgbClr val="181A0D"/>
                </a:solidFill>
                <a:cs typeface="OAGDQN+FranklinGothic-BookItalic"/>
              </a:rPr>
              <a:t>Treatment response after 2yrs of HAART:</a:t>
            </a:r>
          </a:p>
          <a:p>
            <a:pPr marL="342900" marR="0" indent="-342900">
              <a:lnSpc>
                <a:spcPts val="2258"/>
              </a:lnSpc>
              <a:spcBef>
                <a:spcPts val="0"/>
              </a:spcBef>
              <a:spcAft>
                <a:spcPts val="0"/>
              </a:spcAft>
              <a:buFont typeface="Wingdings" pitchFamily="2" charset="2"/>
              <a:buChar char="Ø"/>
            </a:pPr>
            <a:r>
              <a:rPr lang="en-US" sz="2000" spc="-25" dirty="0">
                <a:solidFill>
                  <a:srgbClr val="181A0D"/>
                </a:solidFill>
                <a:cs typeface="OAGDQN+FranklinGothic-BookItalic"/>
              </a:rPr>
              <a:t>Controlling for baseline outcome and covariates:</a:t>
            </a:r>
          </a:p>
          <a:p>
            <a:pPr marL="800100" lvl="1" indent="-342900">
              <a:lnSpc>
                <a:spcPts val="2258"/>
              </a:lnSpc>
              <a:buFont typeface="Wingdings" pitchFamily="2" charset="2"/>
              <a:buChar char="Ø"/>
            </a:pPr>
            <a:endParaRPr lang="en-US" sz="2000" spc="-25" dirty="0">
              <a:solidFill>
                <a:srgbClr val="181A0D"/>
              </a:solidFill>
              <a:cs typeface="OAGDQN+FranklinGothic-BookItalic"/>
            </a:endParaRPr>
          </a:p>
          <a:p>
            <a:pPr lvl="1">
              <a:lnSpc>
                <a:spcPts val="2258"/>
              </a:lnSpc>
            </a:pP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800100" lvl="1" indent="-342900">
              <a:lnSpc>
                <a:spcPts val="2258"/>
              </a:lnSpc>
              <a:buFont typeface="Arial" panose="020B0604020202020204" pitchFamily="34" charset="0"/>
              <a:buChar char="•"/>
            </a:pPr>
            <a:endParaRPr lang="en-US" sz="2000" spc="-25" dirty="0">
              <a:solidFill>
                <a:srgbClr val="181A0D"/>
              </a:solidFill>
              <a:cs typeface="OAGDQN+FranklinGothic-BookItalic"/>
            </a:endParaRP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p:pic>
        <p:nvPicPr>
          <p:cNvPr id="10" name="Picture 9" descr="A screenshot of a computer&#10;&#10;AI-generated content may be incorrect.">
            <a:extLst>
              <a:ext uri="{FF2B5EF4-FFF2-40B4-BE49-F238E27FC236}">
                <a16:creationId xmlns:a16="http://schemas.microsoft.com/office/drawing/2014/main" id="{83C7B31D-2D4F-03C6-A0AB-6D2DB7691526}"/>
              </a:ext>
            </a:extLst>
          </p:cNvPr>
          <p:cNvPicPr>
            <a:picLocks noChangeAspect="1"/>
          </p:cNvPicPr>
          <p:nvPr/>
        </p:nvPicPr>
        <p:blipFill>
          <a:blip r:embed="rId4"/>
          <a:stretch>
            <a:fillRect/>
          </a:stretch>
        </p:blipFill>
        <p:spPr>
          <a:xfrm>
            <a:off x="2207568" y="934019"/>
            <a:ext cx="8593371" cy="37999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14166"/>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1415480" y="188640"/>
            <a:ext cx="4528479"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spc="-11" dirty="0">
                <a:solidFill>
                  <a:srgbClr val="181A0D"/>
                </a:solidFill>
                <a:cs typeface="WPQCJM+FranklinGothic-Book"/>
              </a:rPr>
              <a:t>Results</a:t>
            </a:r>
            <a:r>
              <a:rPr lang="en-US" sz="4400" spc="-11" dirty="0">
                <a:solidFill>
                  <a:srgbClr val="181A0D"/>
                </a:solidFill>
                <a:cs typeface="WPQCJM+FranklinGothic-Book"/>
              </a:rPr>
              <a:t> - </a:t>
            </a:r>
            <a:r>
              <a:rPr lang="en-US" sz="4400" dirty="0">
                <a:solidFill>
                  <a:srgbClr val="181A0D"/>
                </a:solidFill>
                <a:cs typeface="WPQCJM+FranklinGothic-Book"/>
              </a:rPr>
              <a:t>mediation</a:t>
            </a:r>
            <a:endParaRPr sz="4400" dirty="0">
              <a:solidFill>
                <a:srgbClr val="181A0D"/>
              </a:solidFill>
              <a:cs typeface="WPQCJM+FranklinGothic-Book"/>
            </a:endParaRPr>
          </a:p>
        </p:txBody>
      </p:sp>
      <p:sp>
        <p:nvSpPr>
          <p:cNvPr id="8" name="object 4">
            <a:extLst>
              <a:ext uri="{FF2B5EF4-FFF2-40B4-BE49-F238E27FC236}">
                <a16:creationId xmlns:a16="http://schemas.microsoft.com/office/drawing/2014/main" id="{135D1CCA-C085-B968-1B22-01E31F3EE6DF}"/>
              </a:ext>
            </a:extLst>
          </p:cNvPr>
          <p:cNvSpPr txBox="1"/>
          <p:nvPr/>
        </p:nvSpPr>
        <p:spPr>
          <a:xfrm>
            <a:off x="875244" y="980779"/>
            <a:ext cx="4811155" cy="4424288"/>
          </a:xfrm>
          <a:prstGeom prst="rect">
            <a:avLst/>
          </a:prstGeom>
        </p:spPr>
        <p:txBody>
          <a:bodyPr vert="horz" wrap="square" lIns="0" tIns="0" rIns="0" bIns="0" rtlCol="0">
            <a:spAutoFit/>
          </a:bodyPr>
          <a:lstStyle/>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b="1" spc="-25" dirty="0">
              <a:solidFill>
                <a:srgbClr val="181A0D"/>
              </a:solidFill>
              <a:cs typeface="OAGDQN+FranklinGothic-BookItalic"/>
            </a:endParaRPr>
          </a:p>
          <a:p>
            <a:pPr>
              <a:lnSpc>
                <a:spcPts val="2258"/>
              </a:lnSpc>
            </a:pPr>
            <a:endParaRPr lang="en-US" sz="2000" spc="-25" dirty="0">
              <a:solidFill>
                <a:srgbClr val="181A0D"/>
              </a:solidFill>
              <a:cs typeface="OAGDQN+FranklinGothic-BookItalic"/>
            </a:endParaRPr>
          </a:p>
          <a:p>
            <a:pPr marL="800100" lvl="1" indent="-342900">
              <a:lnSpc>
                <a:spcPts val="2258"/>
              </a:lnSpc>
              <a:buFont typeface="Wingdings" pitchFamily="2" charset="2"/>
              <a:buChar char="Ø"/>
            </a:pP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800100" lvl="1" indent="-342900">
              <a:lnSpc>
                <a:spcPts val="2258"/>
              </a:lnSpc>
              <a:buFont typeface="Arial" panose="020B0604020202020204" pitchFamily="34" charset="0"/>
              <a:buChar char="•"/>
            </a:pPr>
            <a:endParaRPr lang="en-US" sz="2000" spc="-25" dirty="0">
              <a:solidFill>
                <a:srgbClr val="181A0D"/>
              </a:solidFill>
              <a:cs typeface="OAGDQN+FranklinGothic-BookItalic"/>
            </a:endParaRP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p:pic>
        <p:nvPicPr>
          <p:cNvPr id="5" name="Picture 4" descr="A screenshot of a computer&#10;&#10;AI-generated content may be incorrect.">
            <a:extLst>
              <a:ext uri="{FF2B5EF4-FFF2-40B4-BE49-F238E27FC236}">
                <a16:creationId xmlns:a16="http://schemas.microsoft.com/office/drawing/2014/main" id="{FC982772-C5EA-DA3E-6CBC-3ED39B55EF11}"/>
              </a:ext>
            </a:extLst>
          </p:cNvPr>
          <p:cNvPicPr>
            <a:picLocks noChangeAspect="1"/>
          </p:cNvPicPr>
          <p:nvPr/>
        </p:nvPicPr>
        <p:blipFill>
          <a:blip r:embed="rId4"/>
          <a:stretch>
            <a:fillRect/>
          </a:stretch>
        </p:blipFill>
        <p:spPr>
          <a:xfrm>
            <a:off x="1760800" y="1089432"/>
            <a:ext cx="9073120" cy="42069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7BFF8-83E8-1705-B857-C1662A4C399D}"/>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893EAD98-92CD-50E2-1499-119554E29617}"/>
              </a:ext>
            </a:extLst>
          </p:cNvPr>
          <p:cNvSpPr/>
          <p:nvPr/>
        </p:nvSpPr>
        <p:spPr>
          <a:xfrm>
            <a:off x="0" y="14166"/>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a:extLst>
              <a:ext uri="{FF2B5EF4-FFF2-40B4-BE49-F238E27FC236}">
                <a16:creationId xmlns:a16="http://schemas.microsoft.com/office/drawing/2014/main" id="{918818CD-D913-2EBD-9985-7DE114355D85}"/>
              </a:ext>
            </a:extLst>
          </p:cNvPr>
          <p:cNvSpPr txBox="1"/>
          <p:nvPr/>
        </p:nvSpPr>
        <p:spPr>
          <a:xfrm>
            <a:off x="1415480" y="188640"/>
            <a:ext cx="4528479"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spc="-11" dirty="0">
                <a:solidFill>
                  <a:srgbClr val="181A0D"/>
                </a:solidFill>
                <a:cs typeface="WPQCJM+FranklinGothic-Book"/>
              </a:rPr>
              <a:t>Results</a:t>
            </a:r>
            <a:r>
              <a:rPr lang="en-US" sz="4400" spc="-11" dirty="0">
                <a:solidFill>
                  <a:srgbClr val="181A0D"/>
                </a:solidFill>
                <a:cs typeface="WPQCJM+FranklinGothic-Book"/>
              </a:rPr>
              <a:t> – follow-up</a:t>
            </a:r>
            <a:endParaRPr sz="4400" dirty="0">
              <a:solidFill>
                <a:srgbClr val="181A0D"/>
              </a:solidFill>
              <a:cs typeface="WPQCJM+FranklinGothic-Book"/>
            </a:endParaRPr>
          </a:p>
        </p:txBody>
      </p:sp>
      <p:sp>
        <p:nvSpPr>
          <p:cNvPr id="8" name="object 4">
            <a:extLst>
              <a:ext uri="{FF2B5EF4-FFF2-40B4-BE49-F238E27FC236}">
                <a16:creationId xmlns:a16="http://schemas.microsoft.com/office/drawing/2014/main" id="{7A565ACD-C3A5-C6FF-175E-9FA2948A8278}"/>
              </a:ext>
            </a:extLst>
          </p:cNvPr>
          <p:cNvSpPr txBox="1"/>
          <p:nvPr/>
        </p:nvSpPr>
        <p:spPr>
          <a:xfrm>
            <a:off x="875244" y="980779"/>
            <a:ext cx="4811155" cy="4424288"/>
          </a:xfrm>
          <a:prstGeom prst="rect">
            <a:avLst/>
          </a:prstGeom>
        </p:spPr>
        <p:txBody>
          <a:bodyPr vert="horz" wrap="square" lIns="0" tIns="0" rIns="0" bIns="0" rtlCol="0">
            <a:spAutoFit/>
          </a:bodyPr>
          <a:lstStyle/>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Ø"/>
            </a:pPr>
            <a:endParaRPr lang="en-US" sz="2000" b="1" spc="-25" dirty="0">
              <a:solidFill>
                <a:srgbClr val="181A0D"/>
              </a:solidFill>
              <a:cs typeface="OAGDQN+FranklinGothic-BookItalic"/>
            </a:endParaRPr>
          </a:p>
          <a:p>
            <a:pPr>
              <a:lnSpc>
                <a:spcPts val="2258"/>
              </a:lnSpc>
            </a:pPr>
            <a:endParaRPr lang="en-US" sz="2000" spc="-25" dirty="0">
              <a:solidFill>
                <a:srgbClr val="181A0D"/>
              </a:solidFill>
              <a:cs typeface="OAGDQN+FranklinGothic-BookItalic"/>
            </a:endParaRPr>
          </a:p>
          <a:p>
            <a:pPr marL="800100" lvl="1" indent="-342900">
              <a:lnSpc>
                <a:spcPts val="2258"/>
              </a:lnSpc>
              <a:buFont typeface="Wingdings" pitchFamily="2" charset="2"/>
              <a:buChar char="Ø"/>
            </a:pP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800100" lvl="1" indent="-342900">
              <a:lnSpc>
                <a:spcPts val="2258"/>
              </a:lnSpc>
              <a:buFont typeface="Arial" panose="020B0604020202020204" pitchFamily="34" charset="0"/>
              <a:buChar char="•"/>
            </a:pPr>
            <a:endParaRPr lang="en-US" sz="2000" spc="-25" dirty="0">
              <a:solidFill>
                <a:srgbClr val="181A0D"/>
              </a:solidFill>
              <a:cs typeface="OAGDQN+FranklinGothic-BookItalic"/>
            </a:endParaRP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Ø"/>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p:pic>
        <p:nvPicPr>
          <p:cNvPr id="5" name="Picture 4" descr="A screenshot of a computer&#10;&#10;AI-generated content may be incorrect.">
            <a:extLst>
              <a:ext uri="{FF2B5EF4-FFF2-40B4-BE49-F238E27FC236}">
                <a16:creationId xmlns:a16="http://schemas.microsoft.com/office/drawing/2014/main" id="{971385C0-40DF-79F0-D47A-5B1F28B42EAA}"/>
              </a:ext>
            </a:extLst>
          </p:cNvPr>
          <p:cNvPicPr>
            <a:picLocks noChangeAspect="1"/>
          </p:cNvPicPr>
          <p:nvPr/>
        </p:nvPicPr>
        <p:blipFill>
          <a:blip r:embed="rId4"/>
          <a:stretch>
            <a:fillRect/>
          </a:stretch>
        </p:blipFill>
        <p:spPr>
          <a:xfrm>
            <a:off x="2567608" y="1007371"/>
            <a:ext cx="9449909" cy="5242882"/>
          </a:xfrm>
          <a:prstGeom prst="rect">
            <a:avLst/>
          </a:prstGeom>
        </p:spPr>
      </p:pic>
    </p:spTree>
    <p:extLst>
      <p:ext uri="{BB962C8B-B14F-4D97-AF65-F5344CB8AC3E}">
        <p14:creationId xmlns:p14="http://schemas.microsoft.com/office/powerpoint/2010/main" val="3605892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a:p>
        </p:txBody>
      </p:sp>
      <p:sp>
        <p:nvSpPr>
          <p:cNvPr id="3" name="object 3"/>
          <p:cNvSpPr txBox="1"/>
          <p:nvPr/>
        </p:nvSpPr>
        <p:spPr>
          <a:xfrm>
            <a:off x="1343472" y="260648"/>
            <a:ext cx="2704871" cy="641201"/>
          </a:xfrm>
          <a:prstGeom prst="rect">
            <a:avLst/>
          </a:prstGeom>
        </p:spPr>
        <p:txBody>
          <a:bodyPr vert="horz" wrap="square" lIns="0" tIns="0" rIns="0" bIns="0" rtlCol="0">
            <a:spAutoFit/>
          </a:bodyPr>
          <a:lstStyle/>
          <a:p>
            <a:pPr marL="0" marR="0">
              <a:lnSpc>
                <a:spcPts val="4979"/>
              </a:lnSpc>
              <a:spcBef>
                <a:spcPts val="0"/>
              </a:spcBef>
              <a:spcAft>
                <a:spcPts val="0"/>
              </a:spcAft>
            </a:pPr>
            <a:r>
              <a:rPr lang="en-US" sz="4400" dirty="0">
                <a:solidFill>
                  <a:srgbClr val="181A0D"/>
                </a:solidFill>
                <a:cs typeface="LVLFDH+FranklinGothic-Book"/>
              </a:rPr>
              <a:t>Conclusions</a:t>
            </a:r>
            <a:endParaRPr sz="4400" dirty="0">
              <a:solidFill>
                <a:srgbClr val="181A0D"/>
              </a:solidFill>
              <a:cs typeface="LVLFDH+FranklinGothic-Book"/>
            </a:endParaRPr>
          </a:p>
        </p:txBody>
      </p:sp>
      <p:sp>
        <p:nvSpPr>
          <p:cNvPr id="5" name="object 4">
            <a:extLst>
              <a:ext uri="{FF2B5EF4-FFF2-40B4-BE49-F238E27FC236}">
                <a16:creationId xmlns:a16="http://schemas.microsoft.com/office/drawing/2014/main" id="{CAB99B72-60A9-3C59-378B-AECE9E804BCF}"/>
              </a:ext>
            </a:extLst>
          </p:cNvPr>
          <p:cNvSpPr txBox="1"/>
          <p:nvPr/>
        </p:nvSpPr>
        <p:spPr>
          <a:xfrm>
            <a:off x="1415480" y="901849"/>
            <a:ext cx="10297144" cy="6194003"/>
          </a:xfrm>
          <a:prstGeom prst="rect">
            <a:avLst/>
          </a:prstGeom>
        </p:spPr>
        <p:txBody>
          <a:bodyPr vert="horz" wrap="square" lIns="0" tIns="0" rIns="0" bIns="0" rtlCol="0">
            <a:spAutoFit/>
          </a:bodyPr>
          <a:lstStyle/>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q"/>
            </a:pPr>
            <a:r>
              <a:rPr lang="en-US" sz="2000" spc="-25" dirty="0">
                <a:solidFill>
                  <a:srgbClr val="181A0D"/>
                </a:solidFill>
                <a:cs typeface="OAGDQN+FranklinGothic-BookItalic"/>
              </a:rPr>
              <a:t>Lower CD4 T-cell counts among baseline hard drug users</a:t>
            </a:r>
          </a:p>
          <a:p>
            <a:pPr marL="342900" indent="-342900">
              <a:lnSpc>
                <a:spcPts val="2258"/>
              </a:lnSpc>
              <a:buFont typeface="Wingdings" pitchFamily="2" charset="2"/>
              <a:buChar char="q"/>
            </a:pPr>
            <a:r>
              <a:rPr lang="en-US" sz="2000" spc="-25" dirty="0">
                <a:solidFill>
                  <a:srgbClr val="181A0D"/>
                </a:solidFill>
                <a:cs typeface="OAGDQN+FranklinGothic-BookItalic"/>
              </a:rPr>
              <a:t>Lower physical QOL scores</a:t>
            </a:r>
          </a:p>
          <a:p>
            <a:pPr marL="342900" indent="-342900">
              <a:lnSpc>
                <a:spcPts val="2258"/>
              </a:lnSpc>
              <a:buFont typeface="Wingdings" pitchFamily="2" charset="2"/>
              <a:buChar char="q"/>
            </a:pPr>
            <a:r>
              <a:rPr lang="en-US" sz="2000" spc="-25" dirty="0">
                <a:solidFill>
                  <a:srgbClr val="181A0D"/>
                </a:solidFill>
                <a:cs typeface="OAGDQN+FranklinGothic-BookItalic"/>
              </a:rPr>
              <a:t>No meaningful differences in viral load or mental QOL</a:t>
            </a:r>
          </a:p>
          <a:p>
            <a:pPr marL="342900" indent="-342900">
              <a:lnSpc>
                <a:spcPts val="2258"/>
              </a:lnSpc>
              <a:buFont typeface="Wingdings" pitchFamily="2" charset="2"/>
              <a:buChar char="q"/>
            </a:pPr>
            <a:r>
              <a:rPr lang="en-US" sz="2000" spc="-25" dirty="0">
                <a:solidFill>
                  <a:srgbClr val="181A0D"/>
                </a:solidFill>
                <a:cs typeface="OAGDQN+FranklinGothic-BookItalic"/>
              </a:rPr>
              <a:t>Adherence wasn’t meaningful</a:t>
            </a: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800100" lvl="1"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q"/>
            </a:pPr>
            <a:r>
              <a:rPr lang="en-US" sz="2000" b="1" spc="-25" dirty="0">
                <a:solidFill>
                  <a:srgbClr val="181A0D"/>
                </a:solidFill>
                <a:cs typeface="OAGDQN+FranklinGothic-BookItalic"/>
              </a:rPr>
              <a:t>Limitations:</a:t>
            </a:r>
          </a:p>
          <a:p>
            <a:pPr marL="800100" lvl="1" indent="-342900">
              <a:lnSpc>
                <a:spcPts val="2258"/>
              </a:lnSpc>
              <a:buFont typeface="Wingdings" pitchFamily="2" charset="2"/>
              <a:buChar char="Ø"/>
            </a:pPr>
            <a:r>
              <a:rPr lang="en-US" sz="2000" spc="-25" dirty="0">
                <a:solidFill>
                  <a:srgbClr val="181A0D"/>
                </a:solidFill>
                <a:cs typeface="OAGDQN+FranklinGothic-BookItalic"/>
              </a:rPr>
              <a:t>Observational study design</a:t>
            </a:r>
          </a:p>
          <a:p>
            <a:pPr marL="800100" lvl="1" indent="-342900">
              <a:lnSpc>
                <a:spcPts val="2258"/>
              </a:lnSpc>
              <a:buFont typeface="Wingdings" pitchFamily="2" charset="2"/>
              <a:buChar char="Ø"/>
            </a:pPr>
            <a:r>
              <a:rPr lang="en-US" sz="2000" spc="-25" dirty="0">
                <a:solidFill>
                  <a:srgbClr val="181A0D"/>
                </a:solidFill>
                <a:cs typeface="OAGDQN+FranklinGothic-BookItalic"/>
              </a:rPr>
              <a:t>Adherence coded as binary (&lt;95% vs ≥95%)</a:t>
            </a:r>
          </a:p>
          <a:p>
            <a:pPr marL="800100" lvl="1" indent="-342900">
              <a:lnSpc>
                <a:spcPts val="2258"/>
              </a:lnSpc>
              <a:buFont typeface="Wingdings" pitchFamily="2" charset="2"/>
              <a:buChar char="Ø"/>
            </a:pPr>
            <a:r>
              <a:rPr lang="en-US" sz="2000" spc="-25" dirty="0">
                <a:solidFill>
                  <a:srgbClr val="181A0D"/>
                </a:solidFill>
                <a:cs typeface="OAGDQN+FranklinGothic-BookItalic"/>
              </a:rPr>
              <a:t>Mediation = exploratory </a:t>
            </a:r>
          </a:p>
          <a:p>
            <a:pPr marL="800100" lvl="1" indent="-342900">
              <a:lnSpc>
                <a:spcPts val="2258"/>
              </a:lnSpc>
              <a:buFont typeface="Wingdings" pitchFamily="2" charset="2"/>
              <a:buChar char="Ø"/>
            </a:pPr>
            <a:r>
              <a:rPr lang="en-US" sz="2000" spc="-25" dirty="0">
                <a:solidFill>
                  <a:srgbClr val="181A0D"/>
                </a:solidFill>
                <a:cs typeface="OAGDQN+FranklinGothic-BookItalic"/>
              </a:rPr>
              <a:t>Hard drug user group was relatively small (36)</a:t>
            </a:r>
          </a:p>
          <a:p>
            <a:pPr marL="800100" lvl="1" indent="-342900">
              <a:lnSpc>
                <a:spcPts val="2258"/>
              </a:lnSpc>
              <a:buFont typeface="Wingdings" pitchFamily="2" charset="2"/>
              <a:buChar char="Ø"/>
            </a:pPr>
            <a:r>
              <a:rPr lang="en-US" sz="2000" spc="-25" dirty="0">
                <a:solidFill>
                  <a:srgbClr val="181A0D"/>
                </a:solidFill>
                <a:cs typeface="OAGDQN+FranklinGothic-BookItalic"/>
              </a:rPr>
              <a:t>SF-36 Scores comparisons are limited</a:t>
            </a:r>
          </a:p>
          <a:p>
            <a:pPr marL="800100" lvl="1" indent="-342900">
              <a:lnSpc>
                <a:spcPts val="2258"/>
              </a:lnSpc>
              <a:buFont typeface="Wingdings" pitchFamily="2" charset="2"/>
              <a:buChar char="Ø"/>
            </a:pPr>
            <a:r>
              <a:rPr lang="en-US" sz="2000" spc="-25" dirty="0">
                <a:solidFill>
                  <a:srgbClr val="181A0D"/>
                </a:solidFill>
                <a:cs typeface="OAGDQN+FranklinGothic-BookItalic"/>
              </a:rPr>
              <a:t>Missing data – biases if missingness depended on unobserved events</a:t>
            </a: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indent="-342900">
              <a:lnSpc>
                <a:spcPts val="2258"/>
              </a:lnSpc>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lang="en-US" sz="2000" spc="-25" dirty="0">
              <a:solidFill>
                <a:srgbClr val="181A0D"/>
              </a:solidFill>
              <a:cs typeface="OAGDQN+FranklinGothic-BookItalic"/>
            </a:endParaRPr>
          </a:p>
          <a:p>
            <a:pPr marL="342900" marR="0" indent="-342900">
              <a:lnSpc>
                <a:spcPts val="2258"/>
              </a:lnSpc>
              <a:spcBef>
                <a:spcPts val="0"/>
              </a:spcBef>
              <a:spcAft>
                <a:spcPts val="0"/>
              </a:spcAft>
              <a:buFont typeface="Wingdings" pitchFamily="2" charset="2"/>
              <a:buChar char="q"/>
            </a:pPr>
            <a:endParaRPr sz="2000" spc="-25" dirty="0">
              <a:solidFill>
                <a:srgbClr val="181A0D"/>
              </a:solidFill>
              <a:cs typeface="OAGDQN+FranklinGothic-BookItalic"/>
            </a:endParaRPr>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7817</TotalTime>
  <Words>970</Words>
  <Application>Microsoft Macintosh PowerPoint</Application>
  <PresentationFormat>Widescreen</PresentationFormat>
  <Paragraphs>158</Paragraphs>
  <Slides>8</Slides>
  <Notes>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8</vt:i4>
      </vt:variant>
    </vt:vector>
  </HeadingPairs>
  <TitlesOfParts>
    <vt:vector size="23" baseType="lpstr">
      <vt:lpstr>WPQCJM+FranklinGothic-Book</vt:lpstr>
      <vt:lpstr>MPIRPG+FranklinGothic-Book</vt:lpstr>
      <vt:lpstr>GEHAIV+FranklinGothic-Book</vt:lpstr>
      <vt:lpstr>NOOILK+FranklinGothic-Book</vt:lpstr>
      <vt:lpstr>KDMFEK+FranklinGothic-Book</vt:lpstr>
      <vt:lpstr>Cambria Math</vt:lpstr>
      <vt:lpstr>Calibri</vt:lpstr>
      <vt:lpstr>VTCKGD+FranklinGothic-Book</vt:lpstr>
      <vt:lpstr>LVLFDH+FranklinGothic-Book</vt:lpstr>
      <vt:lpstr>Wingdings</vt:lpstr>
      <vt:lpstr>OAGDQN+FranklinGothic-BookItalic</vt:lpstr>
      <vt:lpstr>Courier New</vt:lpstr>
      <vt:lpstr>Aptos</vt:lpstr>
      <vt:lpstr>Arial</vt: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root</dc:creator>
  <cp:lastModifiedBy>Ryan Summers</cp:lastModifiedBy>
  <cp:revision>182</cp:revision>
  <dcterms:modified xsi:type="dcterms:W3CDTF">2026-03-01T20:38:41Z</dcterms:modified>
</cp:coreProperties>
</file>